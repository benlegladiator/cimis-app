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9" r:id="rId1"/>
  </p:sldMasterIdLst>
  <p:notesMasterIdLst>
    <p:notesMasterId r:id="rId34"/>
  </p:notesMasterIdLst>
  <p:sldIdLst>
    <p:sldId id="256" r:id="rId2"/>
    <p:sldId id="278" r:id="rId3"/>
    <p:sldId id="319" r:id="rId4"/>
    <p:sldId id="288" r:id="rId5"/>
    <p:sldId id="320" r:id="rId6"/>
    <p:sldId id="321" r:id="rId7"/>
    <p:sldId id="279" r:id="rId8"/>
    <p:sldId id="280" r:id="rId9"/>
    <p:sldId id="281" r:id="rId10"/>
    <p:sldId id="282" r:id="rId11"/>
    <p:sldId id="283" r:id="rId12"/>
    <p:sldId id="286" r:id="rId13"/>
    <p:sldId id="287" r:id="rId14"/>
    <p:sldId id="284" r:id="rId15"/>
    <p:sldId id="305" r:id="rId16"/>
    <p:sldId id="258" r:id="rId17"/>
    <p:sldId id="308" r:id="rId18"/>
    <p:sldId id="309" r:id="rId19"/>
    <p:sldId id="310" r:id="rId20"/>
    <p:sldId id="311" r:id="rId21"/>
    <p:sldId id="312" r:id="rId22"/>
    <p:sldId id="313" r:id="rId23"/>
    <p:sldId id="314" r:id="rId24"/>
    <p:sldId id="315" r:id="rId25"/>
    <p:sldId id="316" r:id="rId26"/>
    <p:sldId id="317" r:id="rId27"/>
    <p:sldId id="257" r:id="rId28"/>
    <p:sldId id="268" r:id="rId29"/>
    <p:sldId id="270" r:id="rId30"/>
    <p:sldId id="277" r:id="rId31"/>
    <p:sldId id="276" r:id="rId32"/>
    <p:sldId id="304" r:id="rId33"/>
  </p:sldIdLst>
  <p:sldSz cx="9144000" cy="5143500" type="screen16x9"/>
  <p:notesSz cx="51435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7D32"/>
    <a:srgbClr val="FCD116"/>
    <a:srgbClr val="FF7D7D"/>
    <a:srgbClr val="13844B"/>
    <a:srgbClr val="1E2761"/>
    <a:srgbClr val="3A8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D06A9B7-EB7B-47B3-B1DE-4AE64D7E524F}">
  <a:tblStyle styleId="{8D06A9B7-EB7B-47B3-B1DE-4AE64D7E524F}"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69" autoAdjust="0"/>
    <p:restoredTop sz="94660"/>
  </p:normalViewPr>
  <p:slideViewPr>
    <p:cSldViewPr snapToGrid="0">
      <p:cViewPr>
        <p:scale>
          <a:sx n="125" d="100"/>
          <a:sy n="125" d="100"/>
        </p:scale>
        <p:origin x="1194" y="3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2_5#1">
  <dgm:title val=""/>
  <dgm:desc val=""/>
  <dgm:catLst>
    <dgm:cat type="accent2" pri="11500"/>
  </dgm:catLst>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B493063-C464-42BB-9F4D-00F2610CBA1A}" type="doc">
      <dgm:prSet loTypeId="urn:microsoft.com/office/officeart/2008/layout/VerticalCurvedList#1" loCatId="list" qsTypeId="urn:microsoft.com/office/officeart/2005/8/quickstyle/simple4#1" qsCatId="simple" csTypeId="urn:microsoft.com/office/officeart/2005/8/colors/accent2_5#1" csCatId="accent2" phldr="1"/>
      <dgm:spPr/>
      <dgm:t>
        <a:bodyPr/>
        <a:lstStyle/>
        <a:p>
          <a:endParaRPr lang="fr-FR"/>
        </a:p>
      </dgm:t>
    </dgm:pt>
    <dgm:pt modelId="{DFEB2376-3FB8-406C-8DD9-A871840BF590}">
      <dgm:prSet phldrT="[Texte]" custT="1"/>
      <dgm:spPr/>
      <dgm:t>
        <a:bodyPr/>
        <a:lstStyle/>
        <a:p>
          <a:r>
            <a:rPr lang="fr-FR" sz="2800" b="1" dirty="0">
              <a:solidFill>
                <a:schemeClr val="tx1"/>
              </a:solidFill>
              <a:latin typeface="Verdana" panose="020B0804030504040204" pitchFamily="34" charset="0"/>
              <a:ea typeface="Verdana" panose="020B0804030504040204" pitchFamily="34" charset="0"/>
            </a:rPr>
            <a:t>CONTEXTE ET ENJEUX</a:t>
          </a:r>
        </a:p>
      </dgm:t>
    </dgm:pt>
    <dgm:pt modelId="{4442EE58-4B6F-41CE-8FE9-C0C9F49399D8}" type="parTrans" cxnId="{5B72B62A-F43F-4132-8D7F-3C253B1BD7DE}">
      <dgm:prSet/>
      <dgm:spPr/>
      <dgm:t>
        <a:bodyPr/>
        <a:lstStyle/>
        <a:p>
          <a:endParaRPr lang="fr-FR" sz="2000"/>
        </a:p>
      </dgm:t>
    </dgm:pt>
    <dgm:pt modelId="{B8F2154A-8FE2-4315-921D-B74373CFDF96}" type="sibTrans" cxnId="{5B72B62A-F43F-4132-8D7F-3C253B1BD7DE}">
      <dgm:prSet/>
      <dgm:spPr/>
      <dgm:t>
        <a:bodyPr/>
        <a:lstStyle/>
        <a:p>
          <a:endParaRPr lang="fr-FR" sz="2000"/>
        </a:p>
      </dgm:t>
    </dgm:pt>
    <dgm:pt modelId="{1613EB53-228A-485F-BD93-25C274E095D1}">
      <dgm:prSet phldrT="[Texte]" custT="1"/>
      <dgm:spPr/>
      <dgm:t>
        <a:bodyPr/>
        <a:lstStyle/>
        <a:p>
          <a:r>
            <a:rPr lang="fr-FR" sz="2800" b="1" dirty="0">
              <a:solidFill>
                <a:schemeClr val="tx1"/>
              </a:solidFill>
              <a:latin typeface="Verdana" panose="020B0804030504040204" pitchFamily="34" charset="0"/>
              <a:ea typeface="Verdana" panose="020B0804030504040204" pitchFamily="34" charset="0"/>
            </a:rPr>
            <a:t>I- CIMIS</a:t>
          </a:r>
        </a:p>
      </dgm:t>
    </dgm:pt>
    <dgm:pt modelId="{DDEA0ECC-C992-4538-A4E8-08D5B04BB7EA}" type="parTrans" cxnId="{F01C5CD2-C5B0-4503-B2F7-A8CC4F6CBB02}">
      <dgm:prSet/>
      <dgm:spPr/>
      <dgm:t>
        <a:bodyPr/>
        <a:lstStyle/>
        <a:p>
          <a:endParaRPr lang="fr-FR" sz="2000"/>
        </a:p>
      </dgm:t>
    </dgm:pt>
    <dgm:pt modelId="{53017081-F154-497E-A67F-6B1F012A68D5}" type="sibTrans" cxnId="{F01C5CD2-C5B0-4503-B2F7-A8CC4F6CBB02}">
      <dgm:prSet/>
      <dgm:spPr/>
      <dgm:t>
        <a:bodyPr/>
        <a:lstStyle/>
        <a:p>
          <a:endParaRPr lang="fr-FR" sz="2000"/>
        </a:p>
      </dgm:t>
    </dgm:pt>
    <dgm:pt modelId="{324E1F98-F0CF-4D64-81AC-971899A8EC4B}">
      <dgm:prSet phldrT="[Texte]" custT="1"/>
      <dgm:spPr/>
      <dgm:t>
        <a:bodyPr/>
        <a:lstStyle/>
        <a:p>
          <a:r>
            <a:rPr lang="fr-FR" sz="2800" b="1" dirty="0">
              <a:solidFill>
                <a:schemeClr val="tx1"/>
              </a:solidFill>
              <a:latin typeface="Verdana" panose="020B0804030504040204" pitchFamily="34" charset="0"/>
              <a:ea typeface="Verdana" panose="020B0804030504040204" pitchFamily="34" charset="0"/>
            </a:rPr>
            <a:t>DEMONSTRATION</a:t>
          </a:r>
        </a:p>
      </dgm:t>
    </dgm:pt>
    <dgm:pt modelId="{0B1B3F31-02F4-45A7-9BF5-5552A55FAD86}" type="parTrans" cxnId="{32AEBE77-90F4-4ACB-BD04-663A471E9ED8}">
      <dgm:prSet/>
      <dgm:spPr/>
      <dgm:t>
        <a:bodyPr/>
        <a:lstStyle/>
        <a:p>
          <a:endParaRPr lang="fr-FR" sz="2000"/>
        </a:p>
      </dgm:t>
    </dgm:pt>
    <dgm:pt modelId="{06ED4049-24D5-4F37-BFB9-CC3C1808FD70}" type="sibTrans" cxnId="{32AEBE77-90F4-4ACB-BD04-663A471E9ED8}">
      <dgm:prSet/>
      <dgm:spPr/>
      <dgm:t>
        <a:bodyPr/>
        <a:lstStyle/>
        <a:p>
          <a:endParaRPr lang="fr-FR" sz="2000"/>
        </a:p>
      </dgm:t>
    </dgm:pt>
    <dgm:pt modelId="{8840CBCF-9AD3-4882-A31E-141D33C5FEF9}">
      <dgm:prSet phldrT="[Texte]" custT="1"/>
      <dgm:spPr/>
      <dgm:t>
        <a:bodyPr/>
        <a:lstStyle/>
        <a:p>
          <a:r>
            <a:rPr lang="fr-FR" sz="2800" b="1" dirty="0">
              <a:solidFill>
                <a:schemeClr val="tx1"/>
              </a:solidFill>
              <a:latin typeface="Verdana" panose="020B0804030504040204" pitchFamily="34" charset="0"/>
              <a:ea typeface="Verdana" panose="020B0804030504040204" pitchFamily="34" charset="0"/>
            </a:rPr>
            <a:t>II- SIADOC</a:t>
          </a:r>
        </a:p>
      </dgm:t>
    </dgm:pt>
    <dgm:pt modelId="{018B1855-1E09-4950-91BE-7DA1633BE107}" type="parTrans" cxnId="{2E91BA72-8396-459D-827A-7529BBC20B0A}">
      <dgm:prSet/>
      <dgm:spPr/>
      <dgm:t>
        <a:bodyPr/>
        <a:lstStyle/>
        <a:p>
          <a:endParaRPr lang="fr-FR" sz="2000"/>
        </a:p>
      </dgm:t>
    </dgm:pt>
    <dgm:pt modelId="{32040753-4F7B-4319-B364-83D1CB321850}" type="sibTrans" cxnId="{2E91BA72-8396-459D-827A-7529BBC20B0A}">
      <dgm:prSet/>
      <dgm:spPr/>
      <dgm:t>
        <a:bodyPr/>
        <a:lstStyle/>
        <a:p>
          <a:endParaRPr lang="fr-FR" sz="2000"/>
        </a:p>
      </dgm:t>
    </dgm:pt>
    <dgm:pt modelId="{BC6A3718-A6CD-4918-8686-1E37A50AB287}">
      <dgm:prSet phldrT="[Texte]" custT="1"/>
      <dgm:spPr/>
      <dgm:t>
        <a:bodyPr/>
        <a:lstStyle/>
        <a:p>
          <a:r>
            <a:rPr lang="fr-FR" sz="2800" b="1" dirty="0">
              <a:solidFill>
                <a:schemeClr val="tx1"/>
              </a:solidFill>
              <a:latin typeface="Verdana" panose="020B0804030504040204" pitchFamily="34" charset="0"/>
              <a:ea typeface="Verdana" panose="020B0804030504040204" pitchFamily="34" charset="0"/>
            </a:rPr>
            <a:t>III-GESMIL 2.0</a:t>
          </a:r>
        </a:p>
      </dgm:t>
    </dgm:pt>
    <dgm:pt modelId="{E8EF6A87-AD66-46BB-A102-2E728865A312}" type="parTrans" cxnId="{1FF21FF1-6369-4C4C-BA07-1A246A229319}">
      <dgm:prSet/>
      <dgm:spPr/>
      <dgm:t>
        <a:bodyPr/>
        <a:lstStyle/>
        <a:p>
          <a:endParaRPr lang="fr-FR" sz="2000"/>
        </a:p>
      </dgm:t>
    </dgm:pt>
    <dgm:pt modelId="{6940E5A8-3711-4D87-BD9D-D530CF957025}" type="sibTrans" cxnId="{1FF21FF1-6369-4C4C-BA07-1A246A229319}">
      <dgm:prSet/>
      <dgm:spPr/>
      <dgm:t>
        <a:bodyPr/>
        <a:lstStyle/>
        <a:p>
          <a:endParaRPr lang="fr-FR" sz="2000"/>
        </a:p>
      </dgm:t>
    </dgm:pt>
    <dgm:pt modelId="{FF4262F8-F4DE-46FF-8AB8-C0539D77D25D}" type="pres">
      <dgm:prSet presAssocID="{BB493063-C464-42BB-9F4D-00F2610CBA1A}" presName="Name0" presStyleCnt="0">
        <dgm:presLayoutVars>
          <dgm:chMax val="7"/>
          <dgm:chPref val="7"/>
          <dgm:dir/>
        </dgm:presLayoutVars>
      </dgm:prSet>
      <dgm:spPr/>
    </dgm:pt>
    <dgm:pt modelId="{C8C48B6B-BE28-4FD2-8F2C-5C7B628437CE}" type="pres">
      <dgm:prSet presAssocID="{BB493063-C464-42BB-9F4D-00F2610CBA1A}" presName="Name1" presStyleCnt="0"/>
      <dgm:spPr/>
    </dgm:pt>
    <dgm:pt modelId="{CB9095B2-3922-435E-88FC-4D30F5F48FCD}" type="pres">
      <dgm:prSet presAssocID="{BB493063-C464-42BB-9F4D-00F2610CBA1A}" presName="cycle" presStyleCnt="0"/>
      <dgm:spPr/>
    </dgm:pt>
    <dgm:pt modelId="{B97088AD-EF4B-4A76-AD09-7587597A3471}" type="pres">
      <dgm:prSet presAssocID="{BB493063-C464-42BB-9F4D-00F2610CBA1A}" presName="srcNode" presStyleLbl="node1" presStyleIdx="0" presStyleCnt="5"/>
      <dgm:spPr/>
    </dgm:pt>
    <dgm:pt modelId="{780790F6-E927-4EA7-8E3E-00971FA34B5D}" type="pres">
      <dgm:prSet presAssocID="{BB493063-C464-42BB-9F4D-00F2610CBA1A}" presName="conn" presStyleLbl="parChTrans1D2" presStyleIdx="0" presStyleCnt="1"/>
      <dgm:spPr/>
    </dgm:pt>
    <dgm:pt modelId="{56AA9518-CA21-4DB0-B8FA-C5258310FF6B}" type="pres">
      <dgm:prSet presAssocID="{BB493063-C464-42BB-9F4D-00F2610CBA1A}" presName="extraNode" presStyleLbl="node1" presStyleIdx="0" presStyleCnt="5"/>
      <dgm:spPr/>
    </dgm:pt>
    <dgm:pt modelId="{042F77C8-285F-4039-85A7-C877A7E53381}" type="pres">
      <dgm:prSet presAssocID="{BB493063-C464-42BB-9F4D-00F2610CBA1A}" presName="dstNode" presStyleLbl="node1" presStyleIdx="0" presStyleCnt="5"/>
      <dgm:spPr/>
    </dgm:pt>
    <dgm:pt modelId="{8483DFDF-507E-4F28-BB84-0EA51B1D3A56}" type="pres">
      <dgm:prSet presAssocID="{DFEB2376-3FB8-406C-8DD9-A871840BF590}" presName="text_1" presStyleLbl="node1" presStyleIdx="0" presStyleCnt="5">
        <dgm:presLayoutVars>
          <dgm:bulletEnabled val="1"/>
        </dgm:presLayoutVars>
      </dgm:prSet>
      <dgm:spPr/>
    </dgm:pt>
    <dgm:pt modelId="{A2A76BC0-9089-4AFA-99C3-439B42285B75}" type="pres">
      <dgm:prSet presAssocID="{DFEB2376-3FB8-406C-8DD9-A871840BF590}" presName="accent_1" presStyleCnt="0"/>
      <dgm:spPr/>
    </dgm:pt>
    <dgm:pt modelId="{A10F7A64-BAA0-4B65-A378-D460B0819039}" type="pres">
      <dgm:prSet presAssocID="{DFEB2376-3FB8-406C-8DD9-A871840BF590}" presName="accentRepeatNode" presStyleLbl="solidFgAcc1" presStyleIdx="0" presStyleCnt="5"/>
      <dgm:spPr/>
    </dgm:pt>
    <dgm:pt modelId="{25D891EF-363B-4895-9650-4B091037282A}" type="pres">
      <dgm:prSet presAssocID="{1613EB53-228A-485F-BD93-25C274E095D1}" presName="text_2" presStyleLbl="node1" presStyleIdx="1" presStyleCnt="5">
        <dgm:presLayoutVars>
          <dgm:bulletEnabled val="1"/>
        </dgm:presLayoutVars>
      </dgm:prSet>
      <dgm:spPr/>
    </dgm:pt>
    <dgm:pt modelId="{847E30A1-0DFF-4D7F-BC8D-C21D1D00152A}" type="pres">
      <dgm:prSet presAssocID="{1613EB53-228A-485F-BD93-25C274E095D1}" presName="accent_2" presStyleCnt="0"/>
      <dgm:spPr/>
    </dgm:pt>
    <dgm:pt modelId="{AC643C71-F55C-45B5-BD84-C95B197F9206}" type="pres">
      <dgm:prSet presAssocID="{1613EB53-228A-485F-BD93-25C274E095D1}" presName="accentRepeatNode" presStyleLbl="solidFgAcc1" presStyleIdx="1" presStyleCnt="5"/>
      <dgm:spPr/>
    </dgm:pt>
    <dgm:pt modelId="{3452EA1A-0930-4DEC-B76B-CD9E6C2D1DF8}" type="pres">
      <dgm:prSet presAssocID="{8840CBCF-9AD3-4882-A31E-141D33C5FEF9}" presName="text_3" presStyleLbl="node1" presStyleIdx="2" presStyleCnt="5">
        <dgm:presLayoutVars>
          <dgm:bulletEnabled val="1"/>
        </dgm:presLayoutVars>
      </dgm:prSet>
      <dgm:spPr/>
    </dgm:pt>
    <dgm:pt modelId="{76418043-26D7-4D54-B223-3EDF8556628F}" type="pres">
      <dgm:prSet presAssocID="{8840CBCF-9AD3-4882-A31E-141D33C5FEF9}" presName="accent_3" presStyleCnt="0"/>
      <dgm:spPr/>
    </dgm:pt>
    <dgm:pt modelId="{E207C131-F95F-4943-9D5A-5742A012F006}" type="pres">
      <dgm:prSet presAssocID="{8840CBCF-9AD3-4882-A31E-141D33C5FEF9}" presName="accentRepeatNode" presStyleLbl="solidFgAcc1" presStyleIdx="2" presStyleCnt="5"/>
      <dgm:spPr/>
    </dgm:pt>
    <dgm:pt modelId="{FB6F3CAA-C963-4C0E-907D-BCBCEAF82255}" type="pres">
      <dgm:prSet presAssocID="{BC6A3718-A6CD-4918-8686-1E37A50AB287}" presName="text_4" presStyleLbl="node1" presStyleIdx="3" presStyleCnt="5">
        <dgm:presLayoutVars>
          <dgm:bulletEnabled val="1"/>
        </dgm:presLayoutVars>
      </dgm:prSet>
      <dgm:spPr/>
    </dgm:pt>
    <dgm:pt modelId="{AA35A04C-7DC9-4086-8FA0-78D3E090BC9B}" type="pres">
      <dgm:prSet presAssocID="{BC6A3718-A6CD-4918-8686-1E37A50AB287}" presName="accent_4" presStyleCnt="0"/>
      <dgm:spPr/>
    </dgm:pt>
    <dgm:pt modelId="{CAD10732-2FEA-4E62-8CA6-2D1A8DD41CD6}" type="pres">
      <dgm:prSet presAssocID="{BC6A3718-A6CD-4918-8686-1E37A50AB287}" presName="accentRepeatNode" presStyleLbl="solidFgAcc1" presStyleIdx="3" presStyleCnt="5"/>
      <dgm:spPr/>
    </dgm:pt>
    <dgm:pt modelId="{1E1D90A1-C20B-4F7C-A1AD-34270183D3BD}" type="pres">
      <dgm:prSet presAssocID="{324E1F98-F0CF-4D64-81AC-971899A8EC4B}" presName="text_5" presStyleLbl="node1" presStyleIdx="4" presStyleCnt="5">
        <dgm:presLayoutVars>
          <dgm:bulletEnabled val="1"/>
        </dgm:presLayoutVars>
      </dgm:prSet>
      <dgm:spPr/>
    </dgm:pt>
    <dgm:pt modelId="{3EB6A95D-CA39-4E03-A71A-E5B72C17D740}" type="pres">
      <dgm:prSet presAssocID="{324E1F98-F0CF-4D64-81AC-971899A8EC4B}" presName="accent_5" presStyleCnt="0"/>
      <dgm:spPr/>
    </dgm:pt>
    <dgm:pt modelId="{A4AE3AD3-0973-4D43-9676-04B7C9C96B2D}" type="pres">
      <dgm:prSet presAssocID="{324E1F98-F0CF-4D64-81AC-971899A8EC4B}" presName="accentRepeatNode" presStyleLbl="solidFgAcc1" presStyleIdx="4" presStyleCnt="5"/>
      <dgm:spPr/>
    </dgm:pt>
  </dgm:ptLst>
  <dgm:cxnLst>
    <dgm:cxn modelId="{00783D0D-4DB2-491F-A225-199F7A57A1BC}" type="presOf" srcId="{8840CBCF-9AD3-4882-A31E-141D33C5FEF9}" destId="{3452EA1A-0930-4DEC-B76B-CD9E6C2D1DF8}" srcOrd="0" destOrd="0" presId="urn:microsoft.com/office/officeart/2008/layout/VerticalCurvedList#1"/>
    <dgm:cxn modelId="{5B72B62A-F43F-4132-8D7F-3C253B1BD7DE}" srcId="{BB493063-C464-42BB-9F4D-00F2610CBA1A}" destId="{DFEB2376-3FB8-406C-8DD9-A871840BF590}" srcOrd="0" destOrd="0" parTransId="{4442EE58-4B6F-41CE-8FE9-C0C9F49399D8}" sibTransId="{B8F2154A-8FE2-4315-921D-B74373CFDF96}"/>
    <dgm:cxn modelId="{26517231-9055-4AA0-9BE4-71370100C4AF}" type="presOf" srcId="{DFEB2376-3FB8-406C-8DD9-A871840BF590}" destId="{8483DFDF-507E-4F28-BB84-0EA51B1D3A56}" srcOrd="0" destOrd="0" presId="urn:microsoft.com/office/officeart/2008/layout/VerticalCurvedList#1"/>
    <dgm:cxn modelId="{7A712F33-E0F2-4D17-97E9-3F491BA1C4E8}" type="presOf" srcId="{BB493063-C464-42BB-9F4D-00F2610CBA1A}" destId="{FF4262F8-F4DE-46FF-8AB8-C0539D77D25D}" srcOrd="0" destOrd="0" presId="urn:microsoft.com/office/officeart/2008/layout/VerticalCurvedList#1"/>
    <dgm:cxn modelId="{3D415D3C-768F-4B63-8314-F5CDC0848959}" type="presOf" srcId="{BC6A3718-A6CD-4918-8686-1E37A50AB287}" destId="{FB6F3CAA-C963-4C0E-907D-BCBCEAF82255}" srcOrd="0" destOrd="0" presId="urn:microsoft.com/office/officeart/2008/layout/VerticalCurvedList#1"/>
    <dgm:cxn modelId="{3702B24A-1E5B-4C1F-A65D-1EBF67497EDB}" type="presOf" srcId="{B8F2154A-8FE2-4315-921D-B74373CFDF96}" destId="{780790F6-E927-4EA7-8E3E-00971FA34B5D}" srcOrd="0" destOrd="0" presId="urn:microsoft.com/office/officeart/2008/layout/VerticalCurvedList#1"/>
    <dgm:cxn modelId="{2E91BA72-8396-459D-827A-7529BBC20B0A}" srcId="{BB493063-C464-42BB-9F4D-00F2610CBA1A}" destId="{8840CBCF-9AD3-4882-A31E-141D33C5FEF9}" srcOrd="2" destOrd="0" parTransId="{018B1855-1E09-4950-91BE-7DA1633BE107}" sibTransId="{32040753-4F7B-4319-B364-83D1CB321850}"/>
    <dgm:cxn modelId="{E471AF55-817A-4981-8F82-BECE4C83E300}" type="presOf" srcId="{324E1F98-F0CF-4D64-81AC-971899A8EC4B}" destId="{1E1D90A1-C20B-4F7C-A1AD-34270183D3BD}" srcOrd="0" destOrd="0" presId="urn:microsoft.com/office/officeart/2008/layout/VerticalCurvedList#1"/>
    <dgm:cxn modelId="{32AEBE77-90F4-4ACB-BD04-663A471E9ED8}" srcId="{BB493063-C464-42BB-9F4D-00F2610CBA1A}" destId="{324E1F98-F0CF-4D64-81AC-971899A8EC4B}" srcOrd="4" destOrd="0" parTransId="{0B1B3F31-02F4-45A7-9BF5-5552A55FAD86}" sibTransId="{06ED4049-24D5-4F37-BFB9-CC3C1808FD70}"/>
    <dgm:cxn modelId="{4BDB6379-4027-44DF-8E51-E28FB738FA03}" type="presOf" srcId="{1613EB53-228A-485F-BD93-25C274E095D1}" destId="{25D891EF-363B-4895-9650-4B091037282A}" srcOrd="0" destOrd="0" presId="urn:microsoft.com/office/officeart/2008/layout/VerticalCurvedList#1"/>
    <dgm:cxn modelId="{F01C5CD2-C5B0-4503-B2F7-A8CC4F6CBB02}" srcId="{BB493063-C464-42BB-9F4D-00F2610CBA1A}" destId="{1613EB53-228A-485F-BD93-25C274E095D1}" srcOrd="1" destOrd="0" parTransId="{DDEA0ECC-C992-4538-A4E8-08D5B04BB7EA}" sibTransId="{53017081-F154-497E-A67F-6B1F012A68D5}"/>
    <dgm:cxn modelId="{1FF21FF1-6369-4C4C-BA07-1A246A229319}" srcId="{BB493063-C464-42BB-9F4D-00F2610CBA1A}" destId="{BC6A3718-A6CD-4918-8686-1E37A50AB287}" srcOrd="3" destOrd="0" parTransId="{E8EF6A87-AD66-46BB-A102-2E728865A312}" sibTransId="{6940E5A8-3711-4D87-BD9D-D530CF957025}"/>
    <dgm:cxn modelId="{ECBD9DAA-4BAE-4971-B299-A342B1375D4E}" type="presParOf" srcId="{FF4262F8-F4DE-46FF-8AB8-C0539D77D25D}" destId="{C8C48B6B-BE28-4FD2-8F2C-5C7B628437CE}" srcOrd="0" destOrd="0" presId="urn:microsoft.com/office/officeart/2008/layout/VerticalCurvedList#1"/>
    <dgm:cxn modelId="{285C8926-56CD-474F-A09E-91C1F649DAB0}" type="presParOf" srcId="{C8C48B6B-BE28-4FD2-8F2C-5C7B628437CE}" destId="{CB9095B2-3922-435E-88FC-4D30F5F48FCD}" srcOrd="0" destOrd="0" presId="urn:microsoft.com/office/officeart/2008/layout/VerticalCurvedList#1"/>
    <dgm:cxn modelId="{0DC1DBBD-C6D4-4C00-ADC5-7F3DDBB6F76B}" type="presParOf" srcId="{CB9095B2-3922-435E-88FC-4D30F5F48FCD}" destId="{B97088AD-EF4B-4A76-AD09-7587597A3471}" srcOrd="0" destOrd="0" presId="urn:microsoft.com/office/officeart/2008/layout/VerticalCurvedList#1"/>
    <dgm:cxn modelId="{F8FFA996-5689-42EC-A333-913D4C308048}" type="presParOf" srcId="{CB9095B2-3922-435E-88FC-4D30F5F48FCD}" destId="{780790F6-E927-4EA7-8E3E-00971FA34B5D}" srcOrd="1" destOrd="0" presId="urn:microsoft.com/office/officeart/2008/layout/VerticalCurvedList#1"/>
    <dgm:cxn modelId="{7A763C8C-C403-468C-AC83-B34A37A02B4C}" type="presParOf" srcId="{CB9095B2-3922-435E-88FC-4D30F5F48FCD}" destId="{56AA9518-CA21-4DB0-B8FA-C5258310FF6B}" srcOrd="2" destOrd="0" presId="urn:microsoft.com/office/officeart/2008/layout/VerticalCurvedList#1"/>
    <dgm:cxn modelId="{8DF6DE7D-C6D3-4467-BB25-BAA7E423B4F9}" type="presParOf" srcId="{CB9095B2-3922-435E-88FC-4D30F5F48FCD}" destId="{042F77C8-285F-4039-85A7-C877A7E53381}" srcOrd="3" destOrd="0" presId="urn:microsoft.com/office/officeart/2008/layout/VerticalCurvedList#1"/>
    <dgm:cxn modelId="{03D5D400-F42D-4BC3-8912-DC4FF26BC223}" type="presParOf" srcId="{C8C48B6B-BE28-4FD2-8F2C-5C7B628437CE}" destId="{8483DFDF-507E-4F28-BB84-0EA51B1D3A56}" srcOrd="1" destOrd="0" presId="urn:microsoft.com/office/officeart/2008/layout/VerticalCurvedList#1"/>
    <dgm:cxn modelId="{C0FBD0AF-0069-4537-950E-1820E73B40C4}" type="presParOf" srcId="{C8C48B6B-BE28-4FD2-8F2C-5C7B628437CE}" destId="{A2A76BC0-9089-4AFA-99C3-439B42285B75}" srcOrd="2" destOrd="0" presId="urn:microsoft.com/office/officeart/2008/layout/VerticalCurvedList#1"/>
    <dgm:cxn modelId="{55FF3978-92B2-4E20-9188-16BA28B640DE}" type="presParOf" srcId="{A2A76BC0-9089-4AFA-99C3-439B42285B75}" destId="{A10F7A64-BAA0-4B65-A378-D460B0819039}" srcOrd="0" destOrd="0" presId="urn:microsoft.com/office/officeart/2008/layout/VerticalCurvedList#1"/>
    <dgm:cxn modelId="{B37E25D7-52E4-4F81-B655-1775B9051F10}" type="presParOf" srcId="{C8C48B6B-BE28-4FD2-8F2C-5C7B628437CE}" destId="{25D891EF-363B-4895-9650-4B091037282A}" srcOrd="3" destOrd="0" presId="urn:microsoft.com/office/officeart/2008/layout/VerticalCurvedList#1"/>
    <dgm:cxn modelId="{176485FC-D691-432F-A2AA-4441EEF2BDD6}" type="presParOf" srcId="{C8C48B6B-BE28-4FD2-8F2C-5C7B628437CE}" destId="{847E30A1-0DFF-4D7F-BC8D-C21D1D00152A}" srcOrd="4" destOrd="0" presId="urn:microsoft.com/office/officeart/2008/layout/VerticalCurvedList#1"/>
    <dgm:cxn modelId="{06E02308-FD25-4FB3-9062-77F16F3B8582}" type="presParOf" srcId="{847E30A1-0DFF-4D7F-BC8D-C21D1D00152A}" destId="{AC643C71-F55C-45B5-BD84-C95B197F9206}" srcOrd="0" destOrd="0" presId="urn:microsoft.com/office/officeart/2008/layout/VerticalCurvedList#1"/>
    <dgm:cxn modelId="{B6A6A27F-1AE3-4ACC-9BC4-E72984248883}" type="presParOf" srcId="{C8C48B6B-BE28-4FD2-8F2C-5C7B628437CE}" destId="{3452EA1A-0930-4DEC-B76B-CD9E6C2D1DF8}" srcOrd="5" destOrd="0" presId="urn:microsoft.com/office/officeart/2008/layout/VerticalCurvedList#1"/>
    <dgm:cxn modelId="{82E0925D-1525-4B5D-AD07-DAB7E67A3045}" type="presParOf" srcId="{C8C48B6B-BE28-4FD2-8F2C-5C7B628437CE}" destId="{76418043-26D7-4D54-B223-3EDF8556628F}" srcOrd="6" destOrd="0" presId="urn:microsoft.com/office/officeart/2008/layout/VerticalCurvedList#1"/>
    <dgm:cxn modelId="{CF0276A0-5E11-487E-8A71-872A3702C30A}" type="presParOf" srcId="{76418043-26D7-4D54-B223-3EDF8556628F}" destId="{E207C131-F95F-4943-9D5A-5742A012F006}" srcOrd="0" destOrd="0" presId="urn:microsoft.com/office/officeart/2008/layout/VerticalCurvedList#1"/>
    <dgm:cxn modelId="{3BD3DB73-3784-46FE-878A-7FAAE195126D}" type="presParOf" srcId="{C8C48B6B-BE28-4FD2-8F2C-5C7B628437CE}" destId="{FB6F3CAA-C963-4C0E-907D-BCBCEAF82255}" srcOrd="7" destOrd="0" presId="urn:microsoft.com/office/officeart/2008/layout/VerticalCurvedList#1"/>
    <dgm:cxn modelId="{BD6FA842-AA1A-4A62-94DB-1B331DE1C23A}" type="presParOf" srcId="{C8C48B6B-BE28-4FD2-8F2C-5C7B628437CE}" destId="{AA35A04C-7DC9-4086-8FA0-78D3E090BC9B}" srcOrd="8" destOrd="0" presId="urn:microsoft.com/office/officeart/2008/layout/VerticalCurvedList#1"/>
    <dgm:cxn modelId="{CFE13295-2641-4378-B7FC-DD15B3403A1B}" type="presParOf" srcId="{AA35A04C-7DC9-4086-8FA0-78D3E090BC9B}" destId="{CAD10732-2FEA-4E62-8CA6-2D1A8DD41CD6}" srcOrd="0" destOrd="0" presId="urn:microsoft.com/office/officeart/2008/layout/VerticalCurvedList#1"/>
    <dgm:cxn modelId="{5F51EFB7-44F8-48C1-933D-45A67E0BFDF8}" type="presParOf" srcId="{C8C48B6B-BE28-4FD2-8F2C-5C7B628437CE}" destId="{1E1D90A1-C20B-4F7C-A1AD-34270183D3BD}" srcOrd="9" destOrd="0" presId="urn:microsoft.com/office/officeart/2008/layout/VerticalCurvedList#1"/>
    <dgm:cxn modelId="{54746E99-754D-45F7-85EA-56EB01F3D070}" type="presParOf" srcId="{C8C48B6B-BE28-4FD2-8F2C-5C7B628437CE}" destId="{3EB6A95D-CA39-4E03-A71A-E5B72C17D740}" srcOrd="10" destOrd="0" presId="urn:microsoft.com/office/officeart/2008/layout/VerticalCurvedList#1"/>
    <dgm:cxn modelId="{60A2A19B-4FB2-4EDC-9E93-87BE16108DF2}" type="presParOf" srcId="{3EB6A95D-CA39-4E03-A71A-E5B72C17D740}" destId="{A4AE3AD3-0973-4D43-9676-04B7C9C96B2D}" srcOrd="0" destOrd="0" presId="urn:microsoft.com/office/officeart/2008/layout/VerticalCurvedList#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8CE91A2-3FEA-4776-B4E7-04AB607E0115}" type="doc">
      <dgm:prSet loTypeId="urn:microsoft.com/office/officeart/2005/8/layout/hProcess6" loCatId="process" qsTypeId="urn:microsoft.com/office/officeart/2005/8/quickstyle/simple1" qsCatId="simple" csTypeId="urn:microsoft.com/office/officeart/2005/8/colors/accent1_2" csCatId="accent1" phldr="1"/>
      <dgm:spPr/>
      <dgm:t>
        <a:bodyPr/>
        <a:lstStyle/>
        <a:p>
          <a:endParaRPr lang="fr-FR"/>
        </a:p>
      </dgm:t>
    </dgm:pt>
    <dgm:pt modelId="{3CCCC31E-C63D-454E-B1A1-E069DF87D460}">
      <dgm:prSet phldrT="[Texte]">
        <dgm:style>
          <a:lnRef idx="1">
            <a:schemeClr val="accent2"/>
          </a:lnRef>
          <a:fillRef idx="3">
            <a:schemeClr val="accent2"/>
          </a:fillRef>
          <a:effectRef idx="2">
            <a:schemeClr val="accent2"/>
          </a:effectRef>
          <a:fontRef idx="minor">
            <a:schemeClr val="lt1"/>
          </a:fontRef>
        </dgm:style>
      </dgm:prSet>
      <dgm:spPr>
        <a:solidFill>
          <a:srgbClr val="00B050"/>
        </a:solidFill>
        <a:ln w="28575">
          <a:solidFill>
            <a:schemeClr val="bg1"/>
          </a:solidFill>
        </a:ln>
      </dgm:spPr>
      <dgm:t>
        <a:bodyPr/>
        <a:lstStyle/>
        <a:p>
          <a:r>
            <a:rPr lang="fr-FR" b="1" dirty="0">
              <a:solidFill>
                <a:schemeClr val="tx1"/>
              </a:solidFill>
              <a:effectLst>
                <a:outerShdw blurRad="38100" dist="38100" dir="2700000" algn="tl">
                  <a:srgbClr val="000000">
                    <a:alpha val="43137"/>
                  </a:srgbClr>
                </a:outerShdw>
              </a:effectLst>
            </a:rPr>
            <a:t>Entrée</a:t>
          </a:r>
        </a:p>
      </dgm:t>
    </dgm:pt>
    <dgm:pt modelId="{640D3831-3107-4C07-AE30-6C796A9B1DBF}" type="parTrans" cxnId="{9BE05146-752C-463E-8EAA-57BB665B56C6}">
      <dgm:prSet/>
      <dgm:spPr/>
      <dgm:t>
        <a:bodyPr/>
        <a:lstStyle/>
        <a:p>
          <a:endParaRPr lang="fr-FR"/>
        </a:p>
      </dgm:t>
    </dgm:pt>
    <dgm:pt modelId="{9037A8D2-1803-47CC-BF83-77CE1F0D55E0}" type="sibTrans" cxnId="{9BE05146-752C-463E-8EAA-57BB665B56C6}">
      <dgm:prSet/>
      <dgm:spPr/>
      <dgm:t>
        <a:bodyPr/>
        <a:lstStyle/>
        <a:p>
          <a:endParaRPr lang="fr-FR"/>
        </a:p>
      </dgm:t>
    </dgm:pt>
    <dgm:pt modelId="{EDE4A42C-358A-4463-9EDA-C5B40AD27508}">
      <dgm:prSet phldrT="[Texte]"/>
      <dgm:spPr>
        <a:solidFill>
          <a:schemeClr val="accent6">
            <a:lumMod val="40000"/>
            <a:lumOff val="60000"/>
            <a:alpha val="90000"/>
          </a:schemeClr>
        </a:solidFill>
        <a:ln w="19050">
          <a:solidFill>
            <a:schemeClr val="bg1">
              <a:alpha val="90000"/>
            </a:schemeClr>
          </a:solidFill>
        </a:ln>
      </dgm:spPr>
      <dgm:t>
        <a:bodyPr/>
        <a:lstStyle/>
        <a:p>
          <a:r>
            <a:rPr lang="fr-FR" dirty="0">
              <a:effectLst>
                <a:outerShdw blurRad="38100" dist="38100" dir="2700000" algn="tl">
                  <a:srgbClr val="000000">
                    <a:alpha val="43137"/>
                  </a:srgbClr>
                </a:outerShdw>
              </a:effectLst>
            </a:rPr>
            <a:t>Processus de double authentification</a:t>
          </a:r>
        </a:p>
      </dgm:t>
    </dgm:pt>
    <dgm:pt modelId="{6969E89F-1AA5-4803-9809-D83E1919C7DE}" type="parTrans" cxnId="{06DA6B5F-EB8A-43CB-8B50-2866638C353B}">
      <dgm:prSet/>
      <dgm:spPr/>
      <dgm:t>
        <a:bodyPr/>
        <a:lstStyle/>
        <a:p>
          <a:endParaRPr lang="fr-FR"/>
        </a:p>
      </dgm:t>
    </dgm:pt>
    <dgm:pt modelId="{ADBDDDB2-0D18-4D47-83A1-5E34E2DDA6B9}" type="sibTrans" cxnId="{06DA6B5F-EB8A-43CB-8B50-2866638C353B}">
      <dgm:prSet/>
      <dgm:spPr/>
      <dgm:t>
        <a:bodyPr/>
        <a:lstStyle/>
        <a:p>
          <a:endParaRPr lang="fr-FR"/>
        </a:p>
      </dgm:t>
    </dgm:pt>
    <dgm:pt modelId="{E2FF155E-B2DF-46F6-85B2-31937932FEEA}">
      <dgm:prSet phldrT="[Texte]"/>
      <dgm:spPr>
        <a:solidFill>
          <a:schemeClr val="accent6">
            <a:lumMod val="40000"/>
            <a:lumOff val="60000"/>
            <a:alpha val="90000"/>
          </a:schemeClr>
        </a:solidFill>
        <a:ln w="19050">
          <a:solidFill>
            <a:schemeClr val="bg1">
              <a:alpha val="90000"/>
            </a:schemeClr>
          </a:solidFill>
        </a:ln>
      </dgm:spPr>
      <dgm:t>
        <a:bodyPr/>
        <a:lstStyle/>
        <a:p>
          <a:r>
            <a:rPr lang="fr-FR" dirty="0">
              <a:effectLst>
                <a:outerShdw blurRad="38100" dist="38100" dir="2700000" algn="tl">
                  <a:srgbClr val="000000">
                    <a:alpha val="43137"/>
                  </a:srgbClr>
                </a:outerShdw>
              </a:effectLst>
            </a:rPr>
            <a:t>Enrôlement (remplissage d’un formulaire)</a:t>
          </a:r>
        </a:p>
      </dgm:t>
    </dgm:pt>
    <dgm:pt modelId="{B10750D7-372E-4A9E-A5FD-531A18E1B75F}" type="parTrans" cxnId="{AE1B32AC-29F8-4936-910A-23F7F54F7A32}">
      <dgm:prSet/>
      <dgm:spPr/>
      <dgm:t>
        <a:bodyPr/>
        <a:lstStyle/>
        <a:p>
          <a:endParaRPr lang="fr-FR"/>
        </a:p>
      </dgm:t>
    </dgm:pt>
    <dgm:pt modelId="{6826D1A3-11F4-4415-BF84-23F7A84612E3}" type="sibTrans" cxnId="{AE1B32AC-29F8-4936-910A-23F7F54F7A32}">
      <dgm:prSet/>
      <dgm:spPr/>
      <dgm:t>
        <a:bodyPr/>
        <a:lstStyle/>
        <a:p>
          <a:endParaRPr lang="fr-FR"/>
        </a:p>
      </dgm:t>
    </dgm:pt>
    <dgm:pt modelId="{53DCD937-FFA6-44A9-9A39-7072ED79DF7E}">
      <dgm:prSet phldrT="[Texte]">
        <dgm:style>
          <a:lnRef idx="1">
            <a:schemeClr val="accent1"/>
          </a:lnRef>
          <a:fillRef idx="3">
            <a:schemeClr val="accent1"/>
          </a:fillRef>
          <a:effectRef idx="2">
            <a:schemeClr val="accent1"/>
          </a:effectRef>
          <a:fontRef idx="minor">
            <a:schemeClr val="lt1"/>
          </a:fontRef>
        </dgm:style>
      </dgm:prSet>
      <dgm:spPr>
        <a:solidFill>
          <a:srgbClr val="C00000"/>
        </a:solidFill>
        <a:ln w="19050">
          <a:solidFill>
            <a:schemeClr val="bg1"/>
          </a:solidFill>
        </a:ln>
      </dgm:spPr>
      <dgm:t>
        <a:bodyPr/>
        <a:lstStyle/>
        <a:p>
          <a:r>
            <a:rPr lang="fr-FR" b="1" dirty="0">
              <a:solidFill>
                <a:schemeClr val="tx1"/>
              </a:solidFill>
              <a:effectLst>
                <a:outerShdw blurRad="38100" dist="38100" dir="2700000" algn="tl">
                  <a:srgbClr val="000000">
                    <a:alpha val="43137"/>
                  </a:srgbClr>
                </a:outerShdw>
              </a:effectLst>
            </a:rPr>
            <a:t>Traitement</a:t>
          </a:r>
        </a:p>
      </dgm:t>
    </dgm:pt>
    <dgm:pt modelId="{7A8B4E70-09B6-4BC0-B839-2AE28881922A}" type="parTrans" cxnId="{E4749285-5ABE-42E6-98A6-B14F11F1E15D}">
      <dgm:prSet/>
      <dgm:spPr/>
      <dgm:t>
        <a:bodyPr/>
        <a:lstStyle/>
        <a:p>
          <a:endParaRPr lang="fr-FR"/>
        </a:p>
      </dgm:t>
    </dgm:pt>
    <dgm:pt modelId="{D3D38B66-B1D0-48F9-813D-68B32EAA497D}" type="sibTrans" cxnId="{E4749285-5ABE-42E6-98A6-B14F11F1E15D}">
      <dgm:prSet/>
      <dgm:spPr/>
      <dgm:t>
        <a:bodyPr/>
        <a:lstStyle/>
        <a:p>
          <a:endParaRPr lang="fr-FR"/>
        </a:p>
      </dgm:t>
    </dgm:pt>
    <dgm:pt modelId="{E2E89A12-0583-4050-AF53-7328914B590C}">
      <dgm:prSet phldrT="[Texte]"/>
      <dgm:spPr>
        <a:solidFill>
          <a:srgbClr val="FF7D7D"/>
        </a:solidFill>
        <a:ln w="19050">
          <a:solidFill>
            <a:schemeClr val="bg1">
              <a:alpha val="90000"/>
            </a:schemeClr>
          </a:solidFill>
        </a:ln>
      </dgm:spPr>
      <dgm:t>
        <a:bodyPr/>
        <a:lstStyle/>
        <a:p>
          <a:r>
            <a:rPr lang="fr-FR" dirty="0">
              <a:effectLst>
                <a:outerShdw blurRad="38100" dist="38100" dir="2700000" algn="tl">
                  <a:srgbClr val="000000">
                    <a:alpha val="43137"/>
                  </a:srgbClr>
                </a:outerShdw>
              </a:effectLst>
            </a:rPr>
            <a:t>Stockage des informations dans la base de données</a:t>
          </a:r>
        </a:p>
      </dgm:t>
    </dgm:pt>
    <dgm:pt modelId="{91FB0485-8E5E-477A-B7C0-53FE9534E8C5}" type="parTrans" cxnId="{4FB19D8F-FE34-470C-AECF-9BDF19C86DF2}">
      <dgm:prSet/>
      <dgm:spPr/>
      <dgm:t>
        <a:bodyPr/>
        <a:lstStyle/>
        <a:p>
          <a:endParaRPr lang="fr-FR"/>
        </a:p>
      </dgm:t>
    </dgm:pt>
    <dgm:pt modelId="{94465E9C-5141-4EDB-8703-68486C10410A}" type="sibTrans" cxnId="{4FB19D8F-FE34-470C-AECF-9BDF19C86DF2}">
      <dgm:prSet/>
      <dgm:spPr/>
      <dgm:t>
        <a:bodyPr/>
        <a:lstStyle/>
        <a:p>
          <a:endParaRPr lang="fr-FR"/>
        </a:p>
      </dgm:t>
    </dgm:pt>
    <dgm:pt modelId="{848EC958-4F7A-4274-885B-0E6A6515F59C}">
      <dgm:prSet phldrT="[Texte]"/>
      <dgm:spPr>
        <a:solidFill>
          <a:srgbClr val="FF7D7D"/>
        </a:solidFill>
        <a:ln w="19050">
          <a:solidFill>
            <a:schemeClr val="bg1">
              <a:alpha val="90000"/>
            </a:schemeClr>
          </a:solidFill>
        </a:ln>
      </dgm:spPr>
      <dgm:t>
        <a:bodyPr/>
        <a:lstStyle/>
        <a:p>
          <a:r>
            <a:rPr lang="fr-FR" dirty="0">
              <a:effectLst>
                <a:outerShdw blurRad="38100" dist="38100" dir="2700000" algn="tl">
                  <a:srgbClr val="000000">
                    <a:alpha val="43137"/>
                  </a:srgbClr>
                </a:outerShdw>
              </a:effectLst>
            </a:rPr>
            <a:t>Intégration des technologies anti-falsification </a:t>
          </a:r>
        </a:p>
      </dgm:t>
    </dgm:pt>
    <dgm:pt modelId="{D2694A9F-A492-4A4F-92FB-370970A1D1A0}" type="parTrans" cxnId="{8B74FD94-9425-4163-855F-A827A8B2889F}">
      <dgm:prSet/>
      <dgm:spPr/>
      <dgm:t>
        <a:bodyPr/>
        <a:lstStyle/>
        <a:p>
          <a:endParaRPr lang="fr-FR"/>
        </a:p>
      </dgm:t>
    </dgm:pt>
    <dgm:pt modelId="{9F013ABF-1CDD-46D2-B646-43C5F8A7EBDD}" type="sibTrans" cxnId="{8B74FD94-9425-4163-855F-A827A8B2889F}">
      <dgm:prSet/>
      <dgm:spPr/>
      <dgm:t>
        <a:bodyPr/>
        <a:lstStyle/>
        <a:p>
          <a:endParaRPr lang="fr-FR"/>
        </a:p>
      </dgm:t>
    </dgm:pt>
    <dgm:pt modelId="{BA149FA7-35EF-4058-9C84-F9969FF96F29}">
      <dgm:prSet phldrT="[Texte]">
        <dgm:style>
          <a:lnRef idx="1">
            <a:schemeClr val="accent6"/>
          </a:lnRef>
          <a:fillRef idx="2">
            <a:schemeClr val="accent6"/>
          </a:fillRef>
          <a:effectRef idx="1">
            <a:schemeClr val="accent6"/>
          </a:effectRef>
          <a:fontRef idx="minor">
            <a:schemeClr val="dk1"/>
          </a:fontRef>
        </dgm:style>
      </dgm:prSet>
      <dgm:spPr>
        <a:solidFill>
          <a:srgbClr val="FCD116"/>
        </a:solidFill>
        <a:ln w="19050">
          <a:solidFill>
            <a:schemeClr val="bg1"/>
          </a:solidFill>
        </a:ln>
      </dgm:spPr>
      <dgm:t>
        <a:bodyPr/>
        <a:lstStyle/>
        <a:p>
          <a:r>
            <a:rPr lang="fr-FR" b="1" dirty="0">
              <a:solidFill>
                <a:schemeClr val="tx1"/>
              </a:solidFill>
              <a:effectLst>
                <a:outerShdw blurRad="38100" dist="38100" dir="2700000" algn="tl">
                  <a:srgbClr val="000000">
                    <a:alpha val="43137"/>
                  </a:srgbClr>
                </a:outerShdw>
              </a:effectLst>
            </a:rPr>
            <a:t>Sortie</a:t>
          </a:r>
        </a:p>
      </dgm:t>
    </dgm:pt>
    <dgm:pt modelId="{4D58BFF6-28A7-4423-8A59-66B3AF3D147F}" type="parTrans" cxnId="{978E81D0-5B2F-45A9-A7CA-77F4AF3B7272}">
      <dgm:prSet/>
      <dgm:spPr/>
      <dgm:t>
        <a:bodyPr/>
        <a:lstStyle/>
        <a:p>
          <a:endParaRPr lang="fr-FR"/>
        </a:p>
      </dgm:t>
    </dgm:pt>
    <dgm:pt modelId="{3F9DB37A-6FDA-41EC-8CB5-09F9F5F41F0A}" type="sibTrans" cxnId="{978E81D0-5B2F-45A9-A7CA-77F4AF3B7272}">
      <dgm:prSet/>
      <dgm:spPr/>
      <dgm:t>
        <a:bodyPr/>
        <a:lstStyle/>
        <a:p>
          <a:endParaRPr lang="fr-FR"/>
        </a:p>
      </dgm:t>
    </dgm:pt>
    <dgm:pt modelId="{BEDCBEA5-7DD5-4AD0-89F5-A7306CF32A2C}">
      <dgm:prSet phldrT="[Texte]"/>
      <dgm:spPr>
        <a:solidFill>
          <a:schemeClr val="accent4">
            <a:lumMod val="40000"/>
            <a:lumOff val="60000"/>
            <a:alpha val="90000"/>
          </a:schemeClr>
        </a:solidFill>
        <a:ln>
          <a:solidFill>
            <a:schemeClr val="bg1">
              <a:alpha val="90000"/>
            </a:schemeClr>
          </a:solidFill>
        </a:ln>
      </dgm:spPr>
      <dgm:t>
        <a:bodyPr/>
        <a:lstStyle/>
        <a:p>
          <a:r>
            <a:rPr lang="fr-FR" dirty="0">
              <a:effectLst>
                <a:outerShdw blurRad="38100" dist="38100" dir="2700000" algn="tl">
                  <a:srgbClr val="000000">
                    <a:alpha val="43137"/>
                  </a:srgbClr>
                </a:outerShdw>
              </a:effectLst>
            </a:rPr>
            <a:t>Génération des cartes numériques prêtes à être imprimées</a:t>
          </a:r>
        </a:p>
      </dgm:t>
    </dgm:pt>
    <dgm:pt modelId="{330372BD-E6D5-4246-8EA7-03C401856E99}" type="parTrans" cxnId="{ABC35FB3-D72F-4732-9CAC-829D2C841E9A}">
      <dgm:prSet/>
      <dgm:spPr/>
      <dgm:t>
        <a:bodyPr/>
        <a:lstStyle/>
        <a:p>
          <a:endParaRPr lang="fr-FR"/>
        </a:p>
      </dgm:t>
    </dgm:pt>
    <dgm:pt modelId="{09F92632-C39E-446B-8005-E18062775759}" type="sibTrans" cxnId="{ABC35FB3-D72F-4732-9CAC-829D2C841E9A}">
      <dgm:prSet/>
      <dgm:spPr/>
      <dgm:t>
        <a:bodyPr/>
        <a:lstStyle/>
        <a:p>
          <a:endParaRPr lang="fr-FR"/>
        </a:p>
      </dgm:t>
    </dgm:pt>
    <dgm:pt modelId="{E9D1990A-49C5-4CF6-BF1A-3D51265230C8}">
      <dgm:prSet phldrT="[Texte]"/>
      <dgm:spPr>
        <a:solidFill>
          <a:srgbClr val="FF7D7D"/>
        </a:solidFill>
        <a:ln w="19050">
          <a:solidFill>
            <a:schemeClr val="bg1">
              <a:alpha val="90000"/>
            </a:schemeClr>
          </a:solidFill>
        </a:ln>
      </dgm:spPr>
      <dgm:t>
        <a:bodyPr/>
        <a:lstStyle/>
        <a:p>
          <a:r>
            <a:rPr lang="fr-FR" dirty="0">
              <a:effectLst>
                <a:outerShdw blurRad="38100" dist="38100" dir="2700000" algn="tl">
                  <a:srgbClr val="000000">
                    <a:alpha val="43137"/>
                  </a:srgbClr>
                </a:outerShdw>
              </a:effectLst>
            </a:rPr>
            <a:t>Choix du modèle de carte par corps</a:t>
          </a:r>
        </a:p>
      </dgm:t>
    </dgm:pt>
    <dgm:pt modelId="{A8E5FF98-7917-44BE-B608-DE241D2115C6}" type="parTrans" cxnId="{A5718CCF-7BC4-4C4A-9D2F-1597D96DBAF3}">
      <dgm:prSet/>
      <dgm:spPr/>
      <dgm:t>
        <a:bodyPr/>
        <a:lstStyle/>
        <a:p>
          <a:endParaRPr lang="fr-FR"/>
        </a:p>
      </dgm:t>
    </dgm:pt>
    <dgm:pt modelId="{ADD2592E-C377-4BD8-8F58-5723261632FE}" type="sibTrans" cxnId="{A5718CCF-7BC4-4C4A-9D2F-1597D96DBAF3}">
      <dgm:prSet/>
      <dgm:spPr/>
      <dgm:t>
        <a:bodyPr/>
        <a:lstStyle/>
        <a:p>
          <a:endParaRPr lang="fr-FR"/>
        </a:p>
      </dgm:t>
    </dgm:pt>
    <dgm:pt modelId="{635515A1-C376-4C6D-9FEB-63FFE1AD8B3E}" type="pres">
      <dgm:prSet presAssocID="{98CE91A2-3FEA-4776-B4E7-04AB607E0115}" presName="theList" presStyleCnt="0">
        <dgm:presLayoutVars>
          <dgm:dir/>
          <dgm:animLvl val="lvl"/>
          <dgm:resizeHandles val="exact"/>
        </dgm:presLayoutVars>
      </dgm:prSet>
      <dgm:spPr/>
    </dgm:pt>
    <dgm:pt modelId="{715DE4B3-F87C-4EAA-86D4-0F635703CD70}" type="pres">
      <dgm:prSet presAssocID="{3CCCC31E-C63D-454E-B1A1-E069DF87D460}" presName="compNode" presStyleCnt="0"/>
      <dgm:spPr/>
    </dgm:pt>
    <dgm:pt modelId="{9C865605-34A8-4A14-BDB1-0268D721020A}" type="pres">
      <dgm:prSet presAssocID="{3CCCC31E-C63D-454E-B1A1-E069DF87D460}" presName="noGeometry" presStyleCnt="0"/>
      <dgm:spPr/>
    </dgm:pt>
    <dgm:pt modelId="{7D8B3726-8396-4512-A9C4-075C3D585105}" type="pres">
      <dgm:prSet presAssocID="{3CCCC31E-C63D-454E-B1A1-E069DF87D460}" presName="childTextVisible" presStyleLbl="bgAccFollowNode1" presStyleIdx="0" presStyleCnt="3" custScaleY="118473">
        <dgm:presLayoutVars>
          <dgm:bulletEnabled val="1"/>
        </dgm:presLayoutVars>
      </dgm:prSet>
      <dgm:spPr/>
    </dgm:pt>
    <dgm:pt modelId="{5FAD28DE-97E7-494D-ACBE-4B22B9A32ED0}" type="pres">
      <dgm:prSet presAssocID="{3CCCC31E-C63D-454E-B1A1-E069DF87D460}" presName="childTextHidden" presStyleLbl="bgAccFollowNode1" presStyleIdx="0" presStyleCnt="3"/>
      <dgm:spPr/>
    </dgm:pt>
    <dgm:pt modelId="{27D9A88B-3ED1-460D-8EEF-FC22CA848AA1}" type="pres">
      <dgm:prSet presAssocID="{3CCCC31E-C63D-454E-B1A1-E069DF87D460}" presName="parentText" presStyleLbl="node1" presStyleIdx="0" presStyleCnt="3" custLinFactNeighborX="-2261" custLinFactNeighborY="-1444">
        <dgm:presLayoutVars>
          <dgm:chMax val="1"/>
          <dgm:bulletEnabled val="1"/>
        </dgm:presLayoutVars>
      </dgm:prSet>
      <dgm:spPr/>
    </dgm:pt>
    <dgm:pt modelId="{0090498D-DC3F-43E3-914D-12535C31F5D1}" type="pres">
      <dgm:prSet presAssocID="{3CCCC31E-C63D-454E-B1A1-E069DF87D460}" presName="aSpace" presStyleCnt="0"/>
      <dgm:spPr/>
    </dgm:pt>
    <dgm:pt modelId="{DDEFF399-E14C-4CA7-B9ED-0C53249582F7}" type="pres">
      <dgm:prSet presAssocID="{53DCD937-FFA6-44A9-9A39-7072ED79DF7E}" presName="compNode" presStyleCnt="0"/>
      <dgm:spPr/>
    </dgm:pt>
    <dgm:pt modelId="{BFFCEA33-461D-4CE8-9539-AA58693CBA80}" type="pres">
      <dgm:prSet presAssocID="{53DCD937-FFA6-44A9-9A39-7072ED79DF7E}" presName="noGeometry" presStyleCnt="0"/>
      <dgm:spPr/>
    </dgm:pt>
    <dgm:pt modelId="{B8E15EDC-5CC7-4BBF-8423-4FC729F439A7}" type="pres">
      <dgm:prSet presAssocID="{53DCD937-FFA6-44A9-9A39-7072ED79DF7E}" presName="childTextVisible" presStyleLbl="bgAccFollowNode1" presStyleIdx="1" presStyleCnt="3" custScaleY="123293" custLinFactNeighborX="-891">
        <dgm:presLayoutVars>
          <dgm:bulletEnabled val="1"/>
        </dgm:presLayoutVars>
      </dgm:prSet>
      <dgm:spPr/>
    </dgm:pt>
    <dgm:pt modelId="{674006BC-73DA-4E07-9881-E9D0333B16A2}" type="pres">
      <dgm:prSet presAssocID="{53DCD937-FFA6-44A9-9A39-7072ED79DF7E}" presName="childTextHidden" presStyleLbl="bgAccFollowNode1" presStyleIdx="1" presStyleCnt="3"/>
      <dgm:spPr/>
    </dgm:pt>
    <dgm:pt modelId="{DB80016C-5E03-49AF-B322-20CFEE0B6A6D}" type="pres">
      <dgm:prSet presAssocID="{53DCD937-FFA6-44A9-9A39-7072ED79DF7E}" presName="parentText" presStyleLbl="node1" presStyleIdx="1" presStyleCnt="3">
        <dgm:presLayoutVars>
          <dgm:chMax val="1"/>
          <dgm:bulletEnabled val="1"/>
        </dgm:presLayoutVars>
      </dgm:prSet>
      <dgm:spPr/>
    </dgm:pt>
    <dgm:pt modelId="{F75A5B9B-F4BF-460B-9BD7-F3491B9096F7}" type="pres">
      <dgm:prSet presAssocID="{53DCD937-FFA6-44A9-9A39-7072ED79DF7E}" presName="aSpace" presStyleCnt="0"/>
      <dgm:spPr/>
    </dgm:pt>
    <dgm:pt modelId="{0E762C98-FAE5-49AC-B834-F775D70FCEB1}" type="pres">
      <dgm:prSet presAssocID="{BA149FA7-35EF-4058-9C84-F9969FF96F29}" presName="compNode" presStyleCnt="0"/>
      <dgm:spPr/>
    </dgm:pt>
    <dgm:pt modelId="{D4FC5069-FBF4-4D35-8C92-232689F315FA}" type="pres">
      <dgm:prSet presAssocID="{BA149FA7-35EF-4058-9C84-F9969FF96F29}" presName="noGeometry" presStyleCnt="0"/>
      <dgm:spPr/>
    </dgm:pt>
    <dgm:pt modelId="{ACCE1AED-AE84-429E-AD39-6E4E8C00E623}" type="pres">
      <dgm:prSet presAssocID="{BA149FA7-35EF-4058-9C84-F9969FF96F29}" presName="childTextVisible" presStyleLbl="bgAccFollowNode1" presStyleIdx="2" presStyleCnt="3" custScaleY="129718">
        <dgm:presLayoutVars>
          <dgm:bulletEnabled val="1"/>
        </dgm:presLayoutVars>
      </dgm:prSet>
      <dgm:spPr/>
    </dgm:pt>
    <dgm:pt modelId="{69DDCF3E-5BF0-4FD4-A1AF-5B48B204CB70}" type="pres">
      <dgm:prSet presAssocID="{BA149FA7-35EF-4058-9C84-F9969FF96F29}" presName="childTextHidden" presStyleLbl="bgAccFollowNode1" presStyleIdx="2" presStyleCnt="3"/>
      <dgm:spPr/>
    </dgm:pt>
    <dgm:pt modelId="{EB2D3F50-758C-432A-83CC-526AE30CDF32}" type="pres">
      <dgm:prSet presAssocID="{BA149FA7-35EF-4058-9C84-F9969FF96F29}" presName="parentText" presStyleLbl="node1" presStyleIdx="2" presStyleCnt="3">
        <dgm:presLayoutVars>
          <dgm:chMax val="1"/>
          <dgm:bulletEnabled val="1"/>
        </dgm:presLayoutVars>
      </dgm:prSet>
      <dgm:spPr/>
    </dgm:pt>
  </dgm:ptLst>
  <dgm:cxnLst>
    <dgm:cxn modelId="{7C82C70B-B16E-4BC1-9098-0BA915B25891}" type="presOf" srcId="{E2E89A12-0583-4050-AF53-7328914B590C}" destId="{674006BC-73DA-4E07-9881-E9D0333B16A2}" srcOrd="1" destOrd="0" presId="urn:microsoft.com/office/officeart/2005/8/layout/hProcess6"/>
    <dgm:cxn modelId="{D4169E1F-8B14-44F2-85F7-124D07FD829C}" type="presOf" srcId="{BEDCBEA5-7DD5-4AD0-89F5-A7306CF32A2C}" destId="{ACCE1AED-AE84-429E-AD39-6E4E8C00E623}" srcOrd="0" destOrd="0" presId="urn:microsoft.com/office/officeart/2005/8/layout/hProcess6"/>
    <dgm:cxn modelId="{52A5C525-B455-4E83-A58D-F0B04A6EE42F}" type="presOf" srcId="{E9D1990A-49C5-4CF6-BF1A-3D51265230C8}" destId="{674006BC-73DA-4E07-9881-E9D0333B16A2}" srcOrd="1" destOrd="1" presId="urn:microsoft.com/office/officeart/2005/8/layout/hProcess6"/>
    <dgm:cxn modelId="{7BB57C2E-EE8B-49BD-B454-96C54E2DF51E}" type="presOf" srcId="{E9D1990A-49C5-4CF6-BF1A-3D51265230C8}" destId="{B8E15EDC-5CC7-4BBF-8423-4FC729F439A7}" srcOrd="0" destOrd="1" presId="urn:microsoft.com/office/officeart/2005/8/layout/hProcess6"/>
    <dgm:cxn modelId="{2B7CFB36-609A-4399-96F6-7913E73D0442}" type="presOf" srcId="{98CE91A2-3FEA-4776-B4E7-04AB607E0115}" destId="{635515A1-C376-4C6D-9FEB-63FFE1AD8B3E}" srcOrd="0" destOrd="0" presId="urn:microsoft.com/office/officeart/2005/8/layout/hProcess6"/>
    <dgm:cxn modelId="{4C252F5B-E6E3-4668-8D77-93451AFEDBF7}" type="presOf" srcId="{E2FF155E-B2DF-46F6-85B2-31937932FEEA}" destId="{7D8B3726-8396-4512-A9C4-075C3D585105}" srcOrd="0" destOrd="1" presId="urn:microsoft.com/office/officeart/2005/8/layout/hProcess6"/>
    <dgm:cxn modelId="{06DA6B5F-EB8A-43CB-8B50-2866638C353B}" srcId="{3CCCC31E-C63D-454E-B1A1-E069DF87D460}" destId="{EDE4A42C-358A-4463-9EDA-C5B40AD27508}" srcOrd="0" destOrd="0" parTransId="{6969E89F-1AA5-4803-9809-D83E1919C7DE}" sibTransId="{ADBDDDB2-0D18-4D47-83A1-5E34E2DDA6B9}"/>
    <dgm:cxn modelId="{50D56B60-4F37-4E84-BFFE-D7835C9EECA0}" type="presOf" srcId="{EDE4A42C-358A-4463-9EDA-C5B40AD27508}" destId="{5FAD28DE-97E7-494D-ACBE-4B22B9A32ED0}" srcOrd="1" destOrd="0" presId="urn:microsoft.com/office/officeart/2005/8/layout/hProcess6"/>
    <dgm:cxn modelId="{9BE05146-752C-463E-8EAA-57BB665B56C6}" srcId="{98CE91A2-3FEA-4776-B4E7-04AB607E0115}" destId="{3CCCC31E-C63D-454E-B1A1-E069DF87D460}" srcOrd="0" destOrd="0" parTransId="{640D3831-3107-4C07-AE30-6C796A9B1DBF}" sibTransId="{9037A8D2-1803-47CC-BF83-77CE1F0D55E0}"/>
    <dgm:cxn modelId="{16FA524B-0312-4948-AC5C-646C7D654EA8}" type="presOf" srcId="{EDE4A42C-358A-4463-9EDA-C5B40AD27508}" destId="{7D8B3726-8396-4512-A9C4-075C3D585105}" srcOrd="0" destOrd="0" presId="urn:microsoft.com/office/officeart/2005/8/layout/hProcess6"/>
    <dgm:cxn modelId="{B4CED070-C4DA-4D93-933F-D016A6069F8A}" type="presOf" srcId="{E2FF155E-B2DF-46F6-85B2-31937932FEEA}" destId="{5FAD28DE-97E7-494D-ACBE-4B22B9A32ED0}" srcOrd="1" destOrd="1" presId="urn:microsoft.com/office/officeart/2005/8/layout/hProcess6"/>
    <dgm:cxn modelId="{50540054-D348-4248-B046-025A8417D3D9}" type="presOf" srcId="{E2E89A12-0583-4050-AF53-7328914B590C}" destId="{B8E15EDC-5CC7-4BBF-8423-4FC729F439A7}" srcOrd="0" destOrd="0" presId="urn:microsoft.com/office/officeart/2005/8/layout/hProcess6"/>
    <dgm:cxn modelId="{ADD57C7A-C304-422D-AF1C-5C1432A083A3}" type="presOf" srcId="{53DCD937-FFA6-44A9-9A39-7072ED79DF7E}" destId="{DB80016C-5E03-49AF-B322-20CFEE0B6A6D}" srcOrd="0" destOrd="0" presId="urn:microsoft.com/office/officeart/2005/8/layout/hProcess6"/>
    <dgm:cxn modelId="{E4749285-5ABE-42E6-98A6-B14F11F1E15D}" srcId="{98CE91A2-3FEA-4776-B4E7-04AB607E0115}" destId="{53DCD937-FFA6-44A9-9A39-7072ED79DF7E}" srcOrd="1" destOrd="0" parTransId="{7A8B4E70-09B6-4BC0-B839-2AE28881922A}" sibTransId="{D3D38B66-B1D0-48F9-813D-68B32EAA497D}"/>
    <dgm:cxn modelId="{4FB19D8F-FE34-470C-AECF-9BDF19C86DF2}" srcId="{53DCD937-FFA6-44A9-9A39-7072ED79DF7E}" destId="{E2E89A12-0583-4050-AF53-7328914B590C}" srcOrd="0" destOrd="0" parTransId="{91FB0485-8E5E-477A-B7C0-53FE9534E8C5}" sibTransId="{94465E9C-5141-4EDB-8703-68486C10410A}"/>
    <dgm:cxn modelId="{27375891-0BFF-4969-9004-3C17CF29C09A}" type="presOf" srcId="{BA149FA7-35EF-4058-9C84-F9969FF96F29}" destId="{EB2D3F50-758C-432A-83CC-526AE30CDF32}" srcOrd="0" destOrd="0" presId="urn:microsoft.com/office/officeart/2005/8/layout/hProcess6"/>
    <dgm:cxn modelId="{8B74FD94-9425-4163-855F-A827A8B2889F}" srcId="{53DCD937-FFA6-44A9-9A39-7072ED79DF7E}" destId="{848EC958-4F7A-4274-885B-0E6A6515F59C}" srcOrd="2" destOrd="0" parTransId="{D2694A9F-A492-4A4F-92FB-370970A1D1A0}" sibTransId="{9F013ABF-1CDD-46D2-B646-43C5F8A7EBDD}"/>
    <dgm:cxn modelId="{800A33A6-1A51-48A4-BB3B-605C83276777}" type="presOf" srcId="{3CCCC31E-C63D-454E-B1A1-E069DF87D460}" destId="{27D9A88B-3ED1-460D-8EEF-FC22CA848AA1}" srcOrd="0" destOrd="0" presId="urn:microsoft.com/office/officeart/2005/8/layout/hProcess6"/>
    <dgm:cxn modelId="{AE1B32AC-29F8-4936-910A-23F7F54F7A32}" srcId="{3CCCC31E-C63D-454E-B1A1-E069DF87D460}" destId="{E2FF155E-B2DF-46F6-85B2-31937932FEEA}" srcOrd="1" destOrd="0" parTransId="{B10750D7-372E-4A9E-A5FD-531A18E1B75F}" sibTransId="{6826D1A3-11F4-4415-BF84-23F7A84612E3}"/>
    <dgm:cxn modelId="{ABC35FB3-D72F-4732-9CAC-829D2C841E9A}" srcId="{BA149FA7-35EF-4058-9C84-F9969FF96F29}" destId="{BEDCBEA5-7DD5-4AD0-89F5-A7306CF32A2C}" srcOrd="0" destOrd="0" parTransId="{330372BD-E6D5-4246-8EA7-03C401856E99}" sibTransId="{09F92632-C39E-446B-8005-E18062775759}"/>
    <dgm:cxn modelId="{C796F1BF-98D6-4078-A0FE-70E080F6A916}" type="presOf" srcId="{848EC958-4F7A-4274-885B-0E6A6515F59C}" destId="{674006BC-73DA-4E07-9881-E9D0333B16A2}" srcOrd="1" destOrd="2" presId="urn:microsoft.com/office/officeart/2005/8/layout/hProcess6"/>
    <dgm:cxn modelId="{A5718CCF-7BC4-4C4A-9D2F-1597D96DBAF3}" srcId="{53DCD937-FFA6-44A9-9A39-7072ED79DF7E}" destId="{E9D1990A-49C5-4CF6-BF1A-3D51265230C8}" srcOrd="1" destOrd="0" parTransId="{A8E5FF98-7917-44BE-B608-DE241D2115C6}" sibTransId="{ADD2592E-C377-4BD8-8F58-5723261632FE}"/>
    <dgm:cxn modelId="{978E81D0-5B2F-45A9-A7CA-77F4AF3B7272}" srcId="{98CE91A2-3FEA-4776-B4E7-04AB607E0115}" destId="{BA149FA7-35EF-4058-9C84-F9969FF96F29}" srcOrd="2" destOrd="0" parTransId="{4D58BFF6-28A7-4423-8A59-66B3AF3D147F}" sibTransId="{3F9DB37A-6FDA-41EC-8CB5-09F9F5F41F0A}"/>
    <dgm:cxn modelId="{E38937EA-78B0-4DFC-B3A7-D39CA9102177}" type="presOf" srcId="{848EC958-4F7A-4274-885B-0E6A6515F59C}" destId="{B8E15EDC-5CC7-4BBF-8423-4FC729F439A7}" srcOrd="0" destOrd="2" presId="urn:microsoft.com/office/officeart/2005/8/layout/hProcess6"/>
    <dgm:cxn modelId="{DE6238F0-A6E8-4BCF-87CC-C9373282655B}" type="presOf" srcId="{BEDCBEA5-7DD5-4AD0-89F5-A7306CF32A2C}" destId="{69DDCF3E-5BF0-4FD4-A1AF-5B48B204CB70}" srcOrd="1" destOrd="0" presId="urn:microsoft.com/office/officeart/2005/8/layout/hProcess6"/>
    <dgm:cxn modelId="{F3BE23C7-D6B5-4EF3-B0F4-097857DE72D9}" type="presParOf" srcId="{635515A1-C376-4C6D-9FEB-63FFE1AD8B3E}" destId="{715DE4B3-F87C-4EAA-86D4-0F635703CD70}" srcOrd="0" destOrd="0" presId="urn:microsoft.com/office/officeart/2005/8/layout/hProcess6"/>
    <dgm:cxn modelId="{9EC6E8F9-A333-4F2D-AEEE-DB37A566E483}" type="presParOf" srcId="{715DE4B3-F87C-4EAA-86D4-0F635703CD70}" destId="{9C865605-34A8-4A14-BDB1-0268D721020A}" srcOrd="0" destOrd="0" presId="urn:microsoft.com/office/officeart/2005/8/layout/hProcess6"/>
    <dgm:cxn modelId="{C6AAD933-5819-4FDA-8FC9-2CF1AB6F1DB2}" type="presParOf" srcId="{715DE4B3-F87C-4EAA-86D4-0F635703CD70}" destId="{7D8B3726-8396-4512-A9C4-075C3D585105}" srcOrd="1" destOrd="0" presId="urn:microsoft.com/office/officeart/2005/8/layout/hProcess6"/>
    <dgm:cxn modelId="{2C8B3ABF-7404-49C3-B322-FFC7FEC49D00}" type="presParOf" srcId="{715DE4B3-F87C-4EAA-86D4-0F635703CD70}" destId="{5FAD28DE-97E7-494D-ACBE-4B22B9A32ED0}" srcOrd="2" destOrd="0" presId="urn:microsoft.com/office/officeart/2005/8/layout/hProcess6"/>
    <dgm:cxn modelId="{79CE873F-4FA7-4760-AD94-D3DEDE125A95}" type="presParOf" srcId="{715DE4B3-F87C-4EAA-86D4-0F635703CD70}" destId="{27D9A88B-3ED1-460D-8EEF-FC22CA848AA1}" srcOrd="3" destOrd="0" presId="urn:microsoft.com/office/officeart/2005/8/layout/hProcess6"/>
    <dgm:cxn modelId="{EA6EE1CE-4F8F-4C65-8F92-56BADF466249}" type="presParOf" srcId="{635515A1-C376-4C6D-9FEB-63FFE1AD8B3E}" destId="{0090498D-DC3F-43E3-914D-12535C31F5D1}" srcOrd="1" destOrd="0" presId="urn:microsoft.com/office/officeart/2005/8/layout/hProcess6"/>
    <dgm:cxn modelId="{1F2A761B-C749-48F4-976C-644D0B5F2408}" type="presParOf" srcId="{635515A1-C376-4C6D-9FEB-63FFE1AD8B3E}" destId="{DDEFF399-E14C-4CA7-B9ED-0C53249582F7}" srcOrd="2" destOrd="0" presId="urn:microsoft.com/office/officeart/2005/8/layout/hProcess6"/>
    <dgm:cxn modelId="{98DD6A72-B82D-442A-8A95-397B11156200}" type="presParOf" srcId="{DDEFF399-E14C-4CA7-B9ED-0C53249582F7}" destId="{BFFCEA33-461D-4CE8-9539-AA58693CBA80}" srcOrd="0" destOrd="0" presId="urn:microsoft.com/office/officeart/2005/8/layout/hProcess6"/>
    <dgm:cxn modelId="{FC59AA0C-8B1F-4277-8E90-4FFDA0DBAE8C}" type="presParOf" srcId="{DDEFF399-E14C-4CA7-B9ED-0C53249582F7}" destId="{B8E15EDC-5CC7-4BBF-8423-4FC729F439A7}" srcOrd="1" destOrd="0" presId="urn:microsoft.com/office/officeart/2005/8/layout/hProcess6"/>
    <dgm:cxn modelId="{969510AE-F83B-4892-8D61-C27F043E7188}" type="presParOf" srcId="{DDEFF399-E14C-4CA7-B9ED-0C53249582F7}" destId="{674006BC-73DA-4E07-9881-E9D0333B16A2}" srcOrd="2" destOrd="0" presId="urn:microsoft.com/office/officeart/2005/8/layout/hProcess6"/>
    <dgm:cxn modelId="{98C32454-3EB2-4E6D-B9E1-C04B48DAF924}" type="presParOf" srcId="{DDEFF399-E14C-4CA7-B9ED-0C53249582F7}" destId="{DB80016C-5E03-49AF-B322-20CFEE0B6A6D}" srcOrd="3" destOrd="0" presId="urn:microsoft.com/office/officeart/2005/8/layout/hProcess6"/>
    <dgm:cxn modelId="{8595503E-8C3F-4D3A-B51D-19C07D68D470}" type="presParOf" srcId="{635515A1-C376-4C6D-9FEB-63FFE1AD8B3E}" destId="{F75A5B9B-F4BF-460B-9BD7-F3491B9096F7}" srcOrd="3" destOrd="0" presId="urn:microsoft.com/office/officeart/2005/8/layout/hProcess6"/>
    <dgm:cxn modelId="{BE13B146-E409-4A15-B1EC-6DA1187CDA7A}" type="presParOf" srcId="{635515A1-C376-4C6D-9FEB-63FFE1AD8B3E}" destId="{0E762C98-FAE5-49AC-B834-F775D70FCEB1}" srcOrd="4" destOrd="0" presId="urn:microsoft.com/office/officeart/2005/8/layout/hProcess6"/>
    <dgm:cxn modelId="{49FDA5D3-9207-4AA5-858E-EAAF831565EE}" type="presParOf" srcId="{0E762C98-FAE5-49AC-B834-F775D70FCEB1}" destId="{D4FC5069-FBF4-4D35-8C92-232689F315FA}" srcOrd="0" destOrd="0" presId="urn:microsoft.com/office/officeart/2005/8/layout/hProcess6"/>
    <dgm:cxn modelId="{B765599C-0285-45C4-A18C-CA17EF19AF4F}" type="presParOf" srcId="{0E762C98-FAE5-49AC-B834-F775D70FCEB1}" destId="{ACCE1AED-AE84-429E-AD39-6E4E8C00E623}" srcOrd="1" destOrd="0" presId="urn:microsoft.com/office/officeart/2005/8/layout/hProcess6"/>
    <dgm:cxn modelId="{54984A40-EFD5-4DA0-BE68-0EF20767FC85}" type="presParOf" srcId="{0E762C98-FAE5-49AC-B834-F775D70FCEB1}" destId="{69DDCF3E-5BF0-4FD4-A1AF-5B48B204CB70}" srcOrd="2" destOrd="0" presId="urn:microsoft.com/office/officeart/2005/8/layout/hProcess6"/>
    <dgm:cxn modelId="{B3A53331-21B5-4633-B437-CAC6E8090590}" type="presParOf" srcId="{0E762C98-FAE5-49AC-B834-F775D70FCEB1}" destId="{EB2D3F50-758C-432A-83CC-526AE30CDF32}" srcOrd="3" destOrd="0" presId="urn:microsoft.com/office/officeart/2005/8/layout/hProcess6"/>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9547976-907D-479F-879A-D051E9B7EDCF}" type="doc">
      <dgm:prSet loTypeId="urn:microsoft.com/office/officeart/2009/3/layout/CircleRelationship" loCatId="relationship" qsTypeId="urn:microsoft.com/office/officeart/2005/8/quickstyle/simple1" qsCatId="simple" csTypeId="urn:microsoft.com/office/officeart/2005/8/colors/accent1_2" csCatId="accent1" phldr="1"/>
      <dgm:spPr/>
      <dgm:t>
        <a:bodyPr/>
        <a:lstStyle/>
        <a:p>
          <a:endParaRPr lang="fr-FR"/>
        </a:p>
      </dgm:t>
    </dgm:pt>
    <dgm:pt modelId="{061B57EC-F1F0-4538-9625-D52095CDCBBA}">
      <dgm:prSet phldrT="[Texte]"/>
      <dgm:spPr/>
      <dgm:t>
        <a:bodyPr/>
        <a:lstStyle/>
        <a:p>
          <a:r>
            <a:rPr lang="fr-FR" dirty="0"/>
            <a:t>GESMIL 2.0</a:t>
          </a:r>
        </a:p>
        <a:p>
          <a:r>
            <a:rPr lang="fr-FR" dirty="0"/>
            <a:t>NOYAU CENTRAL RH</a:t>
          </a:r>
        </a:p>
      </dgm:t>
    </dgm:pt>
    <dgm:pt modelId="{9D5E31B0-D16D-4568-9574-868EFFC2D1A9}" type="parTrans" cxnId="{1BE4DC10-622F-4F62-A3B0-7732CC99CA6C}">
      <dgm:prSet/>
      <dgm:spPr/>
      <dgm:t>
        <a:bodyPr/>
        <a:lstStyle/>
        <a:p>
          <a:endParaRPr lang="fr-FR"/>
        </a:p>
      </dgm:t>
    </dgm:pt>
    <dgm:pt modelId="{DE47438B-2DCA-46D9-B728-05C17278DD39}" type="sibTrans" cxnId="{1BE4DC10-622F-4F62-A3B0-7732CC99CA6C}">
      <dgm:prSet/>
      <dgm:spPr/>
      <dgm:t>
        <a:bodyPr/>
        <a:lstStyle/>
        <a:p>
          <a:endParaRPr lang="fr-FR"/>
        </a:p>
      </dgm:t>
    </dgm:pt>
    <dgm:pt modelId="{EF5767B2-A6CD-4C6E-9920-609BC04CA282}">
      <dgm:prSet phldrT="[Texte]">
        <dgm:style>
          <a:lnRef idx="1">
            <a:schemeClr val="accent6"/>
          </a:lnRef>
          <a:fillRef idx="3">
            <a:schemeClr val="accent6"/>
          </a:fillRef>
          <a:effectRef idx="2">
            <a:schemeClr val="accent6"/>
          </a:effectRef>
          <a:fontRef idx="minor">
            <a:schemeClr val="lt1"/>
          </a:fontRef>
        </dgm:style>
      </dgm:prSet>
      <dgm:spPr>
        <a:ln w="28575">
          <a:solidFill>
            <a:schemeClr val="bg1"/>
          </a:solidFill>
        </a:ln>
      </dgm:spPr>
      <dgm:t>
        <a:bodyPr/>
        <a:lstStyle/>
        <a:p>
          <a:r>
            <a:rPr lang="fr-FR" dirty="0"/>
            <a:t>SIADOC</a:t>
          </a:r>
        </a:p>
      </dgm:t>
    </dgm:pt>
    <dgm:pt modelId="{950734B9-7D68-4C04-9ED0-46FB6DCA3229}" type="parTrans" cxnId="{EEBBC316-63BA-4CF0-ADCE-AA614AAFFF16}">
      <dgm:prSet/>
      <dgm:spPr/>
      <dgm:t>
        <a:bodyPr/>
        <a:lstStyle/>
        <a:p>
          <a:endParaRPr lang="fr-FR"/>
        </a:p>
      </dgm:t>
    </dgm:pt>
    <dgm:pt modelId="{527AEFE6-D2F8-4F91-B395-6A39E292F45E}" type="sibTrans" cxnId="{EEBBC316-63BA-4CF0-ADCE-AA614AAFFF16}">
      <dgm:prSet/>
      <dgm:spPr/>
      <dgm:t>
        <a:bodyPr/>
        <a:lstStyle/>
        <a:p>
          <a:endParaRPr lang="fr-FR"/>
        </a:p>
      </dgm:t>
    </dgm:pt>
    <dgm:pt modelId="{A8ED79D8-5E6C-4980-9D6B-4A20AF2B1A1C}">
      <dgm:prSet phldrT="[Texte]">
        <dgm:style>
          <a:lnRef idx="1">
            <a:schemeClr val="accent2"/>
          </a:lnRef>
          <a:fillRef idx="3">
            <a:schemeClr val="accent2"/>
          </a:fillRef>
          <a:effectRef idx="2">
            <a:schemeClr val="accent2"/>
          </a:effectRef>
          <a:fontRef idx="minor">
            <a:schemeClr val="lt1"/>
          </a:fontRef>
        </dgm:style>
      </dgm:prSet>
      <dgm:spPr>
        <a:ln w="28575">
          <a:solidFill>
            <a:schemeClr val="bg1"/>
          </a:solidFill>
        </a:ln>
      </dgm:spPr>
      <dgm:t>
        <a:bodyPr/>
        <a:lstStyle/>
        <a:p>
          <a:r>
            <a:rPr lang="fr-FR" dirty="0"/>
            <a:t>CIMIS</a:t>
          </a:r>
        </a:p>
      </dgm:t>
    </dgm:pt>
    <dgm:pt modelId="{B0498925-3D92-4BB4-969C-E197E9F5EDD5}" type="parTrans" cxnId="{198873AD-7157-4F34-99F7-A742AFFFDEAF}">
      <dgm:prSet/>
      <dgm:spPr/>
      <dgm:t>
        <a:bodyPr/>
        <a:lstStyle/>
        <a:p>
          <a:endParaRPr lang="fr-FR"/>
        </a:p>
      </dgm:t>
    </dgm:pt>
    <dgm:pt modelId="{6694201F-0BE1-4461-8FA9-9ABFC741715C}" type="sibTrans" cxnId="{198873AD-7157-4F34-99F7-A742AFFFDEAF}">
      <dgm:prSet/>
      <dgm:spPr/>
      <dgm:t>
        <a:bodyPr/>
        <a:lstStyle/>
        <a:p>
          <a:endParaRPr lang="fr-FR"/>
        </a:p>
      </dgm:t>
    </dgm:pt>
    <dgm:pt modelId="{10C1C438-9B92-4FEE-9D01-659FFC95884F}" type="pres">
      <dgm:prSet presAssocID="{59547976-907D-479F-879A-D051E9B7EDCF}" presName="Name0" presStyleCnt="0">
        <dgm:presLayoutVars>
          <dgm:chMax val="1"/>
          <dgm:chPref val="1"/>
        </dgm:presLayoutVars>
      </dgm:prSet>
      <dgm:spPr/>
    </dgm:pt>
    <dgm:pt modelId="{0508D845-C202-4377-ACDB-ADE35F271483}" type="pres">
      <dgm:prSet presAssocID="{061B57EC-F1F0-4538-9625-D52095CDCBBA}" presName="Parent" presStyleLbl="node0" presStyleIdx="0" presStyleCnt="1">
        <dgm:presLayoutVars>
          <dgm:chMax val="5"/>
          <dgm:chPref val="5"/>
        </dgm:presLayoutVars>
      </dgm:prSet>
      <dgm:spPr/>
    </dgm:pt>
    <dgm:pt modelId="{738175DD-9C67-4FEB-913A-CAD46A23028F}" type="pres">
      <dgm:prSet presAssocID="{061B57EC-F1F0-4538-9625-D52095CDCBBA}" presName="Accent1" presStyleLbl="node1" presStyleIdx="0" presStyleCnt="13"/>
      <dgm:spPr/>
    </dgm:pt>
    <dgm:pt modelId="{6A630F31-FCF4-43C8-B007-E00A44F838D4}" type="pres">
      <dgm:prSet presAssocID="{061B57EC-F1F0-4538-9625-D52095CDCBBA}" presName="Accent2" presStyleLbl="node1" presStyleIdx="1" presStyleCnt="13"/>
      <dgm:spPr/>
    </dgm:pt>
    <dgm:pt modelId="{83394E4C-D982-4120-9CBA-048D1A7C1AA1}" type="pres">
      <dgm:prSet presAssocID="{061B57EC-F1F0-4538-9625-D52095CDCBBA}" presName="Accent3" presStyleLbl="node1" presStyleIdx="2" presStyleCnt="13"/>
      <dgm:spPr/>
    </dgm:pt>
    <dgm:pt modelId="{5C0BF118-5CEB-4C39-9D0D-BF9AE68E39C9}" type="pres">
      <dgm:prSet presAssocID="{061B57EC-F1F0-4538-9625-D52095CDCBBA}" presName="Accent4" presStyleLbl="node1" presStyleIdx="3" presStyleCnt="13"/>
      <dgm:spPr/>
    </dgm:pt>
    <dgm:pt modelId="{6C090DE5-E75D-428B-81EA-CBF477142075}" type="pres">
      <dgm:prSet presAssocID="{061B57EC-F1F0-4538-9625-D52095CDCBBA}" presName="Accent5" presStyleLbl="node1" presStyleIdx="4" presStyleCnt="13"/>
      <dgm:spPr/>
    </dgm:pt>
    <dgm:pt modelId="{52014EB3-2345-439A-856F-C2DDD65D8BC1}" type="pres">
      <dgm:prSet presAssocID="{061B57EC-F1F0-4538-9625-D52095CDCBBA}" presName="Accent6" presStyleLbl="node1" presStyleIdx="5" presStyleCnt="13"/>
      <dgm:spPr/>
    </dgm:pt>
    <dgm:pt modelId="{3D53C566-0ED8-40E2-A45A-27E15058DD99}" type="pres">
      <dgm:prSet presAssocID="{EF5767B2-A6CD-4C6E-9920-609BC04CA282}" presName="Child1" presStyleLbl="node1" presStyleIdx="6" presStyleCnt="13">
        <dgm:presLayoutVars>
          <dgm:chMax val="0"/>
          <dgm:chPref val="0"/>
        </dgm:presLayoutVars>
      </dgm:prSet>
      <dgm:spPr/>
    </dgm:pt>
    <dgm:pt modelId="{ACE57EE6-0FE2-467D-8498-292CCE8EB9E3}" type="pres">
      <dgm:prSet presAssocID="{EF5767B2-A6CD-4C6E-9920-609BC04CA282}" presName="Accent7" presStyleCnt="0"/>
      <dgm:spPr/>
    </dgm:pt>
    <dgm:pt modelId="{214B1BA7-7F00-4034-962A-A8C68556EF33}" type="pres">
      <dgm:prSet presAssocID="{EF5767B2-A6CD-4C6E-9920-609BC04CA282}" presName="AccentHold1" presStyleLbl="node1" presStyleIdx="7" presStyleCnt="13"/>
      <dgm:spPr/>
    </dgm:pt>
    <dgm:pt modelId="{67BACFFA-C4AD-43B7-B181-A732E6AADE3F}" type="pres">
      <dgm:prSet presAssocID="{EF5767B2-A6CD-4C6E-9920-609BC04CA282}" presName="Accent8" presStyleCnt="0"/>
      <dgm:spPr/>
    </dgm:pt>
    <dgm:pt modelId="{4F1007EF-95A6-4A51-A5BF-73F15E77064B}" type="pres">
      <dgm:prSet presAssocID="{EF5767B2-A6CD-4C6E-9920-609BC04CA282}" presName="AccentHold2" presStyleLbl="node1" presStyleIdx="8" presStyleCnt="13"/>
      <dgm:spPr/>
    </dgm:pt>
    <dgm:pt modelId="{BA8189A0-DD28-4529-B0B8-479585BDD8C9}" type="pres">
      <dgm:prSet presAssocID="{A8ED79D8-5E6C-4980-9D6B-4A20AF2B1A1C}" presName="Child2" presStyleLbl="node1" presStyleIdx="9" presStyleCnt="13" custLinFactY="55056" custLinFactNeighborX="-75636" custLinFactNeighborY="100000">
        <dgm:presLayoutVars>
          <dgm:chMax val="0"/>
          <dgm:chPref val="0"/>
        </dgm:presLayoutVars>
      </dgm:prSet>
      <dgm:spPr/>
    </dgm:pt>
    <dgm:pt modelId="{16D8C742-4097-4087-BD63-971340D8EEB9}" type="pres">
      <dgm:prSet presAssocID="{A8ED79D8-5E6C-4980-9D6B-4A20AF2B1A1C}" presName="Accent9" presStyleCnt="0"/>
      <dgm:spPr/>
    </dgm:pt>
    <dgm:pt modelId="{11FE5A4F-AF04-4B46-B125-A24941C030EB}" type="pres">
      <dgm:prSet presAssocID="{A8ED79D8-5E6C-4980-9D6B-4A20AF2B1A1C}" presName="AccentHold1" presStyleLbl="node1" presStyleIdx="10" presStyleCnt="13"/>
      <dgm:spPr/>
    </dgm:pt>
    <dgm:pt modelId="{0819B983-FCFB-4F6F-94C4-DF7F66979089}" type="pres">
      <dgm:prSet presAssocID="{A8ED79D8-5E6C-4980-9D6B-4A20AF2B1A1C}" presName="Accent10" presStyleCnt="0"/>
      <dgm:spPr/>
    </dgm:pt>
    <dgm:pt modelId="{FFFC773E-ECD9-4D27-8307-169726BD7CCF}" type="pres">
      <dgm:prSet presAssocID="{A8ED79D8-5E6C-4980-9D6B-4A20AF2B1A1C}" presName="AccentHold2" presStyleLbl="node1" presStyleIdx="11" presStyleCnt="13"/>
      <dgm:spPr/>
    </dgm:pt>
    <dgm:pt modelId="{A358B42A-F1B2-4C65-8E0C-8146D5EE0E3A}" type="pres">
      <dgm:prSet presAssocID="{A8ED79D8-5E6C-4980-9D6B-4A20AF2B1A1C}" presName="Accent11" presStyleCnt="0"/>
      <dgm:spPr/>
    </dgm:pt>
    <dgm:pt modelId="{B837F7C1-5ADC-457D-9843-521D90CD260D}" type="pres">
      <dgm:prSet presAssocID="{A8ED79D8-5E6C-4980-9D6B-4A20AF2B1A1C}" presName="AccentHold3" presStyleLbl="node1" presStyleIdx="12" presStyleCnt="13" custLinFactNeighborX="4054" custLinFactNeighborY="52692"/>
      <dgm:spPr/>
    </dgm:pt>
  </dgm:ptLst>
  <dgm:cxnLst>
    <dgm:cxn modelId="{1BE4DC10-622F-4F62-A3B0-7732CC99CA6C}" srcId="{59547976-907D-479F-879A-D051E9B7EDCF}" destId="{061B57EC-F1F0-4538-9625-D52095CDCBBA}" srcOrd="0" destOrd="0" parTransId="{9D5E31B0-D16D-4568-9574-868EFFC2D1A9}" sibTransId="{DE47438B-2DCA-46D9-B728-05C17278DD39}"/>
    <dgm:cxn modelId="{EEBBC316-63BA-4CF0-ADCE-AA614AAFFF16}" srcId="{061B57EC-F1F0-4538-9625-D52095CDCBBA}" destId="{EF5767B2-A6CD-4C6E-9920-609BC04CA282}" srcOrd="0" destOrd="0" parTransId="{950734B9-7D68-4C04-9ED0-46FB6DCA3229}" sibTransId="{527AEFE6-D2F8-4F91-B395-6A39E292F45E}"/>
    <dgm:cxn modelId="{75EBDE2B-38F8-46D3-A725-05586F060E04}" type="presOf" srcId="{061B57EC-F1F0-4538-9625-D52095CDCBBA}" destId="{0508D845-C202-4377-ACDB-ADE35F271483}" srcOrd="0" destOrd="0" presId="urn:microsoft.com/office/officeart/2009/3/layout/CircleRelationship"/>
    <dgm:cxn modelId="{D8F96F4A-85C7-41D8-9612-AF394683EC4B}" type="presOf" srcId="{A8ED79D8-5E6C-4980-9D6B-4A20AF2B1A1C}" destId="{BA8189A0-DD28-4529-B0B8-479585BDD8C9}" srcOrd="0" destOrd="0" presId="urn:microsoft.com/office/officeart/2009/3/layout/CircleRelationship"/>
    <dgm:cxn modelId="{198873AD-7157-4F34-99F7-A742AFFFDEAF}" srcId="{061B57EC-F1F0-4538-9625-D52095CDCBBA}" destId="{A8ED79D8-5E6C-4980-9D6B-4A20AF2B1A1C}" srcOrd="1" destOrd="0" parTransId="{B0498925-3D92-4BB4-969C-E197E9F5EDD5}" sibTransId="{6694201F-0BE1-4461-8FA9-9ABFC741715C}"/>
    <dgm:cxn modelId="{54B130D9-9009-469E-AEEC-6EC6A397D43F}" type="presOf" srcId="{EF5767B2-A6CD-4C6E-9920-609BC04CA282}" destId="{3D53C566-0ED8-40E2-A45A-27E15058DD99}" srcOrd="0" destOrd="0" presId="urn:microsoft.com/office/officeart/2009/3/layout/CircleRelationship"/>
    <dgm:cxn modelId="{574EDDE1-4014-4E1A-89E8-F6EEA04DB21F}" type="presOf" srcId="{59547976-907D-479F-879A-D051E9B7EDCF}" destId="{10C1C438-9B92-4FEE-9D01-659FFC95884F}" srcOrd="0" destOrd="0" presId="urn:microsoft.com/office/officeart/2009/3/layout/CircleRelationship"/>
    <dgm:cxn modelId="{E06CF163-6EC8-4F0E-B07D-E86FCCB41536}" type="presParOf" srcId="{10C1C438-9B92-4FEE-9D01-659FFC95884F}" destId="{0508D845-C202-4377-ACDB-ADE35F271483}" srcOrd="0" destOrd="0" presId="urn:microsoft.com/office/officeart/2009/3/layout/CircleRelationship"/>
    <dgm:cxn modelId="{891ADEA0-49D7-4E51-98B4-B5C4168161B3}" type="presParOf" srcId="{10C1C438-9B92-4FEE-9D01-659FFC95884F}" destId="{738175DD-9C67-4FEB-913A-CAD46A23028F}" srcOrd="1" destOrd="0" presId="urn:microsoft.com/office/officeart/2009/3/layout/CircleRelationship"/>
    <dgm:cxn modelId="{2495DBB5-0FA7-460D-A384-BCF9134EF761}" type="presParOf" srcId="{10C1C438-9B92-4FEE-9D01-659FFC95884F}" destId="{6A630F31-FCF4-43C8-B007-E00A44F838D4}" srcOrd="2" destOrd="0" presId="urn:microsoft.com/office/officeart/2009/3/layout/CircleRelationship"/>
    <dgm:cxn modelId="{B530626A-8169-4CFB-BC07-E30E708A7B2B}" type="presParOf" srcId="{10C1C438-9B92-4FEE-9D01-659FFC95884F}" destId="{83394E4C-D982-4120-9CBA-048D1A7C1AA1}" srcOrd="3" destOrd="0" presId="urn:microsoft.com/office/officeart/2009/3/layout/CircleRelationship"/>
    <dgm:cxn modelId="{10A2C6A1-957A-46F4-A936-016F90D1CC94}" type="presParOf" srcId="{10C1C438-9B92-4FEE-9D01-659FFC95884F}" destId="{5C0BF118-5CEB-4C39-9D0D-BF9AE68E39C9}" srcOrd="4" destOrd="0" presId="urn:microsoft.com/office/officeart/2009/3/layout/CircleRelationship"/>
    <dgm:cxn modelId="{2A788CA8-9C75-4AA2-A023-28B8B1F002F0}" type="presParOf" srcId="{10C1C438-9B92-4FEE-9D01-659FFC95884F}" destId="{6C090DE5-E75D-428B-81EA-CBF477142075}" srcOrd="5" destOrd="0" presId="urn:microsoft.com/office/officeart/2009/3/layout/CircleRelationship"/>
    <dgm:cxn modelId="{73FF89AA-33A1-4D35-9560-6C7636434F36}" type="presParOf" srcId="{10C1C438-9B92-4FEE-9D01-659FFC95884F}" destId="{52014EB3-2345-439A-856F-C2DDD65D8BC1}" srcOrd="6" destOrd="0" presId="urn:microsoft.com/office/officeart/2009/3/layout/CircleRelationship"/>
    <dgm:cxn modelId="{ACA49FF7-81AE-49C1-9747-1243F451A9FC}" type="presParOf" srcId="{10C1C438-9B92-4FEE-9D01-659FFC95884F}" destId="{3D53C566-0ED8-40E2-A45A-27E15058DD99}" srcOrd="7" destOrd="0" presId="urn:microsoft.com/office/officeart/2009/3/layout/CircleRelationship"/>
    <dgm:cxn modelId="{1BE01E66-1107-465D-A62B-2E697812252E}" type="presParOf" srcId="{10C1C438-9B92-4FEE-9D01-659FFC95884F}" destId="{ACE57EE6-0FE2-467D-8498-292CCE8EB9E3}" srcOrd="8" destOrd="0" presId="urn:microsoft.com/office/officeart/2009/3/layout/CircleRelationship"/>
    <dgm:cxn modelId="{95EE53CF-6617-4A36-9751-4A515F1F5F6F}" type="presParOf" srcId="{ACE57EE6-0FE2-467D-8498-292CCE8EB9E3}" destId="{214B1BA7-7F00-4034-962A-A8C68556EF33}" srcOrd="0" destOrd="0" presId="urn:microsoft.com/office/officeart/2009/3/layout/CircleRelationship"/>
    <dgm:cxn modelId="{AA949378-553D-42C7-A494-22063DB45578}" type="presParOf" srcId="{10C1C438-9B92-4FEE-9D01-659FFC95884F}" destId="{67BACFFA-C4AD-43B7-B181-A732E6AADE3F}" srcOrd="9" destOrd="0" presId="urn:microsoft.com/office/officeart/2009/3/layout/CircleRelationship"/>
    <dgm:cxn modelId="{5BCC7FB3-E6BA-42D3-9C20-3FF26ECBEE2A}" type="presParOf" srcId="{67BACFFA-C4AD-43B7-B181-A732E6AADE3F}" destId="{4F1007EF-95A6-4A51-A5BF-73F15E77064B}" srcOrd="0" destOrd="0" presId="urn:microsoft.com/office/officeart/2009/3/layout/CircleRelationship"/>
    <dgm:cxn modelId="{BE3C23B6-4DEA-4299-9E4D-241328083E64}" type="presParOf" srcId="{10C1C438-9B92-4FEE-9D01-659FFC95884F}" destId="{BA8189A0-DD28-4529-B0B8-479585BDD8C9}" srcOrd="10" destOrd="0" presId="urn:microsoft.com/office/officeart/2009/3/layout/CircleRelationship"/>
    <dgm:cxn modelId="{A8166E9A-5191-4923-97C8-78A7DF7FA2E4}" type="presParOf" srcId="{10C1C438-9B92-4FEE-9D01-659FFC95884F}" destId="{16D8C742-4097-4087-BD63-971340D8EEB9}" srcOrd="11" destOrd="0" presId="urn:microsoft.com/office/officeart/2009/3/layout/CircleRelationship"/>
    <dgm:cxn modelId="{7BA78C26-D713-4915-B328-6DC55C3466EC}" type="presParOf" srcId="{16D8C742-4097-4087-BD63-971340D8EEB9}" destId="{11FE5A4F-AF04-4B46-B125-A24941C030EB}" srcOrd="0" destOrd="0" presId="urn:microsoft.com/office/officeart/2009/3/layout/CircleRelationship"/>
    <dgm:cxn modelId="{BEBD3461-AE83-40D8-AE6B-0E0102637D09}" type="presParOf" srcId="{10C1C438-9B92-4FEE-9D01-659FFC95884F}" destId="{0819B983-FCFB-4F6F-94C4-DF7F66979089}" srcOrd="12" destOrd="0" presId="urn:microsoft.com/office/officeart/2009/3/layout/CircleRelationship"/>
    <dgm:cxn modelId="{78F48D7D-88F5-4F41-BE6F-E9F2AD2C62BA}" type="presParOf" srcId="{0819B983-FCFB-4F6F-94C4-DF7F66979089}" destId="{FFFC773E-ECD9-4D27-8307-169726BD7CCF}" srcOrd="0" destOrd="0" presId="urn:microsoft.com/office/officeart/2009/3/layout/CircleRelationship"/>
    <dgm:cxn modelId="{ABCE1AE8-4523-417F-8F4E-FF87ACBADEC6}" type="presParOf" srcId="{10C1C438-9B92-4FEE-9D01-659FFC95884F}" destId="{A358B42A-F1B2-4C65-8E0C-8146D5EE0E3A}" srcOrd="13" destOrd="0" presId="urn:microsoft.com/office/officeart/2009/3/layout/CircleRelationship"/>
    <dgm:cxn modelId="{FE1FDCD1-0736-4B09-9583-A62667CD6502}" type="presParOf" srcId="{A358B42A-F1B2-4C65-8E0C-8146D5EE0E3A}" destId="{B837F7C1-5ADC-457D-9843-521D90CD260D}" srcOrd="0" destOrd="0" presId="urn:microsoft.com/office/officeart/2009/3/layout/CircleRelationship"/>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A3D1BCD-84F1-4959-B336-88830DB0C4A7}" type="doc">
      <dgm:prSet loTypeId="urn:microsoft.com/office/officeart/2005/8/layout/arrow2" loCatId="process" qsTypeId="urn:microsoft.com/office/officeart/2005/8/quickstyle/simple1" qsCatId="simple" csTypeId="urn:microsoft.com/office/officeart/2005/8/colors/accent1_2" csCatId="accent1" phldr="1"/>
      <dgm:spPr/>
    </dgm:pt>
    <dgm:pt modelId="{7A56C141-AA4A-410F-B85B-660B025A2D69}">
      <dgm:prSet phldrT="[Texte]"/>
      <dgm:spPr/>
      <dgm:t>
        <a:bodyPr/>
        <a:lstStyle/>
        <a:p>
          <a:endParaRPr lang="fr-FR" dirty="0"/>
        </a:p>
      </dgm:t>
    </dgm:pt>
    <dgm:pt modelId="{8D8448F8-FD38-4248-9FBF-97D98FE14B05}" type="parTrans" cxnId="{A97EE342-0C98-412C-A3C9-0A4E7390871D}">
      <dgm:prSet/>
      <dgm:spPr/>
      <dgm:t>
        <a:bodyPr/>
        <a:lstStyle/>
        <a:p>
          <a:endParaRPr lang="fr-FR"/>
        </a:p>
      </dgm:t>
    </dgm:pt>
    <dgm:pt modelId="{C2E2D9B3-77BA-4733-BB70-D31A62DEB524}" type="sibTrans" cxnId="{A97EE342-0C98-412C-A3C9-0A4E7390871D}">
      <dgm:prSet/>
      <dgm:spPr/>
      <dgm:t>
        <a:bodyPr/>
        <a:lstStyle/>
        <a:p>
          <a:endParaRPr lang="fr-FR"/>
        </a:p>
      </dgm:t>
    </dgm:pt>
    <dgm:pt modelId="{9F8304DC-EEE5-4918-87AE-C1735658D136}" type="pres">
      <dgm:prSet presAssocID="{9A3D1BCD-84F1-4959-B336-88830DB0C4A7}" presName="arrowDiagram" presStyleCnt="0">
        <dgm:presLayoutVars>
          <dgm:chMax val="5"/>
          <dgm:dir/>
          <dgm:resizeHandles val="exact"/>
        </dgm:presLayoutVars>
      </dgm:prSet>
      <dgm:spPr/>
    </dgm:pt>
    <dgm:pt modelId="{8A7D040A-548A-4003-A9B7-4B9D8F020496}" type="pres">
      <dgm:prSet presAssocID="{9A3D1BCD-84F1-4959-B336-88830DB0C4A7}" presName="arrow" presStyleLbl="bgShp" presStyleIdx="0" presStyleCnt="1"/>
      <dgm:spPr/>
    </dgm:pt>
    <dgm:pt modelId="{5D48885A-D643-4DFA-A29C-514F8E01F46E}" type="pres">
      <dgm:prSet presAssocID="{9A3D1BCD-84F1-4959-B336-88830DB0C4A7}" presName="arrowDiagram1" presStyleCnt="0">
        <dgm:presLayoutVars>
          <dgm:bulletEnabled val="1"/>
        </dgm:presLayoutVars>
      </dgm:prSet>
      <dgm:spPr/>
    </dgm:pt>
    <dgm:pt modelId="{5242845C-D995-44A9-878E-76ED29E282FD}" type="pres">
      <dgm:prSet presAssocID="{7A56C141-AA4A-410F-B85B-660B025A2D69}" presName="bullet1" presStyleLbl="node1" presStyleIdx="0" presStyleCnt="1"/>
      <dgm:spPr/>
    </dgm:pt>
    <dgm:pt modelId="{EE05ABEE-58C1-4694-B056-387CCB83D2EE}" type="pres">
      <dgm:prSet presAssocID="{7A56C141-AA4A-410F-B85B-660B025A2D69}" presName="textBox1" presStyleLbl="revTx" presStyleIdx="0" presStyleCnt="1">
        <dgm:presLayoutVars>
          <dgm:bulletEnabled val="1"/>
        </dgm:presLayoutVars>
      </dgm:prSet>
      <dgm:spPr/>
    </dgm:pt>
  </dgm:ptLst>
  <dgm:cxnLst>
    <dgm:cxn modelId="{A97EE342-0C98-412C-A3C9-0A4E7390871D}" srcId="{9A3D1BCD-84F1-4959-B336-88830DB0C4A7}" destId="{7A56C141-AA4A-410F-B85B-660B025A2D69}" srcOrd="0" destOrd="0" parTransId="{8D8448F8-FD38-4248-9FBF-97D98FE14B05}" sibTransId="{C2E2D9B3-77BA-4733-BB70-D31A62DEB524}"/>
    <dgm:cxn modelId="{5A2AE388-C00D-4A85-B8F7-406B11C4EA9E}" type="presOf" srcId="{9A3D1BCD-84F1-4959-B336-88830DB0C4A7}" destId="{9F8304DC-EEE5-4918-87AE-C1735658D136}" srcOrd="0" destOrd="0" presId="urn:microsoft.com/office/officeart/2005/8/layout/arrow2"/>
    <dgm:cxn modelId="{7FCCF0B2-2D95-4E60-A5E8-94A09838773E}" type="presOf" srcId="{7A56C141-AA4A-410F-B85B-660B025A2D69}" destId="{EE05ABEE-58C1-4694-B056-387CCB83D2EE}" srcOrd="0" destOrd="0" presId="urn:microsoft.com/office/officeart/2005/8/layout/arrow2"/>
    <dgm:cxn modelId="{17FEC12A-2908-4AE5-99E4-38844D20C486}" type="presParOf" srcId="{9F8304DC-EEE5-4918-87AE-C1735658D136}" destId="{8A7D040A-548A-4003-A9B7-4B9D8F020496}" srcOrd="0" destOrd="0" presId="urn:microsoft.com/office/officeart/2005/8/layout/arrow2"/>
    <dgm:cxn modelId="{959BCC8D-A004-4A47-9AAE-A410F9551454}" type="presParOf" srcId="{9F8304DC-EEE5-4918-87AE-C1735658D136}" destId="{5D48885A-D643-4DFA-A29C-514F8E01F46E}" srcOrd="1" destOrd="0" presId="urn:microsoft.com/office/officeart/2005/8/layout/arrow2"/>
    <dgm:cxn modelId="{BA4F531B-FBB6-4508-B894-F38505A37367}" type="presParOf" srcId="{5D48885A-D643-4DFA-A29C-514F8E01F46E}" destId="{5242845C-D995-44A9-878E-76ED29E282FD}" srcOrd="0" destOrd="0" presId="urn:microsoft.com/office/officeart/2005/8/layout/arrow2"/>
    <dgm:cxn modelId="{F1D8181D-5C86-4E13-BAB9-F21944A72CE4}" type="presParOf" srcId="{5D48885A-D643-4DFA-A29C-514F8E01F46E}" destId="{EE05ABEE-58C1-4694-B056-387CCB83D2EE}" srcOrd="1" destOrd="0" presId="urn:microsoft.com/office/officeart/2005/8/layout/arrow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0790F6-E927-4EA7-8E3E-00971FA34B5D}">
      <dsp:nvSpPr>
        <dsp:cNvPr id="0" name=""/>
        <dsp:cNvSpPr/>
      </dsp:nvSpPr>
      <dsp:spPr>
        <a:xfrm>
          <a:off x="-4442742" y="-681361"/>
          <a:ext cx="5292734" cy="5292734"/>
        </a:xfrm>
        <a:prstGeom prst="blockArc">
          <a:avLst>
            <a:gd name="adj1" fmla="val 18900000"/>
            <a:gd name="adj2" fmla="val 2700000"/>
            <a:gd name="adj3" fmla="val 408"/>
          </a:avLst>
        </a:prstGeom>
        <a:noFill/>
        <a:ln w="9525" cap="flat" cmpd="sng" algn="ctr">
          <a:solidFill>
            <a:schemeClr val="accent2">
              <a:tint val="9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8483DFDF-507E-4F28-BB84-0EA51B1D3A56}">
      <dsp:nvSpPr>
        <dsp:cNvPr id="0" name=""/>
        <dsp:cNvSpPr/>
      </dsp:nvSpPr>
      <dsp:spPr>
        <a:xfrm>
          <a:off x="372156" y="245547"/>
          <a:ext cx="6062113" cy="491408"/>
        </a:xfrm>
        <a:prstGeom prst="rect">
          <a:avLst/>
        </a:prstGeom>
        <a:gradFill rotWithShape="0">
          <a:gsLst>
            <a:gs pos="0">
              <a:schemeClr val="accent2">
                <a:alpha val="90000"/>
                <a:hueOff val="0"/>
                <a:satOff val="0"/>
                <a:lumOff val="0"/>
                <a:alphaOff val="0"/>
                <a:tint val="100000"/>
                <a:shade val="100000"/>
                <a:satMod val="130000"/>
              </a:schemeClr>
            </a:gs>
            <a:gs pos="100000">
              <a:schemeClr val="accent2">
                <a:alpha val="90000"/>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90056" tIns="71120" rIns="71120" bIns="71120" numCol="1" spcCol="1270" anchor="ctr" anchorCtr="0">
          <a:noAutofit/>
        </a:bodyPr>
        <a:lstStyle/>
        <a:p>
          <a:pPr marL="0" lvl="0" indent="0" algn="l" defTabSz="1244600">
            <a:lnSpc>
              <a:spcPct val="90000"/>
            </a:lnSpc>
            <a:spcBef>
              <a:spcPct val="0"/>
            </a:spcBef>
            <a:spcAft>
              <a:spcPct val="35000"/>
            </a:spcAft>
            <a:buNone/>
          </a:pPr>
          <a:r>
            <a:rPr lang="fr-FR" sz="2800" b="1" kern="1200" dirty="0">
              <a:solidFill>
                <a:schemeClr val="tx1"/>
              </a:solidFill>
              <a:latin typeface="Verdana" panose="020B0804030504040204" pitchFamily="34" charset="0"/>
              <a:ea typeface="Verdana" panose="020B0804030504040204" pitchFamily="34" charset="0"/>
            </a:rPr>
            <a:t>CONTEXTE ET ENJEUX</a:t>
          </a:r>
        </a:p>
      </dsp:txBody>
      <dsp:txXfrm>
        <a:off x="372156" y="245547"/>
        <a:ext cx="6062113" cy="491408"/>
      </dsp:txXfrm>
    </dsp:sp>
    <dsp:sp modelId="{A10F7A64-BAA0-4B65-A378-D460B0819039}">
      <dsp:nvSpPr>
        <dsp:cNvPr id="0" name=""/>
        <dsp:cNvSpPr/>
      </dsp:nvSpPr>
      <dsp:spPr>
        <a:xfrm>
          <a:off x="65026" y="184121"/>
          <a:ext cx="614260" cy="614260"/>
        </a:xfrm>
        <a:prstGeom prst="ellipse">
          <a:avLst/>
        </a:prstGeom>
        <a:solidFill>
          <a:schemeClr val="lt1">
            <a:hueOff val="0"/>
            <a:satOff val="0"/>
            <a:lumOff val="0"/>
            <a:alphaOff val="0"/>
          </a:schemeClr>
        </a:solidFill>
        <a:ln w="9525" cap="flat" cmpd="sng" algn="ctr">
          <a:solidFill>
            <a:schemeClr val="accent2">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25D891EF-363B-4895-9650-4B091037282A}">
      <dsp:nvSpPr>
        <dsp:cNvPr id="0" name=""/>
        <dsp:cNvSpPr/>
      </dsp:nvSpPr>
      <dsp:spPr>
        <a:xfrm>
          <a:off x="724285" y="982424"/>
          <a:ext cx="5709984" cy="491408"/>
        </a:xfrm>
        <a:prstGeom prst="rect">
          <a:avLst/>
        </a:prstGeom>
        <a:gradFill rotWithShape="0">
          <a:gsLst>
            <a:gs pos="0">
              <a:schemeClr val="accent2">
                <a:alpha val="90000"/>
                <a:hueOff val="0"/>
                <a:satOff val="0"/>
                <a:lumOff val="0"/>
                <a:alphaOff val="-10000"/>
                <a:tint val="100000"/>
                <a:shade val="100000"/>
                <a:satMod val="130000"/>
              </a:schemeClr>
            </a:gs>
            <a:gs pos="100000">
              <a:schemeClr val="accent2">
                <a:alpha val="90000"/>
                <a:hueOff val="0"/>
                <a:satOff val="0"/>
                <a:lumOff val="0"/>
                <a:alphaOff val="-1000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90056" tIns="71120" rIns="71120" bIns="71120" numCol="1" spcCol="1270" anchor="ctr" anchorCtr="0">
          <a:noAutofit/>
        </a:bodyPr>
        <a:lstStyle/>
        <a:p>
          <a:pPr marL="0" lvl="0" indent="0" algn="l" defTabSz="1244600">
            <a:lnSpc>
              <a:spcPct val="90000"/>
            </a:lnSpc>
            <a:spcBef>
              <a:spcPct val="0"/>
            </a:spcBef>
            <a:spcAft>
              <a:spcPct val="35000"/>
            </a:spcAft>
            <a:buNone/>
          </a:pPr>
          <a:r>
            <a:rPr lang="fr-FR" sz="2800" b="1" kern="1200" dirty="0">
              <a:solidFill>
                <a:schemeClr val="tx1"/>
              </a:solidFill>
              <a:latin typeface="Verdana" panose="020B0804030504040204" pitchFamily="34" charset="0"/>
              <a:ea typeface="Verdana" panose="020B0804030504040204" pitchFamily="34" charset="0"/>
            </a:rPr>
            <a:t>I- CIMIS</a:t>
          </a:r>
        </a:p>
      </dsp:txBody>
      <dsp:txXfrm>
        <a:off x="724285" y="982424"/>
        <a:ext cx="5709984" cy="491408"/>
      </dsp:txXfrm>
    </dsp:sp>
    <dsp:sp modelId="{AC643C71-F55C-45B5-BD84-C95B197F9206}">
      <dsp:nvSpPr>
        <dsp:cNvPr id="0" name=""/>
        <dsp:cNvSpPr/>
      </dsp:nvSpPr>
      <dsp:spPr>
        <a:xfrm>
          <a:off x="417155" y="920998"/>
          <a:ext cx="614260" cy="614260"/>
        </a:xfrm>
        <a:prstGeom prst="ellipse">
          <a:avLst/>
        </a:prstGeom>
        <a:solidFill>
          <a:schemeClr val="lt1">
            <a:hueOff val="0"/>
            <a:satOff val="0"/>
            <a:lumOff val="0"/>
            <a:alphaOff val="0"/>
          </a:schemeClr>
        </a:solidFill>
        <a:ln w="9525" cap="flat" cmpd="sng" algn="ctr">
          <a:solidFill>
            <a:schemeClr val="accent2">
              <a:alpha val="90000"/>
              <a:hueOff val="0"/>
              <a:satOff val="0"/>
              <a:lumOff val="0"/>
              <a:alphaOff val="-10000"/>
            </a:schemeClr>
          </a:solidFill>
          <a:prstDash val="solid"/>
        </a:ln>
        <a:effectLst/>
      </dsp:spPr>
      <dsp:style>
        <a:lnRef idx="1">
          <a:scrgbClr r="0" g="0" b="0"/>
        </a:lnRef>
        <a:fillRef idx="1">
          <a:scrgbClr r="0" g="0" b="0"/>
        </a:fillRef>
        <a:effectRef idx="0">
          <a:scrgbClr r="0" g="0" b="0"/>
        </a:effectRef>
        <a:fontRef idx="minor"/>
      </dsp:style>
    </dsp:sp>
    <dsp:sp modelId="{3452EA1A-0930-4DEC-B76B-CD9E6C2D1DF8}">
      <dsp:nvSpPr>
        <dsp:cNvPr id="0" name=""/>
        <dsp:cNvSpPr/>
      </dsp:nvSpPr>
      <dsp:spPr>
        <a:xfrm>
          <a:off x="832361" y="1719301"/>
          <a:ext cx="5601909" cy="491408"/>
        </a:xfrm>
        <a:prstGeom prst="rect">
          <a:avLst/>
        </a:prstGeom>
        <a:gradFill rotWithShape="0">
          <a:gsLst>
            <a:gs pos="0">
              <a:schemeClr val="accent2">
                <a:alpha val="90000"/>
                <a:hueOff val="0"/>
                <a:satOff val="0"/>
                <a:lumOff val="0"/>
                <a:alphaOff val="-20000"/>
                <a:tint val="100000"/>
                <a:shade val="100000"/>
                <a:satMod val="130000"/>
              </a:schemeClr>
            </a:gs>
            <a:gs pos="100000">
              <a:schemeClr val="accent2">
                <a:alpha val="90000"/>
                <a:hueOff val="0"/>
                <a:satOff val="0"/>
                <a:lumOff val="0"/>
                <a:alphaOff val="-2000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90056" tIns="71120" rIns="71120" bIns="71120" numCol="1" spcCol="1270" anchor="ctr" anchorCtr="0">
          <a:noAutofit/>
        </a:bodyPr>
        <a:lstStyle/>
        <a:p>
          <a:pPr marL="0" lvl="0" indent="0" algn="l" defTabSz="1244600">
            <a:lnSpc>
              <a:spcPct val="90000"/>
            </a:lnSpc>
            <a:spcBef>
              <a:spcPct val="0"/>
            </a:spcBef>
            <a:spcAft>
              <a:spcPct val="35000"/>
            </a:spcAft>
            <a:buNone/>
          </a:pPr>
          <a:r>
            <a:rPr lang="fr-FR" sz="2800" b="1" kern="1200" dirty="0">
              <a:solidFill>
                <a:schemeClr val="tx1"/>
              </a:solidFill>
              <a:latin typeface="Verdana" panose="020B0804030504040204" pitchFamily="34" charset="0"/>
              <a:ea typeface="Verdana" panose="020B0804030504040204" pitchFamily="34" charset="0"/>
            </a:rPr>
            <a:t>II- SIADOC</a:t>
          </a:r>
        </a:p>
      </dsp:txBody>
      <dsp:txXfrm>
        <a:off x="832361" y="1719301"/>
        <a:ext cx="5601909" cy="491408"/>
      </dsp:txXfrm>
    </dsp:sp>
    <dsp:sp modelId="{E207C131-F95F-4943-9D5A-5742A012F006}">
      <dsp:nvSpPr>
        <dsp:cNvPr id="0" name=""/>
        <dsp:cNvSpPr/>
      </dsp:nvSpPr>
      <dsp:spPr>
        <a:xfrm>
          <a:off x="525230" y="1657875"/>
          <a:ext cx="614260" cy="614260"/>
        </a:xfrm>
        <a:prstGeom prst="ellipse">
          <a:avLst/>
        </a:prstGeom>
        <a:solidFill>
          <a:schemeClr val="lt1">
            <a:hueOff val="0"/>
            <a:satOff val="0"/>
            <a:lumOff val="0"/>
            <a:alphaOff val="0"/>
          </a:schemeClr>
        </a:solidFill>
        <a:ln w="9525" cap="flat" cmpd="sng" algn="ctr">
          <a:solidFill>
            <a:schemeClr val="accent2">
              <a:alpha val="90000"/>
              <a:hueOff val="0"/>
              <a:satOff val="0"/>
              <a:lumOff val="0"/>
              <a:alphaOff val="-20000"/>
            </a:schemeClr>
          </a:solidFill>
          <a:prstDash val="solid"/>
        </a:ln>
        <a:effectLst/>
      </dsp:spPr>
      <dsp:style>
        <a:lnRef idx="1">
          <a:scrgbClr r="0" g="0" b="0"/>
        </a:lnRef>
        <a:fillRef idx="1">
          <a:scrgbClr r="0" g="0" b="0"/>
        </a:fillRef>
        <a:effectRef idx="0">
          <a:scrgbClr r="0" g="0" b="0"/>
        </a:effectRef>
        <a:fontRef idx="minor"/>
      </dsp:style>
    </dsp:sp>
    <dsp:sp modelId="{FB6F3CAA-C963-4C0E-907D-BCBCEAF82255}">
      <dsp:nvSpPr>
        <dsp:cNvPr id="0" name=""/>
        <dsp:cNvSpPr/>
      </dsp:nvSpPr>
      <dsp:spPr>
        <a:xfrm>
          <a:off x="724285" y="2456178"/>
          <a:ext cx="5709984" cy="491408"/>
        </a:xfrm>
        <a:prstGeom prst="rect">
          <a:avLst/>
        </a:prstGeom>
        <a:gradFill rotWithShape="0">
          <a:gsLst>
            <a:gs pos="0">
              <a:schemeClr val="accent2">
                <a:alpha val="90000"/>
                <a:hueOff val="0"/>
                <a:satOff val="0"/>
                <a:lumOff val="0"/>
                <a:alphaOff val="-30000"/>
                <a:tint val="100000"/>
                <a:shade val="100000"/>
                <a:satMod val="130000"/>
              </a:schemeClr>
            </a:gs>
            <a:gs pos="100000">
              <a:schemeClr val="accent2">
                <a:alpha val="90000"/>
                <a:hueOff val="0"/>
                <a:satOff val="0"/>
                <a:lumOff val="0"/>
                <a:alphaOff val="-3000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90056" tIns="71120" rIns="71120" bIns="71120" numCol="1" spcCol="1270" anchor="ctr" anchorCtr="0">
          <a:noAutofit/>
        </a:bodyPr>
        <a:lstStyle/>
        <a:p>
          <a:pPr marL="0" lvl="0" indent="0" algn="l" defTabSz="1244600">
            <a:lnSpc>
              <a:spcPct val="90000"/>
            </a:lnSpc>
            <a:spcBef>
              <a:spcPct val="0"/>
            </a:spcBef>
            <a:spcAft>
              <a:spcPct val="35000"/>
            </a:spcAft>
            <a:buNone/>
          </a:pPr>
          <a:r>
            <a:rPr lang="fr-FR" sz="2800" b="1" kern="1200" dirty="0">
              <a:solidFill>
                <a:schemeClr val="tx1"/>
              </a:solidFill>
              <a:latin typeface="Verdana" panose="020B0804030504040204" pitchFamily="34" charset="0"/>
              <a:ea typeface="Verdana" panose="020B0804030504040204" pitchFamily="34" charset="0"/>
            </a:rPr>
            <a:t>III-GESMIL 2.0</a:t>
          </a:r>
        </a:p>
      </dsp:txBody>
      <dsp:txXfrm>
        <a:off x="724285" y="2456178"/>
        <a:ext cx="5709984" cy="491408"/>
      </dsp:txXfrm>
    </dsp:sp>
    <dsp:sp modelId="{CAD10732-2FEA-4E62-8CA6-2D1A8DD41CD6}">
      <dsp:nvSpPr>
        <dsp:cNvPr id="0" name=""/>
        <dsp:cNvSpPr/>
      </dsp:nvSpPr>
      <dsp:spPr>
        <a:xfrm>
          <a:off x="417155" y="2394752"/>
          <a:ext cx="614260" cy="614260"/>
        </a:xfrm>
        <a:prstGeom prst="ellipse">
          <a:avLst/>
        </a:prstGeom>
        <a:solidFill>
          <a:schemeClr val="lt1">
            <a:hueOff val="0"/>
            <a:satOff val="0"/>
            <a:lumOff val="0"/>
            <a:alphaOff val="0"/>
          </a:schemeClr>
        </a:solidFill>
        <a:ln w="9525" cap="flat" cmpd="sng" algn="ctr">
          <a:solidFill>
            <a:schemeClr val="accent2">
              <a:alpha val="90000"/>
              <a:hueOff val="0"/>
              <a:satOff val="0"/>
              <a:lumOff val="0"/>
              <a:alphaOff val="-30000"/>
            </a:schemeClr>
          </a:solidFill>
          <a:prstDash val="solid"/>
        </a:ln>
        <a:effectLst/>
      </dsp:spPr>
      <dsp:style>
        <a:lnRef idx="1">
          <a:scrgbClr r="0" g="0" b="0"/>
        </a:lnRef>
        <a:fillRef idx="1">
          <a:scrgbClr r="0" g="0" b="0"/>
        </a:fillRef>
        <a:effectRef idx="0">
          <a:scrgbClr r="0" g="0" b="0"/>
        </a:effectRef>
        <a:fontRef idx="minor"/>
      </dsp:style>
    </dsp:sp>
    <dsp:sp modelId="{1E1D90A1-C20B-4F7C-A1AD-34270183D3BD}">
      <dsp:nvSpPr>
        <dsp:cNvPr id="0" name=""/>
        <dsp:cNvSpPr/>
      </dsp:nvSpPr>
      <dsp:spPr>
        <a:xfrm>
          <a:off x="372156" y="3193055"/>
          <a:ext cx="6062113" cy="491408"/>
        </a:xfrm>
        <a:prstGeom prst="rect">
          <a:avLst/>
        </a:prstGeom>
        <a:gradFill rotWithShape="0">
          <a:gsLst>
            <a:gs pos="0">
              <a:schemeClr val="accent2">
                <a:alpha val="90000"/>
                <a:hueOff val="0"/>
                <a:satOff val="0"/>
                <a:lumOff val="0"/>
                <a:alphaOff val="-40000"/>
                <a:tint val="100000"/>
                <a:shade val="100000"/>
                <a:satMod val="130000"/>
              </a:schemeClr>
            </a:gs>
            <a:gs pos="100000">
              <a:schemeClr val="accent2">
                <a:alpha val="90000"/>
                <a:hueOff val="0"/>
                <a:satOff val="0"/>
                <a:lumOff val="0"/>
                <a:alphaOff val="-4000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90056" tIns="71120" rIns="71120" bIns="71120" numCol="1" spcCol="1270" anchor="ctr" anchorCtr="0">
          <a:noAutofit/>
        </a:bodyPr>
        <a:lstStyle/>
        <a:p>
          <a:pPr marL="0" lvl="0" indent="0" algn="l" defTabSz="1244600">
            <a:lnSpc>
              <a:spcPct val="90000"/>
            </a:lnSpc>
            <a:spcBef>
              <a:spcPct val="0"/>
            </a:spcBef>
            <a:spcAft>
              <a:spcPct val="35000"/>
            </a:spcAft>
            <a:buNone/>
          </a:pPr>
          <a:r>
            <a:rPr lang="fr-FR" sz="2800" b="1" kern="1200" dirty="0">
              <a:solidFill>
                <a:schemeClr val="tx1"/>
              </a:solidFill>
              <a:latin typeface="Verdana" panose="020B0804030504040204" pitchFamily="34" charset="0"/>
              <a:ea typeface="Verdana" panose="020B0804030504040204" pitchFamily="34" charset="0"/>
            </a:rPr>
            <a:t>DEMONSTRATION</a:t>
          </a:r>
        </a:p>
      </dsp:txBody>
      <dsp:txXfrm>
        <a:off x="372156" y="3193055"/>
        <a:ext cx="6062113" cy="491408"/>
      </dsp:txXfrm>
    </dsp:sp>
    <dsp:sp modelId="{A4AE3AD3-0973-4D43-9676-04B7C9C96B2D}">
      <dsp:nvSpPr>
        <dsp:cNvPr id="0" name=""/>
        <dsp:cNvSpPr/>
      </dsp:nvSpPr>
      <dsp:spPr>
        <a:xfrm>
          <a:off x="65026" y="3131629"/>
          <a:ext cx="614260" cy="614260"/>
        </a:xfrm>
        <a:prstGeom prst="ellipse">
          <a:avLst/>
        </a:prstGeom>
        <a:solidFill>
          <a:schemeClr val="lt1">
            <a:hueOff val="0"/>
            <a:satOff val="0"/>
            <a:lumOff val="0"/>
            <a:alphaOff val="0"/>
          </a:schemeClr>
        </a:solidFill>
        <a:ln w="9525" cap="flat" cmpd="sng" algn="ctr">
          <a:solidFill>
            <a:schemeClr val="accent2">
              <a:alpha val="90000"/>
              <a:hueOff val="0"/>
              <a:satOff val="0"/>
              <a:lumOff val="0"/>
              <a:alphaOff val="-40000"/>
            </a:schemeClr>
          </a:solidFill>
          <a:prstDash val="solid"/>
        </a:ln>
        <a:effectLst/>
      </dsp:spPr>
      <dsp:style>
        <a:lnRef idx="1">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8B3726-8396-4512-A9C4-075C3D585105}">
      <dsp:nvSpPr>
        <dsp:cNvPr id="0" name=""/>
        <dsp:cNvSpPr/>
      </dsp:nvSpPr>
      <dsp:spPr>
        <a:xfrm>
          <a:off x="516627" y="950764"/>
          <a:ext cx="2050970" cy="2123991"/>
        </a:xfrm>
        <a:prstGeom prst="rightArrow">
          <a:avLst>
            <a:gd name="adj1" fmla="val 70000"/>
            <a:gd name="adj2" fmla="val 50000"/>
          </a:avLst>
        </a:prstGeom>
        <a:solidFill>
          <a:schemeClr val="accent6">
            <a:lumMod val="40000"/>
            <a:lumOff val="60000"/>
            <a:alpha val="90000"/>
          </a:schemeClr>
        </a:solidFill>
        <a:ln w="19050" cap="flat" cmpd="sng" algn="ctr">
          <a:solidFill>
            <a:schemeClr val="bg1">
              <a:alpha val="90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5715" rIns="11430" bIns="5715" numCol="1" spcCol="1270" anchor="ctr" anchorCtr="0">
          <a:noAutofit/>
        </a:bodyPr>
        <a:lstStyle/>
        <a:p>
          <a:pPr marL="57150" lvl="1" indent="-57150" algn="l" defTabSz="400050">
            <a:lnSpc>
              <a:spcPct val="90000"/>
            </a:lnSpc>
            <a:spcBef>
              <a:spcPct val="0"/>
            </a:spcBef>
            <a:spcAft>
              <a:spcPct val="15000"/>
            </a:spcAft>
            <a:buChar char="•"/>
          </a:pPr>
          <a:r>
            <a:rPr lang="fr-FR" sz="900" kern="1200" dirty="0">
              <a:effectLst>
                <a:outerShdw blurRad="38100" dist="38100" dir="2700000" algn="tl">
                  <a:srgbClr val="000000">
                    <a:alpha val="43137"/>
                  </a:srgbClr>
                </a:outerShdw>
              </a:effectLst>
            </a:rPr>
            <a:t>Processus de double authentification</a:t>
          </a:r>
        </a:p>
        <a:p>
          <a:pPr marL="57150" lvl="1" indent="-57150" algn="l" defTabSz="400050">
            <a:lnSpc>
              <a:spcPct val="90000"/>
            </a:lnSpc>
            <a:spcBef>
              <a:spcPct val="0"/>
            </a:spcBef>
            <a:spcAft>
              <a:spcPct val="15000"/>
            </a:spcAft>
            <a:buChar char="•"/>
          </a:pPr>
          <a:r>
            <a:rPr lang="fr-FR" sz="900" kern="1200" dirty="0">
              <a:effectLst>
                <a:outerShdw blurRad="38100" dist="38100" dir="2700000" algn="tl">
                  <a:srgbClr val="000000">
                    <a:alpha val="43137"/>
                  </a:srgbClr>
                </a:outerShdw>
              </a:effectLst>
            </a:rPr>
            <a:t>Enrôlement (remplissage d’un formulaire)</a:t>
          </a:r>
        </a:p>
      </dsp:txBody>
      <dsp:txXfrm>
        <a:off x="1029369" y="1269363"/>
        <a:ext cx="999848" cy="1486793"/>
      </dsp:txXfrm>
    </dsp:sp>
    <dsp:sp modelId="{27D9A88B-3ED1-460D-8EEF-FC22CA848AA1}">
      <dsp:nvSpPr>
        <dsp:cNvPr id="0" name=""/>
        <dsp:cNvSpPr/>
      </dsp:nvSpPr>
      <dsp:spPr>
        <a:xfrm>
          <a:off x="0" y="1485209"/>
          <a:ext cx="1025485" cy="1025485"/>
        </a:xfrm>
        <a:prstGeom prst="ellipse">
          <a:avLst/>
        </a:prstGeom>
        <a:solidFill>
          <a:srgbClr val="00B050"/>
        </a:solidFill>
        <a:ln w="28575" cap="flat" cmpd="sng" algn="ctr">
          <a:solidFill>
            <a:schemeClr val="bg1"/>
          </a:solidFill>
          <a:prstDash val="solid"/>
        </a:ln>
        <a:effectLst>
          <a:outerShdw blurRad="40000" dist="23000" dir="5400000" rotWithShape="0">
            <a:srgbClr val="000000">
              <a:alpha val="35000"/>
            </a:srgbClr>
          </a:outerShdw>
        </a:effectLst>
      </dsp:spPr>
      <dsp:style>
        <a:lnRef idx="1">
          <a:schemeClr val="accent2"/>
        </a:lnRef>
        <a:fillRef idx="3">
          <a:schemeClr val="accent2"/>
        </a:fillRef>
        <a:effectRef idx="2">
          <a:schemeClr val="accent2"/>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fr-FR" sz="1000" b="1" kern="1200" dirty="0">
              <a:solidFill>
                <a:schemeClr val="tx1"/>
              </a:solidFill>
              <a:effectLst>
                <a:outerShdw blurRad="38100" dist="38100" dir="2700000" algn="tl">
                  <a:srgbClr val="000000">
                    <a:alpha val="43137"/>
                  </a:srgbClr>
                </a:outerShdw>
              </a:effectLst>
            </a:rPr>
            <a:t>Entrée</a:t>
          </a:r>
        </a:p>
      </dsp:txBody>
      <dsp:txXfrm>
        <a:off x="150179" y="1635388"/>
        <a:ext cx="725127" cy="725127"/>
      </dsp:txXfrm>
    </dsp:sp>
    <dsp:sp modelId="{B8E15EDC-5CC7-4BBF-8423-4FC729F439A7}">
      <dsp:nvSpPr>
        <dsp:cNvPr id="0" name=""/>
        <dsp:cNvSpPr/>
      </dsp:nvSpPr>
      <dsp:spPr>
        <a:xfrm>
          <a:off x="3190251" y="907557"/>
          <a:ext cx="2050970" cy="2210404"/>
        </a:xfrm>
        <a:prstGeom prst="rightArrow">
          <a:avLst>
            <a:gd name="adj1" fmla="val 70000"/>
            <a:gd name="adj2" fmla="val 50000"/>
          </a:avLst>
        </a:prstGeom>
        <a:solidFill>
          <a:srgbClr val="FF7D7D"/>
        </a:solidFill>
        <a:ln w="19050" cap="flat" cmpd="sng" algn="ctr">
          <a:solidFill>
            <a:schemeClr val="bg1">
              <a:alpha val="90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5715" rIns="11430" bIns="5715" numCol="1" spcCol="1270" anchor="ctr" anchorCtr="0">
          <a:noAutofit/>
        </a:bodyPr>
        <a:lstStyle/>
        <a:p>
          <a:pPr marL="57150" lvl="1" indent="-57150" algn="l" defTabSz="400050">
            <a:lnSpc>
              <a:spcPct val="90000"/>
            </a:lnSpc>
            <a:spcBef>
              <a:spcPct val="0"/>
            </a:spcBef>
            <a:spcAft>
              <a:spcPct val="15000"/>
            </a:spcAft>
            <a:buChar char="•"/>
          </a:pPr>
          <a:r>
            <a:rPr lang="fr-FR" sz="900" kern="1200" dirty="0">
              <a:effectLst>
                <a:outerShdw blurRad="38100" dist="38100" dir="2700000" algn="tl">
                  <a:srgbClr val="000000">
                    <a:alpha val="43137"/>
                  </a:srgbClr>
                </a:outerShdw>
              </a:effectLst>
            </a:rPr>
            <a:t>Stockage des informations dans la base de données</a:t>
          </a:r>
        </a:p>
        <a:p>
          <a:pPr marL="57150" lvl="1" indent="-57150" algn="l" defTabSz="400050">
            <a:lnSpc>
              <a:spcPct val="90000"/>
            </a:lnSpc>
            <a:spcBef>
              <a:spcPct val="0"/>
            </a:spcBef>
            <a:spcAft>
              <a:spcPct val="15000"/>
            </a:spcAft>
            <a:buChar char="•"/>
          </a:pPr>
          <a:r>
            <a:rPr lang="fr-FR" sz="900" kern="1200" dirty="0">
              <a:effectLst>
                <a:outerShdw blurRad="38100" dist="38100" dir="2700000" algn="tl">
                  <a:srgbClr val="000000">
                    <a:alpha val="43137"/>
                  </a:srgbClr>
                </a:outerShdw>
              </a:effectLst>
            </a:rPr>
            <a:t>Choix du modèle de carte par corps</a:t>
          </a:r>
        </a:p>
        <a:p>
          <a:pPr marL="57150" lvl="1" indent="-57150" algn="l" defTabSz="400050">
            <a:lnSpc>
              <a:spcPct val="90000"/>
            </a:lnSpc>
            <a:spcBef>
              <a:spcPct val="0"/>
            </a:spcBef>
            <a:spcAft>
              <a:spcPct val="15000"/>
            </a:spcAft>
            <a:buChar char="•"/>
          </a:pPr>
          <a:r>
            <a:rPr lang="fr-FR" sz="900" kern="1200" dirty="0">
              <a:effectLst>
                <a:outerShdw blurRad="38100" dist="38100" dir="2700000" algn="tl">
                  <a:srgbClr val="000000">
                    <a:alpha val="43137"/>
                  </a:srgbClr>
                </a:outerShdw>
              </a:effectLst>
            </a:rPr>
            <a:t>Intégration des technologies anti-falsification </a:t>
          </a:r>
        </a:p>
      </dsp:txBody>
      <dsp:txXfrm>
        <a:off x="3702994" y="1239118"/>
        <a:ext cx="999848" cy="1547282"/>
      </dsp:txXfrm>
    </dsp:sp>
    <dsp:sp modelId="{DB80016C-5E03-49AF-B322-20CFEE0B6A6D}">
      <dsp:nvSpPr>
        <dsp:cNvPr id="0" name=""/>
        <dsp:cNvSpPr/>
      </dsp:nvSpPr>
      <dsp:spPr>
        <a:xfrm>
          <a:off x="2695783" y="1500017"/>
          <a:ext cx="1025485" cy="1025485"/>
        </a:xfrm>
        <a:prstGeom prst="ellipse">
          <a:avLst/>
        </a:prstGeom>
        <a:solidFill>
          <a:srgbClr val="C00000"/>
        </a:solidFill>
        <a:ln w="19050" cap="flat" cmpd="sng" algn="ctr">
          <a:solidFill>
            <a:schemeClr val="bg1"/>
          </a:solidFill>
          <a:prstDash val="solid"/>
        </a:ln>
        <a:effectLst>
          <a:outerShdw blurRad="40000" dist="23000" dir="5400000" rotWithShape="0">
            <a:srgbClr val="000000">
              <a:alpha val="35000"/>
            </a:srgbClr>
          </a:outerShdw>
        </a:effectLst>
      </dsp:spPr>
      <dsp:style>
        <a:lnRef idx="1">
          <a:schemeClr val="accent1"/>
        </a:lnRef>
        <a:fillRef idx="3">
          <a:schemeClr val="accent1"/>
        </a:fillRef>
        <a:effectRef idx="2">
          <a:schemeClr val="accent1"/>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fr-FR" sz="1000" b="1" kern="1200" dirty="0">
              <a:solidFill>
                <a:schemeClr val="tx1"/>
              </a:solidFill>
              <a:effectLst>
                <a:outerShdw blurRad="38100" dist="38100" dir="2700000" algn="tl">
                  <a:srgbClr val="000000">
                    <a:alpha val="43137"/>
                  </a:srgbClr>
                </a:outerShdw>
              </a:effectLst>
            </a:rPr>
            <a:t>Traitement</a:t>
          </a:r>
        </a:p>
      </dsp:txBody>
      <dsp:txXfrm>
        <a:off x="2845962" y="1650196"/>
        <a:ext cx="725127" cy="725127"/>
      </dsp:txXfrm>
    </dsp:sp>
    <dsp:sp modelId="{ACCE1AED-AE84-429E-AD39-6E4E8C00E623}">
      <dsp:nvSpPr>
        <dsp:cNvPr id="0" name=""/>
        <dsp:cNvSpPr/>
      </dsp:nvSpPr>
      <dsp:spPr>
        <a:xfrm>
          <a:off x="5900424" y="849963"/>
          <a:ext cx="2050970" cy="2325592"/>
        </a:xfrm>
        <a:prstGeom prst="rightArrow">
          <a:avLst>
            <a:gd name="adj1" fmla="val 70000"/>
            <a:gd name="adj2" fmla="val 50000"/>
          </a:avLst>
        </a:prstGeom>
        <a:solidFill>
          <a:schemeClr val="accent4">
            <a:lumMod val="40000"/>
            <a:lumOff val="60000"/>
            <a:alpha val="90000"/>
          </a:schemeClr>
        </a:solidFill>
        <a:ln w="25400" cap="flat" cmpd="sng" algn="ctr">
          <a:solidFill>
            <a:schemeClr val="bg1">
              <a:alpha val="90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5715" rIns="11430" bIns="5715" numCol="1" spcCol="1270" anchor="ctr" anchorCtr="0">
          <a:noAutofit/>
        </a:bodyPr>
        <a:lstStyle/>
        <a:p>
          <a:pPr marL="0" lvl="0" indent="0" algn="ctr" defTabSz="400050">
            <a:lnSpc>
              <a:spcPct val="90000"/>
            </a:lnSpc>
            <a:spcBef>
              <a:spcPct val="0"/>
            </a:spcBef>
            <a:spcAft>
              <a:spcPct val="35000"/>
            </a:spcAft>
            <a:buNone/>
          </a:pPr>
          <a:r>
            <a:rPr lang="fr-FR" sz="900" kern="1200" dirty="0">
              <a:effectLst>
                <a:outerShdw blurRad="38100" dist="38100" dir="2700000" algn="tl">
                  <a:srgbClr val="000000">
                    <a:alpha val="43137"/>
                  </a:srgbClr>
                </a:outerShdw>
              </a:effectLst>
            </a:rPr>
            <a:t>Génération des cartes numériques prêtes à être imprimées</a:t>
          </a:r>
        </a:p>
      </dsp:txBody>
      <dsp:txXfrm>
        <a:off x="6413167" y="1198802"/>
        <a:ext cx="999848" cy="1627914"/>
      </dsp:txXfrm>
    </dsp:sp>
    <dsp:sp modelId="{EB2D3F50-758C-432A-83CC-526AE30CDF32}">
      <dsp:nvSpPr>
        <dsp:cNvPr id="0" name=""/>
        <dsp:cNvSpPr/>
      </dsp:nvSpPr>
      <dsp:spPr>
        <a:xfrm>
          <a:off x="5387682" y="1500017"/>
          <a:ext cx="1025485" cy="1025485"/>
        </a:xfrm>
        <a:prstGeom prst="ellipse">
          <a:avLst/>
        </a:prstGeom>
        <a:solidFill>
          <a:srgbClr val="FCD116"/>
        </a:solidFill>
        <a:ln w="19050" cap="flat" cmpd="sng" algn="ctr">
          <a:solidFill>
            <a:schemeClr val="bg1"/>
          </a:solidFill>
          <a:prstDash val="solid"/>
        </a:ln>
        <a:effectLst>
          <a:outerShdw blurRad="40000" dist="20000" dir="5400000" rotWithShape="0">
            <a:srgbClr val="000000">
              <a:alpha val="38000"/>
            </a:srgbClr>
          </a:outerShdw>
        </a:effectLst>
      </dsp:spPr>
      <dsp:style>
        <a:lnRef idx="1">
          <a:schemeClr val="accent6"/>
        </a:lnRef>
        <a:fillRef idx="2">
          <a:schemeClr val="accent6"/>
        </a:fillRef>
        <a:effectRef idx="1">
          <a:schemeClr val="accent6"/>
        </a:effectRef>
        <a:fontRef idx="minor">
          <a:schemeClr val="dk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fr-FR" sz="1000" b="1" kern="1200" dirty="0">
              <a:solidFill>
                <a:schemeClr val="tx1"/>
              </a:solidFill>
              <a:effectLst>
                <a:outerShdw blurRad="38100" dist="38100" dir="2700000" algn="tl">
                  <a:srgbClr val="000000">
                    <a:alpha val="43137"/>
                  </a:srgbClr>
                </a:outerShdw>
              </a:effectLst>
            </a:rPr>
            <a:t>Sortie</a:t>
          </a:r>
        </a:p>
      </dsp:txBody>
      <dsp:txXfrm>
        <a:off x="5537861" y="1650196"/>
        <a:ext cx="725127" cy="72512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08D845-C202-4377-ACDB-ADE35F271483}">
      <dsp:nvSpPr>
        <dsp:cNvPr id="0" name=""/>
        <dsp:cNvSpPr/>
      </dsp:nvSpPr>
      <dsp:spPr>
        <a:xfrm>
          <a:off x="857717" y="111370"/>
          <a:ext cx="2444483" cy="2444431"/>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FR" sz="1200" kern="1200" dirty="0"/>
            <a:t>GESMIL 2.0</a:t>
          </a:r>
        </a:p>
        <a:p>
          <a:pPr marL="0" lvl="0" indent="0" algn="ctr" defTabSz="533400">
            <a:lnSpc>
              <a:spcPct val="90000"/>
            </a:lnSpc>
            <a:spcBef>
              <a:spcPct val="0"/>
            </a:spcBef>
            <a:spcAft>
              <a:spcPct val="35000"/>
            </a:spcAft>
            <a:buNone/>
          </a:pPr>
          <a:r>
            <a:rPr lang="fr-FR" sz="1200" kern="1200" dirty="0"/>
            <a:t>NOYAU CENTRAL RH</a:t>
          </a:r>
        </a:p>
      </dsp:txBody>
      <dsp:txXfrm>
        <a:off x="1215703" y="469349"/>
        <a:ext cx="1728511" cy="1728473"/>
      </dsp:txXfrm>
    </dsp:sp>
    <dsp:sp modelId="{738175DD-9C67-4FEB-913A-CAD46A23028F}">
      <dsp:nvSpPr>
        <dsp:cNvPr id="0" name=""/>
        <dsp:cNvSpPr/>
      </dsp:nvSpPr>
      <dsp:spPr>
        <a:xfrm>
          <a:off x="2252487" y="0"/>
          <a:ext cx="271861" cy="271857"/>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A630F31-FCF4-43C8-B007-E00A44F838D4}">
      <dsp:nvSpPr>
        <dsp:cNvPr id="0" name=""/>
        <dsp:cNvSpPr/>
      </dsp:nvSpPr>
      <dsp:spPr>
        <a:xfrm>
          <a:off x="1608747" y="2374182"/>
          <a:ext cx="196849" cy="197039"/>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3394E4C-D982-4120-9CBA-048D1A7C1AA1}">
      <dsp:nvSpPr>
        <dsp:cNvPr id="0" name=""/>
        <dsp:cNvSpPr/>
      </dsp:nvSpPr>
      <dsp:spPr>
        <a:xfrm>
          <a:off x="3459499" y="1103420"/>
          <a:ext cx="196849" cy="197039"/>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C0BF118-5CEB-4C39-9D0D-BF9AE68E39C9}">
      <dsp:nvSpPr>
        <dsp:cNvPr id="0" name=""/>
        <dsp:cNvSpPr/>
      </dsp:nvSpPr>
      <dsp:spPr>
        <a:xfrm>
          <a:off x="2517530" y="2583786"/>
          <a:ext cx="271861" cy="271857"/>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C090DE5-E75D-428B-81EA-CBF477142075}">
      <dsp:nvSpPr>
        <dsp:cNvPr id="0" name=""/>
        <dsp:cNvSpPr/>
      </dsp:nvSpPr>
      <dsp:spPr>
        <a:xfrm>
          <a:off x="1664665" y="386368"/>
          <a:ext cx="196849" cy="197039"/>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2014EB3-2345-439A-856F-C2DDD65D8BC1}">
      <dsp:nvSpPr>
        <dsp:cNvPr id="0" name=""/>
        <dsp:cNvSpPr/>
      </dsp:nvSpPr>
      <dsp:spPr>
        <a:xfrm>
          <a:off x="1044111" y="1513491"/>
          <a:ext cx="196849" cy="197039"/>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D53C566-0ED8-40E2-A45A-27E15058DD99}">
      <dsp:nvSpPr>
        <dsp:cNvPr id="0" name=""/>
        <dsp:cNvSpPr/>
      </dsp:nvSpPr>
      <dsp:spPr>
        <a:xfrm>
          <a:off x="93958" y="552567"/>
          <a:ext cx="993796" cy="993478"/>
        </a:xfrm>
        <a:prstGeom prst="ellipse">
          <a:avLst/>
        </a:prstGeom>
        <a:gradFill rotWithShape="1">
          <a:gsLst>
            <a:gs pos="0">
              <a:schemeClr val="accent6">
                <a:tint val="100000"/>
                <a:shade val="100000"/>
                <a:satMod val="130000"/>
              </a:schemeClr>
            </a:gs>
            <a:gs pos="100000">
              <a:schemeClr val="accent6">
                <a:tint val="50000"/>
                <a:shade val="100000"/>
                <a:satMod val="350000"/>
              </a:schemeClr>
            </a:gs>
          </a:gsLst>
          <a:lin ang="16200000" scaled="0"/>
        </a:gradFill>
        <a:ln w="28575" cap="flat" cmpd="sng" algn="ctr">
          <a:solidFill>
            <a:schemeClr val="bg1"/>
          </a:solidFill>
          <a:prstDash val="solid"/>
        </a:ln>
        <a:effectLst>
          <a:outerShdw blurRad="40000" dist="23000" dir="5400000" rotWithShape="0">
            <a:srgbClr val="000000">
              <a:alpha val="35000"/>
            </a:srgbClr>
          </a:outerShdw>
        </a:effectLst>
      </dsp:spPr>
      <dsp:style>
        <a:lnRef idx="1">
          <a:schemeClr val="accent6"/>
        </a:lnRef>
        <a:fillRef idx="3">
          <a:schemeClr val="accent6"/>
        </a:fillRef>
        <a:effectRef idx="2">
          <a:schemeClr val="accent6"/>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FR" sz="1200" kern="1200" dirty="0"/>
            <a:t>SIADOC</a:t>
          </a:r>
        </a:p>
      </dsp:txBody>
      <dsp:txXfrm>
        <a:off x="239496" y="698058"/>
        <a:ext cx="702720" cy="702496"/>
      </dsp:txXfrm>
    </dsp:sp>
    <dsp:sp modelId="{214B1BA7-7F00-4034-962A-A8C68556EF33}">
      <dsp:nvSpPr>
        <dsp:cNvPr id="0" name=""/>
        <dsp:cNvSpPr/>
      </dsp:nvSpPr>
      <dsp:spPr>
        <a:xfrm>
          <a:off x="1977443" y="394935"/>
          <a:ext cx="271861" cy="271857"/>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F1007EF-95A6-4A51-A5BF-73F15E77064B}">
      <dsp:nvSpPr>
        <dsp:cNvPr id="0" name=""/>
        <dsp:cNvSpPr/>
      </dsp:nvSpPr>
      <dsp:spPr>
        <a:xfrm>
          <a:off x="187155" y="1837321"/>
          <a:ext cx="491442" cy="491456"/>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A8189A0-DD28-4529-B0B8-479585BDD8C9}">
      <dsp:nvSpPr>
        <dsp:cNvPr id="0" name=""/>
        <dsp:cNvSpPr/>
      </dsp:nvSpPr>
      <dsp:spPr>
        <a:xfrm>
          <a:off x="2801028" y="1625546"/>
          <a:ext cx="993796" cy="993478"/>
        </a:xfrm>
        <a:prstGeom prst="ellipse">
          <a:avLst/>
        </a:prstGeom>
        <a:gradFill rotWithShape="1">
          <a:gsLst>
            <a:gs pos="0">
              <a:schemeClr val="accent2">
                <a:tint val="100000"/>
                <a:shade val="100000"/>
                <a:satMod val="130000"/>
              </a:schemeClr>
            </a:gs>
            <a:gs pos="100000">
              <a:schemeClr val="accent2">
                <a:tint val="50000"/>
                <a:shade val="100000"/>
                <a:satMod val="350000"/>
              </a:schemeClr>
            </a:gs>
          </a:gsLst>
          <a:lin ang="16200000" scaled="0"/>
        </a:gradFill>
        <a:ln w="28575" cap="flat" cmpd="sng" algn="ctr">
          <a:solidFill>
            <a:schemeClr val="bg1"/>
          </a:solidFill>
          <a:prstDash val="solid"/>
        </a:ln>
        <a:effectLst>
          <a:outerShdw blurRad="40000" dist="23000" dir="5400000" rotWithShape="0">
            <a:srgbClr val="000000">
              <a:alpha val="35000"/>
            </a:srgbClr>
          </a:outerShdw>
        </a:effectLst>
      </dsp:spPr>
      <dsp:style>
        <a:lnRef idx="1">
          <a:schemeClr val="accent2"/>
        </a:lnRef>
        <a:fillRef idx="3">
          <a:schemeClr val="accent2"/>
        </a:fillRef>
        <a:effectRef idx="2">
          <a:schemeClr val="accent2"/>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FR" sz="1200" kern="1200" dirty="0"/>
            <a:t>CIMIS</a:t>
          </a:r>
        </a:p>
      </dsp:txBody>
      <dsp:txXfrm>
        <a:off x="2946566" y="1771037"/>
        <a:ext cx="702720" cy="702496"/>
      </dsp:txXfrm>
    </dsp:sp>
    <dsp:sp modelId="{11FE5A4F-AF04-4B46-B125-A24941C030EB}">
      <dsp:nvSpPr>
        <dsp:cNvPr id="0" name=""/>
        <dsp:cNvSpPr/>
      </dsp:nvSpPr>
      <dsp:spPr>
        <a:xfrm>
          <a:off x="3109443" y="771023"/>
          <a:ext cx="271861" cy="271857"/>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FFC773E-ECD9-4D27-8307-169726BD7CCF}">
      <dsp:nvSpPr>
        <dsp:cNvPr id="0" name=""/>
        <dsp:cNvSpPr/>
      </dsp:nvSpPr>
      <dsp:spPr>
        <a:xfrm>
          <a:off x="307" y="2422157"/>
          <a:ext cx="196849" cy="197039"/>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837F7C1-5ADC-457D-9843-521D90CD260D}">
      <dsp:nvSpPr>
        <dsp:cNvPr id="0" name=""/>
        <dsp:cNvSpPr/>
      </dsp:nvSpPr>
      <dsp:spPr>
        <a:xfrm>
          <a:off x="1971330" y="2245557"/>
          <a:ext cx="196849" cy="197039"/>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7D040A-548A-4003-A9B7-4B9D8F020496}">
      <dsp:nvSpPr>
        <dsp:cNvPr id="0" name=""/>
        <dsp:cNvSpPr/>
      </dsp:nvSpPr>
      <dsp:spPr>
        <a:xfrm>
          <a:off x="0" y="208625"/>
          <a:ext cx="1924800" cy="1203000"/>
        </a:xfrm>
        <a:prstGeom prst="swooshArrow">
          <a:avLst>
            <a:gd name="adj1" fmla="val 25000"/>
            <a:gd name="adj2" fmla="val 25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242845C-D995-44A9-878E-76ED29E282FD}">
      <dsp:nvSpPr>
        <dsp:cNvPr id="0" name=""/>
        <dsp:cNvSpPr/>
      </dsp:nvSpPr>
      <dsp:spPr>
        <a:xfrm>
          <a:off x="1468622" y="452593"/>
          <a:ext cx="142435" cy="142435"/>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E05ABEE-58C1-4694-B056-387CCB83D2EE}">
      <dsp:nvSpPr>
        <dsp:cNvPr id="0" name=""/>
        <dsp:cNvSpPr/>
      </dsp:nvSpPr>
      <dsp:spPr>
        <a:xfrm>
          <a:off x="769920" y="523811"/>
          <a:ext cx="769920" cy="887814"/>
        </a:xfrm>
        <a:prstGeom prst="round2Diag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75473" bIns="0" numCol="1" spcCol="1270" anchor="t" anchorCtr="0">
          <a:noAutofit/>
        </a:bodyPr>
        <a:lstStyle/>
        <a:p>
          <a:pPr marL="0" lvl="0" indent="0" algn="r" defTabSz="2711450">
            <a:lnSpc>
              <a:spcPct val="90000"/>
            </a:lnSpc>
            <a:spcBef>
              <a:spcPct val="0"/>
            </a:spcBef>
            <a:spcAft>
              <a:spcPct val="35000"/>
            </a:spcAft>
            <a:buNone/>
          </a:pPr>
          <a:endParaRPr lang="fr-FR" sz="6100" kern="1200" dirty="0"/>
        </a:p>
      </dsp:txBody>
      <dsp:txXfrm>
        <a:off x="807504" y="561395"/>
        <a:ext cx="694752" cy="812646"/>
      </dsp:txXfrm>
    </dsp:sp>
  </dsp:spTree>
</dsp:drawing>
</file>

<file path=ppt/diagrams/layout1.xml><?xml version="1.0" encoding="utf-8"?>
<dgm:layoutDef xmlns:dgm="http://schemas.openxmlformats.org/drawingml/2006/diagram" xmlns:a="http://schemas.openxmlformats.org/drawingml/2006/main" uniqueId="urn:microsoft.com/office/officeart/2008/layout/VerticalCurvedList#1">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srcNode" val="srcNode"/>
            <dgm:param type="dstNode" val="dstNode"/>
            <dgm:param type="endSty" val="noArr"/>
            <dgm:param type="connRout" val="curve"/>
            <dgm:param type="begPts" val="ctr"/>
            <dgm:param type="endPts" val="ct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parTxRTLAlign" val="l"/>
                <dgm:param type="shpTxLTRAlignCh" val="l"/>
                <dgm:param type="shpTxRTLAlignCh" val="l"/>
              </dgm:alg>
            </dgm:if>
            <dgm:else name="Name2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parTxRTLAlign" val="l"/>
                <dgm:param type="shpTxLTRAlignCh" val="l"/>
                <dgm:param type="shpTxRTLAlignCh" val="l"/>
              </dgm:alg>
            </dgm:if>
            <dgm:else name="Name3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parTxRTLAlign" val="l"/>
                <dgm:param type="shpTxLTRAlignCh" val="l"/>
                <dgm:param type="shpTxRTLAlignCh" val="l"/>
              </dgm:alg>
            </dgm:if>
            <dgm:else name="Name3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parTxRTLAlign" val="l"/>
                <dgm:param type="shpTxLTRAlignCh" val="l"/>
                <dgm:param type="shpTxRTLAlignCh" val="l"/>
              </dgm:alg>
            </dgm:if>
            <dgm:else name="Name4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parTxRTLAlign" val="l"/>
                <dgm:param type="shpTxLTRAlignCh" val="l"/>
                <dgm:param type="shpTxRTLAlignCh" val="l"/>
              </dgm:alg>
            </dgm:if>
            <dgm:else name="Name4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parTxRTLAlign" val="l"/>
                <dgm:param type="shpTxLTRAlignCh" val="l"/>
                <dgm:param type="shpTxRTLAlignCh" val="l"/>
              </dgm:alg>
            </dgm:if>
            <dgm:else name="Name5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parTxRTLAlign" val="l"/>
                <dgm:param type="shpTxLTRAlignCh" val="l"/>
                <dgm:param type="shpTxRTLAlignCh" val="l"/>
              </dgm:alg>
            </dgm:if>
            <dgm:else name="Name5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Process6">
  <dgm:title val=""/>
  <dgm:desc val=""/>
  <dgm:catLst>
    <dgm:cat type="process"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theList">
    <dgm:varLst>
      <dgm:dir/>
      <dgm:animLvl val="lvl"/>
      <dgm:resizeHandles val="exact"/>
    </dgm:varLst>
    <dgm:choose name="Name0">
      <dgm:if name="Name1" func="var" arg="dir" op="equ" val="norm">
        <dgm:alg type="lin">
          <dgm:param type="linDir" val="fromL"/>
          <dgm:param type="nodeHorzAlign" val="l"/>
        </dgm:alg>
      </dgm:if>
      <dgm:else name="Name2">
        <dgm:alg type="lin">
          <dgm:param type="linDir" val="fromR"/>
          <dgm:param type="nodeHorzAlign" val="r"/>
        </dgm:alg>
      </dgm:else>
    </dgm:choose>
    <dgm:shape xmlns:r="http://schemas.openxmlformats.org/officeDocument/2006/relationships" r:blip="">
      <dgm:adjLst/>
    </dgm:shape>
    <dgm:presOf/>
    <dgm:constrLst>
      <dgm:constr type="w" for="ch" forName="compNode" refType="w"/>
      <dgm:constr type="h" for="ch" forName="compNode" refType="w" refFor="ch" refForName="compNode" fact="0.7"/>
      <dgm:constr type="ctrY" for="ch" forName="compNode" refType="h" fact="0.5"/>
      <dgm:constr type="w" for="ch" forName="aSpace" refType="w" fact="0.05"/>
      <dgm:constr type="primFontSz" for="des" forName="childTextHidden" op="equ" val="65"/>
      <dgm:constr type="primFontSz" for="des" forName="parentText" op="equ"/>
    </dgm:constrLst>
    <dgm:ruleLst/>
    <dgm:forEach name="aNodeForEach" axis="ch" ptType="node">
      <dgm:layoutNode name="compNode">
        <dgm:alg type="composite">
          <dgm:param type="ar" val="1.43"/>
        </dgm:alg>
        <dgm:shape xmlns:r="http://schemas.openxmlformats.org/officeDocument/2006/relationships" r:blip="">
          <dgm:adjLst/>
        </dgm:shape>
        <dgm:presOf/>
        <dgm:choose name="Name3">
          <dgm:if name="Name4" func="var" arg="dir" op="equ" val="norm">
            <dgm:constrLst>
              <dgm:constr type="w" for="ch" forName="childTextVisible" refType="w" fact="0.8"/>
              <dgm:constr type="h" for="ch" forName="childTextVisible" refType="h"/>
              <dgm:constr type="r" for="ch" forName="childTextVisible" refType="w"/>
              <dgm:constr type="w" for="ch" forName="childTextHidden" refType="w" fact="0.6"/>
              <dgm:constr type="h" for="ch" forName="childTextHidden" refType="h"/>
              <dgm:constr type="r" for="ch" forName="childTextHidden" refType="w"/>
              <dgm:constr type="l" for="ch" forName="parentText"/>
              <dgm:constr type="w" for="ch" forName="parentText" refType="w" fact="0.4"/>
              <dgm:constr type="h" for="ch" forName="parentText" refType="w" refFor="ch" refForName="parentText" op="equ"/>
              <dgm:constr type="ctrY" for="ch" forName="parentText" refType="h" fact="0.5"/>
            </dgm:constrLst>
          </dgm:if>
          <dgm:else name="Name5">
            <dgm:constrLst>
              <dgm:constr type="w" for="ch" forName="childTextVisible" refType="w" fact="0.8"/>
              <dgm:constr type="h" for="ch" forName="childTextVisible" refType="h"/>
              <dgm:constr type="l" for="ch" forName="childTextVisible"/>
              <dgm:constr type="w" for="ch" forName="childTextHidden" refType="w" fact="0.6"/>
              <dgm:constr type="h" for="ch" forName="childTextHidden" refType="h"/>
              <dgm:constr type="l" for="ch" forName="childTextHidden"/>
              <dgm:constr type="r" for="ch" forName="parentText" refType="w"/>
              <dgm:constr type="w" for="ch" forName="parentText" refType="w" fact="0.4"/>
              <dgm:constr type="h" for="ch" forName="parentText" refType="w" refFor="ch" refForName="parentText" op="equ"/>
              <dgm:constr type="ctrY" for="ch" forName="parentText" refType="h" fact="0.5"/>
            </dgm:constrLst>
          </dgm:else>
        </dgm:choose>
        <dgm:ruleLst/>
        <dgm:layoutNode name="noGeometry">
          <dgm:alg type="sp"/>
          <dgm:shape xmlns:r="http://schemas.openxmlformats.org/officeDocument/2006/relationships" r:blip="">
            <dgm:adjLst/>
          </dgm:shape>
          <dgm:presOf/>
          <dgm:constrLst/>
          <dgm:ruleLst/>
        </dgm:layoutNode>
        <dgm:layoutNode name="childTextVisible" styleLbl="bgAccFollowNode1">
          <dgm:varLst>
            <dgm:bulletEnabled val="1"/>
          </dgm:varLst>
          <dgm:alg type="sp"/>
          <dgm:choose name="Name6">
            <dgm:if name="Name7" func="var" arg="dir" op="equ" val="norm">
              <dgm:shape xmlns:r="http://schemas.openxmlformats.org/officeDocument/2006/relationships" type="rightArrow" r:blip="">
                <dgm:adjLst>
                  <dgm:adj idx="1" val="0.7"/>
                  <dgm:adj idx="2" val="0.5"/>
                </dgm:adjLst>
              </dgm:shape>
            </dgm:if>
            <dgm:else name="Name8">
              <dgm:shape xmlns:r="http://schemas.openxmlformats.org/officeDocument/2006/relationships" type="leftArrow" r:blip="">
                <dgm:adjLst>
                  <dgm:adj idx="1" val="0.7"/>
                  <dgm:adj idx="2" val="0.5"/>
                </dgm:adjLst>
              </dgm:shape>
            </dgm:else>
          </dgm:choose>
          <dgm:presOf axis="des" ptType="node"/>
          <dgm:constrLst/>
          <dgm:ruleLst/>
        </dgm:layoutNode>
        <dgm:layoutNode name="childTextHidden" styleLbl="bgAccFollowNode1">
          <dgm:choose name="Name9">
            <dgm:if name="Name10" axis="des followSib" ptType="node node" st="1 1" cnt="1 0" func="cnt" op="gte" val="1">
              <dgm:alg type="tx">
                <dgm:param type="stBulletLvl" val="1"/>
                <dgm:param type="txAnchorVertCh" val="mid"/>
              </dgm:alg>
            </dgm:if>
            <dgm:else name="Name11">
              <dgm:alg type="tx">
                <dgm:param type="stBulletLvl" val="2"/>
                <dgm:param type="txAnchorVertCh" val="mid"/>
              </dgm:alg>
            </dgm:else>
          </dgm:choose>
          <dgm:choose name="Name12">
            <dgm:if name="Name13" func="var" arg="dir" op="equ" val="norm">
              <dgm:shape xmlns:r="http://schemas.openxmlformats.org/officeDocument/2006/relationships" type="rightArrow" r:blip="" hideGeom="1">
                <dgm:adjLst>
                  <dgm:adj idx="1" val="0.7"/>
                  <dgm:adj idx="2" val="0.5"/>
                </dgm:adjLst>
              </dgm:shape>
            </dgm:if>
            <dgm:else name="Name14">
              <dgm:shape xmlns:r="http://schemas.openxmlformats.org/officeDocument/2006/relationships" type="leftArrow" r:blip="" hideGeom="1">
                <dgm:adjLst>
                  <dgm:adj idx="1" val="0.7"/>
                  <dgm:adj idx="2" val="0.5"/>
                </dgm:adjLst>
              </dgm:shape>
            </dgm:else>
          </dgm:choose>
          <dgm:presOf axis="des" ptType="node"/>
          <dgm:constrLst>
            <dgm:constr type="secFontSz" refType="primFontSz"/>
            <dgm:constr type="tMarg" refType="primFontSz" fact="0.05"/>
            <dgm:constr type="bMarg" refType="primFontSz" fact="0.05"/>
            <dgm:constr type="rMarg" refType="primFontSz" fact="0.1"/>
            <dgm:constr type="lMarg" refType="primFontSz" fact="0.2"/>
          </dgm:constrLst>
          <dgm:ruleLst>
            <dgm:rule type="primFontSz" val="5" fact="NaN" max="NaN"/>
          </dgm:ruleLst>
        </dgm:layoutNode>
        <dgm:layoutNode name="parentText" styleLbl="node1">
          <dgm:varLst>
            <dgm:chMax val="1"/>
            <dgm:bulletEnabled val="1"/>
          </dgm:varLst>
          <dgm:alg type="tx"/>
          <dgm:shape xmlns:r="http://schemas.openxmlformats.org/officeDocument/2006/relationships" type="ellipse" r:blip="">
            <dgm:adjLst/>
          </dgm:shape>
          <dgm:presOf axis="self"/>
          <dgm:constrLst>
            <dgm:constr type="primFontSz" val="65"/>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choose name="Name15">
        <dgm:if name="Name16" axis="self" ptType="node" func="revPos" op="gte" val="2">
          <dgm:layoutNode name="aSpace">
            <dgm:alg type="sp"/>
            <dgm:shape xmlns:r="http://schemas.openxmlformats.org/officeDocument/2006/relationships" r:blip="">
              <dgm:adjLst/>
            </dgm:shape>
            <dgm:presOf/>
            <dgm:constrLst/>
            <dgm:ruleLst/>
          </dgm:layoutNode>
        </dgm:if>
        <dgm:else name="Name17"/>
      </dgm:choose>
    </dgm:forEach>
  </dgm:layoutNode>
</dgm:layoutDef>
</file>

<file path=ppt/diagrams/layout3.xml><?xml version="1.0" encoding="utf-8"?>
<dgm:layoutDef xmlns:dgm="http://schemas.openxmlformats.org/drawingml/2006/diagram" xmlns:a="http://schemas.openxmlformats.org/drawingml/2006/main" uniqueId="urn:microsoft.com/office/officeart/2009/3/layout/CircleRelationship">
  <dgm:title val=""/>
  <dgm:desc val=""/>
  <dgm:catLst>
    <dgm:cat type="relationship" pri="1500"/>
  </dgm:catLst>
  <dgm:samp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sampData>
  <dgm:style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styleData>
  <dgm:clr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clrData>
  <dgm:layoutNode name="Name0">
    <dgm:varLst>
      <dgm:chMax val="1"/>
      <dgm:chPref val="1"/>
    </dgm:varLst>
    <dgm:shape xmlns:r="http://schemas.openxmlformats.org/officeDocument/2006/relationships" r:blip="">
      <dgm:adjLst/>
    </dgm:shape>
    <dgm:choose name="Name1">
      <dgm:if name="Name2" axis="ch ch" ptType="node node" func="cnt" op="equ" val="0">
        <dgm:alg type="composite">
          <dgm:param type="ar" val="0.98"/>
        </dgm:alg>
        <dgm:constrLst>
          <dgm:constr type="primFontSz" for="des" ptType="node" op="equ" val="65"/>
          <dgm:constr type="l" for="ch" forName="Parent" refType="w" fact="0"/>
          <dgm:constr type="t" for="ch" forName="Parent" refType="h" fact="0.039"/>
          <dgm:constr type="w" for="ch" forName="Parent" refType="w" fact="0.8734"/>
          <dgm:constr type="h" for="ch" forName="Parent" refType="h" fact="0.856"/>
          <dgm:constr type="l" for="ch" forName="Accent1" refType="w" fact="0.4984"/>
          <dgm:constr type="t" for="ch" forName="Accent1" refType="h" fact="0"/>
          <dgm:constr type="w" for="ch" forName="Accent1" refType="w" fact="0.0972"/>
          <dgm:constr type="h" for="ch" forName="Accent1" refType="h" fact="0.0952"/>
          <dgm:constr type="l" for="ch" forName="Accent2" refType="w" fact="0.2684"/>
          <dgm:constr type="t" for="ch" forName="Accent2" refType="h" fact="0.8314"/>
          <dgm:constr type="w" for="ch" forName="Accent2" refType="w" fact="0.0704"/>
          <dgm:constr type="h" for="ch" forName="Accent2" refType="h" fact="0.069"/>
          <dgm:constr type="l" for="ch" forName="Accent3" refType="w" fact="0.9296"/>
          <dgm:constr type="t" for="ch" forName="Accent3" refType="h" fact="0.3864"/>
          <dgm:constr type="w" for="ch" forName="Accent3" refType="w" fact="0.0704"/>
          <dgm:constr type="h" for="ch" forName="Accent3" refType="h" fact="0.069"/>
          <dgm:constr type="l" for="ch" forName="Accent4" refType="w" fact="0.5931"/>
          <dgm:constr type="t" for="ch" forName="Accent4" refType="h" fact="0.9048"/>
          <dgm:constr type="w" for="ch" forName="Accent4" refType="w" fact="0.0972"/>
          <dgm:constr type="h" for="ch" forName="Accent4" refType="h" fact="0.0952"/>
          <dgm:constr type="l" for="ch" forName="Accent5" refType="w" fact="0.2883"/>
          <dgm:constr type="t" for="ch" forName="Accent5" refType="h" fact="0.1353"/>
          <dgm:constr type="w" for="ch" forName="Accent5" refType="w" fact="0.0704"/>
          <dgm:constr type="h" for="ch" forName="Accent5" refType="h" fact="0.069"/>
          <dgm:constr type="l" for="ch" forName="Accent6" refType="w" fact="0.0666"/>
          <dgm:constr type="t" for="ch" forName="Accent6" refType="h" fact="0.53"/>
          <dgm:constr type="w" for="ch" forName="Accent6" refType="w" fact="0.0704"/>
          <dgm:constr type="h" for="ch" forName="Accent6" refType="h" fact="0.069"/>
        </dgm:constrLst>
      </dgm:if>
      <dgm:if name="Name3" axis="ch ch" ptType="node node" func="cnt" op="equ" val="1">
        <dgm:alg type="composite">
          <dgm:param type="ar" val="1.2476"/>
        </dgm:alg>
        <dgm:constrLst>
          <dgm:constr type="primFontSz" for="des" ptType="node" op="equ" val="65"/>
          <dgm:constr type="l" for="ch" forName="Parent" refType="w" fact="0.2145"/>
          <dgm:constr type="t" for="ch" forName="Parent" refType="h" fact="0.039"/>
          <dgm:constr type="w" for="ch" forName="Parent" refType="w" fact="0.6861"/>
          <dgm:constr type="h" for="ch" forName="Parent" refType="h" fact="0.856"/>
          <dgm:constr type="l" for="ch" forName="Accent8" refType="w" fact="0.0262"/>
          <dgm:constr type="t" for="ch" forName="Accent8" refType="h" fact="0.6434"/>
          <dgm:constr type="w" for="ch" forName="Accent8" refType="w" fact="0.138"/>
          <dgm:constr type="h" for="ch" forName="Accent8" refType="h" fact="0.1721"/>
          <dgm:constr type="l" for="ch" forName="Accent1" refType="w" fact="0.6059"/>
          <dgm:constr type="t" for="ch" forName="Accent1" refType="h" fact="0"/>
          <dgm:constr type="w" for="ch" forName="Accent1" refType="w" fact="0.0763"/>
          <dgm:constr type="h" for="ch" forName="Accent1" refType="h" fact="0.0952"/>
          <dgm:constr type="l" for="ch" forName="Accent2" refType="w" fact="0.4253"/>
          <dgm:constr type="t" for="ch" forName="Accent2" refType="h" fact="0.8314"/>
          <dgm:constr type="w" for="ch" forName="Accent2" refType="w" fact="0.0553"/>
          <dgm:constr type="h" for="ch" forName="Accent2" refType="h" fact="0.069"/>
          <dgm:constr type="l" for="ch" forName="Accent3" refType="w" fact="0.9447"/>
          <dgm:constr type="t" for="ch" forName="Accent3" refType="h" fact="0.3864"/>
          <dgm:constr type="w" for="ch" forName="Accent3" refType="w" fact="0.0553"/>
          <dgm:constr type="h" for="ch" forName="Accent3" refType="h" fact="0.069"/>
          <dgm:constr type="l" for="ch" forName="Child1" refType="w" fact="0"/>
          <dgm:constr type="t" for="ch" forName="Child1" refType="h" fact="0.1935"/>
          <dgm:constr type="w" for="ch" forName="Child1" refType="w" fact="0.2789"/>
          <dgm:constr type="h" for="ch" forName="Child1" refType="h" fact="0.3479"/>
          <dgm:constr type="l" for="ch" forName="Accent4" refType="w" fact="0.6803"/>
          <dgm:constr type="t" for="ch" forName="Accent4" refType="h" fact="0.9048"/>
          <dgm:constr type="w" for="ch" forName="Accent4" refType="w" fact="0.0763"/>
          <dgm:constr type="h" for="ch" forName="Accent4" refType="h" fact="0.0952"/>
          <dgm:constr type="l" for="ch" forName="Accent7" refType="w" fact="0.5287"/>
          <dgm:constr type="t" for="ch" forName="Accent7" refType="h" fact="0.1383"/>
          <dgm:constr type="w" for="ch" forName="Accent7" refType="w" fact="0.0763"/>
          <dgm:constr type="h" for="ch" forName="Accent7" refType="h" fact="0.0952"/>
          <dgm:constr type="l" for="ch" forName="Accent5" refType="w" fact="0.4409"/>
          <dgm:constr type="t" for="ch" forName="Accent5" refType="h" fact="0.1353"/>
          <dgm:constr type="w" for="ch" forName="Accent5" refType="w" fact="0.0553"/>
          <dgm:constr type="h" for="ch" forName="Accent5" refType="h" fact="0.069"/>
          <dgm:constr type="l" for="ch" forName="Accent6" refType="w" fact="0.2668"/>
          <dgm:constr type="t" for="ch" forName="Accent6" refType="h" fact="0.53"/>
          <dgm:constr type="w" for="ch" forName="Accent6" refType="w" fact="0.0553"/>
          <dgm:constr type="h" for="ch" forName="Accent6" refType="h" fact="0.069"/>
        </dgm:constrLst>
      </dgm:if>
      <dgm:if name="Name4" axis="ch ch" ptType="node node" func="cnt" op="equ" val="2">
        <dgm:alg type="composite">
          <dgm:param type="ar" val="1.592"/>
        </dgm:alg>
        <dgm:constrLst>
          <dgm:constr type="primFontSz" for="des" ptType="node" op="equ" val="65"/>
          <dgm:constr type="l" for="ch" forName="Parent" refType="w" fact="0.1886"/>
          <dgm:constr type="t" for="ch" forName="Parent" refType="h" fact="0.039"/>
          <dgm:constr type="w" for="ch" forName="Parent" refType="w" fact="0.5377"/>
          <dgm:constr type="h" for="ch" forName="Parent" refType="h" fact="0.856"/>
          <dgm:constr type="l" for="ch" forName="Accent8" refType="w" fact="0.0411"/>
          <dgm:constr type="t" for="ch" forName="Accent8" refType="h" fact="0.6434"/>
          <dgm:constr type="w" for="ch" forName="Accent8" refType="w" fact="0.1081"/>
          <dgm:constr type="h" for="ch" forName="Accent8" refType="h" fact="0.1721"/>
          <dgm:constr type="l" for="ch" forName="Accent1" refType="w" fact="0.4954"/>
          <dgm:constr type="t" for="ch" forName="Accent1" refType="h" fact="0"/>
          <dgm:constr type="w" for="ch" forName="Accent1" refType="w" fact="0.0598"/>
          <dgm:constr type="h" for="ch" forName="Accent1" refType="h" fact="0.0952"/>
          <dgm:constr type="l" for="ch" forName="Accent2" refType="w" fact="0.3538"/>
          <dgm:constr type="t" for="ch" forName="Accent2" refType="h" fact="0.8314"/>
          <dgm:constr type="w" for="ch" forName="Accent2" refType="w" fact="0.0433"/>
          <dgm:constr type="h" for="ch" forName="Accent2" refType="h" fact="0.069"/>
          <dgm:constr type="l" for="ch" forName="Accent3" refType="w" fact="0.7609"/>
          <dgm:constr type="t" for="ch" forName="Accent3" refType="h" fact="0.3864"/>
          <dgm:constr type="w" for="ch" forName="Accent3" refType="w" fact="0.0433"/>
          <dgm:constr type="h" for="ch" forName="Accent3" refType="h" fact="0.069"/>
          <dgm:constr type="l" for="ch" forName="Accent9" refType="w" fact="0.6839"/>
          <dgm:constr type="t" for="ch" forName="Accent9" refType="h" fact="0.27"/>
          <dgm:constr type="w" for="ch" forName="Accent9" refType="w" fact="0.0598"/>
          <dgm:constr type="h" for="ch" forName="Accent9" refType="h" fact="0.0952"/>
          <dgm:constr type="l" for="ch" forName="Child1" refType="w" fact="0.0206"/>
          <dgm:constr type="t" for="ch" forName="Child1" refType="h" fact="0.1935"/>
          <dgm:constr type="w" for="ch" forName="Child1" refType="w" fact="0.2186"/>
          <dgm:constr type="h" for="ch" forName="Child1" refType="h" fact="0.3479"/>
          <dgm:constr type="l" for="ch" forName="Child2" refType="w" fact="0.7814"/>
          <dgm:constr type="t" for="ch" forName="Child2" refType="h" fact="0.0298"/>
          <dgm:constr type="w" for="ch" forName="Child2" refType="w" fact="0.2186"/>
          <dgm:constr type="h" for="ch" forName="Child2" refType="h" fact="0.3479"/>
          <dgm:constr type="l" for="ch" forName="Accent10" refType="w" fact="0"/>
          <dgm:constr type="t" for="ch" forName="Accent10" refType="h" fact="0.8482"/>
          <dgm:constr type="w" for="ch" forName="Accent10" refType="w" fact="0.0433"/>
          <dgm:constr type="h" for="ch" forName="Accent10" refType="h" fact="0.069"/>
          <dgm:constr type="l" for="ch" forName="Accent11" refType="w" fact="0.4318"/>
          <dgm:constr type="t" for="ch" forName="Accent11" refType="h" fact="0.75"/>
          <dgm:constr type="w" for="ch" forName="Accent11" refType="w" fact="0.0433"/>
          <dgm:constr type="h" for="ch" forName="Accent11" refType="h" fact="0.069"/>
          <dgm:constr type="l" for="ch" forName="Accent7" refType="w" fact="0.4349"/>
          <dgm:constr type="t" for="ch" forName="Accent7" refType="h" fact="0.1383"/>
          <dgm:constr type="w" for="ch" forName="Accent7" refType="w" fact="0.0598"/>
          <dgm:constr type="h" for="ch" forName="Accent7" refType="h" fact="0.0952"/>
          <dgm:constr type="l" for="ch" forName="Accent5" refType="w" fact="0.3661"/>
          <dgm:constr type="t" for="ch" forName="Accent5" refType="h" fact="0.1353"/>
          <dgm:constr type="w" for="ch" forName="Accent5" refType="w" fact="0.0433"/>
          <dgm:constr type="h" for="ch" forName="Accent5" refType="h" fact="0.069"/>
          <dgm:constr type="l" for="ch" forName="Accent6" refType="w" fact="0.2296"/>
          <dgm:constr type="t" for="ch" forName="Accent6" refType="h" fact="0.53"/>
          <dgm:constr type="w" for="ch" forName="Accent6" refType="w" fact="0.0433"/>
          <dgm:constr type="h" for="ch" forName="Accent6" refType="h" fact="0.069"/>
          <dgm:constr type="l" for="ch" forName="Accent4" refType="w" fact="0.5537"/>
          <dgm:constr type="t" for="ch" forName="Accent4" refType="h" fact="0.9048"/>
          <dgm:constr type="w" for="ch" forName="Accent4" refType="w" fact="0.0598"/>
          <dgm:constr type="h" for="ch" forName="Accent4" refType="h" fact="0.0952"/>
        </dgm:constrLst>
      </dgm:if>
      <dgm:if name="Name5" axis="ch ch" ptType="node node" func="cnt" op="equ" val="3">
        <dgm:alg type="composite">
          <dgm:param type="ar" val="1.7557"/>
        </dgm:alg>
        <dgm:constrLst>
          <dgm:constr type="primFontSz" for="des" ptType="node" op="equ" val="65"/>
          <dgm:constr type="l" for="ch" forName="Parent" refType="w" fact="0.171"/>
          <dgm:constr type="t" for="ch" forName="Parent" refType="h" fact="0.039"/>
          <dgm:constr type="w" for="ch" forName="Parent" refType="w" fact="0.4875"/>
          <dgm:constr type="h" for="ch" forName="Parent" refType="h" fact="0.856"/>
          <dgm:constr type="l" for="ch" forName="Accent8" refType="w" fact="0.0373"/>
          <dgm:constr type="t" for="ch" forName="Accent8" refType="h" fact="0.6434"/>
          <dgm:constr type="w" for="ch" forName="Accent8" refType="w" fact="0.098"/>
          <dgm:constr type="h" for="ch" forName="Accent8" refType="h" fact="0.1721"/>
          <dgm:constr type="l" for="ch" forName="Accent1" refType="w" fact="0.4492"/>
          <dgm:constr type="t" for="ch" forName="Accent1" refType="h" fact="0"/>
          <dgm:constr type="w" for="ch" forName="Accent1" refType="w" fact="0.0542"/>
          <dgm:constr type="h" for="ch" forName="Accent1" refType="h" fact="0.0952"/>
          <dgm:constr type="l" for="ch" forName="Accent2" refType="w" fact="0.3209"/>
          <dgm:constr type="t" for="ch" forName="Accent2" refType="h" fact="0.8314"/>
          <dgm:constr type="w" for="ch" forName="Accent2" refType="w" fact="0.0393"/>
          <dgm:constr type="h" for="ch" forName="Accent2" refType="h" fact="0.069"/>
          <dgm:constr type="l" for="ch" forName="Accent3" refType="w" fact="0.6899"/>
          <dgm:constr type="t" for="ch" forName="Accent3" refType="h" fact="0.3864"/>
          <dgm:constr type="w" for="ch" forName="Accent3" refType="w" fact="0.0393"/>
          <dgm:constr type="h" for="ch" forName="Accent3" refType="h" fact="0.069"/>
          <dgm:constr type="l" for="ch" forName="Accent9" refType="w" fact="0.6201"/>
          <dgm:constr type="t" for="ch" forName="Accent9" refType="h" fact="0.27"/>
          <dgm:constr type="w" for="ch" forName="Accent9" refType="w" fact="0.0542"/>
          <dgm:constr type="h" for="ch" forName="Accent9" refType="h" fact="0.0952"/>
          <dgm:constr type="l" for="ch" forName="Child1" refType="w" fact="0.0186"/>
          <dgm:constr type="t" for="ch" forName="Child1" refType="h" fact="0.1935"/>
          <dgm:constr type="w" for="ch" forName="Child1" refType="w" fact="0.1982"/>
          <dgm:constr type="h" for="ch" forName="Child1" refType="h" fact="0.3479"/>
          <dgm:constr type="l" for="ch" forName="Child2" refType="w" fact="0.7086"/>
          <dgm:constr type="t" for="ch" forName="Child2" refType="h" fact="0.0298"/>
          <dgm:constr type="w" for="ch" forName="Child2" refType="w" fact="0.1982"/>
          <dgm:constr type="h" for="ch" forName="Child2" refType="h" fact="0.3479"/>
          <dgm:constr type="l" for="ch" forName="Child3" refType="w" fact="0.8018"/>
          <dgm:constr type="t" for="ch" forName="Child3" refType="h" fact="0.6312"/>
          <dgm:constr type="w" for="ch" forName="Child3" refType="w" fact="0.1982"/>
          <dgm:constr type="h" for="ch" forName="Child3" refType="h" fact="0.3479"/>
          <dgm:constr type="l" for="ch" forName="Accent12" refType="w" fact="0.7459"/>
          <dgm:constr type="t" for="ch" forName="Accent12" refType="h" fact="0.619"/>
          <dgm:constr type="w" for="ch" forName="Accent12" refType="w" fact="0.0393"/>
          <dgm:constr type="h" for="ch" forName="Accent12" refType="h" fact="0.069"/>
          <dgm:constr type="l" for="ch" forName="Accent4" refType="w" fact="0.5021"/>
          <dgm:constr type="t" for="ch" forName="Accent4" refType="h" fact="0.9048"/>
          <dgm:constr type="w" for="ch" forName="Accent4" refType="w" fact="0.0542"/>
          <dgm:constr type="h" for="ch" forName="Accent4" refType="h" fact="0.0952"/>
          <dgm:constr type="l" for="ch" forName="Accent10" refType="w" fact="0"/>
          <dgm:constr type="t" for="ch" forName="Accent10" refType="h" fact="0.8482"/>
          <dgm:constr type="w" for="ch" forName="Accent10" refType="w" fact="0.0393"/>
          <dgm:constr type="h" for="ch" forName="Accent10" refType="h" fact="0.069"/>
          <dgm:constr type="l" for="ch" forName="Accent11" refType="w" fact="0.3916"/>
          <dgm:constr type="t" for="ch" forName="Accent11" refType="h" fact="0.75"/>
          <dgm:constr type="w" for="ch" forName="Accent11" refType="w" fact="0.0393"/>
          <dgm:constr type="h" for="ch" forName="Accent11" refType="h" fact="0.069"/>
          <dgm:constr type="l" for="ch" forName="Accent7" refType="w" fact="0.3944"/>
          <dgm:constr type="t" for="ch" forName="Accent7" refType="h" fact="0.1383"/>
          <dgm:constr type="w" for="ch" forName="Accent7" refType="w" fact="0.0542"/>
          <dgm:constr type="h" for="ch" forName="Accent7" refType="h" fact="0.0952"/>
          <dgm:constr type="l" for="ch" forName="Accent5" refType="w" fact="0.3319"/>
          <dgm:constr type="t" for="ch" forName="Accent5" refType="h" fact="0.1353"/>
          <dgm:constr type="w" for="ch" forName="Accent5" refType="w" fact="0.0393"/>
          <dgm:constr type="h" for="ch" forName="Accent5" refType="h" fact="0.069"/>
          <dgm:constr type="l" for="ch" forName="Accent6" refType="w" fact="0.2082"/>
          <dgm:constr type="t" for="ch" forName="Accent6" refType="h" fact="0.53"/>
          <dgm:constr type="w" for="ch" forName="Accent6" refType="w" fact="0.0393"/>
          <dgm:constr type="h" for="ch" forName="Accent6" refType="h" fact="0.069"/>
        </dgm:constrLst>
      </dgm:if>
      <dgm:if name="Name6" axis="ch ch" ptType="node node" func="cnt" op="equ" val="4">
        <dgm:alg type="composite">
          <dgm:param type="ar" val="1.3749"/>
        </dgm:alg>
        <dgm:constrLst>
          <dgm:constr type="primFontSz" for="des" ptType="node" op="equ" val="65"/>
          <dgm:constr type="l" for="ch" forName="Parent" refType="w" fact="0.171"/>
          <dgm:constr type="t" for="ch" forName="Parent" refType="h" fact="0.0306"/>
          <dgm:constr type="w" for="ch" forName="Parent" refType="w" fact="0.4875"/>
          <dgm:constr type="h" for="ch" forName="Parent" refType="h" fact="0.6703"/>
          <dgm:constr type="l" for="ch" forName="Accent8" refType="w" fact="0.0373"/>
          <dgm:constr type="t" for="ch" forName="Accent8" refType="h" fact="0.5038"/>
          <dgm:constr type="w" for="ch" forName="Accent8" refType="w" fact="0.098"/>
          <dgm:constr type="h" for="ch" forName="Accent8" refType="h" fact="0.1348"/>
          <dgm:constr type="l" for="ch" forName="Accent1" refType="w" fact="0.4492"/>
          <dgm:constr type="t" for="ch" forName="Accent1" refType="h" fact="0"/>
          <dgm:constr type="w" for="ch" forName="Accent1" refType="w" fact="0.0542"/>
          <dgm:constr type="h" for="ch" forName="Accent1" refType="h" fact="0.0746"/>
          <dgm:constr type="l" for="ch" forName="Accent2" refType="w" fact="0.3209"/>
          <dgm:constr type="t" for="ch" forName="Accent2" refType="h" fact="0.6511"/>
          <dgm:constr type="w" for="ch" forName="Accent2" refType="w" fact="0.0393"/>
          <dgm:constr type="h" for="ch" forName="Accent2" refType="h" fact="0.054"/>
          <dgm:constr type="l" for="ch" forName="Accent3" refType="w" fact="0.6899"/>
          <dgm:constr type="t" for="ch" forName="Accent3" refType="h" fact="0.3026"/>
          <dgm:constr type="w" for="ch" forName="Accent3" refType="w" fact="0.0393"/>
          <dgm:constr type="h" for="ch" forName="Accent3" refType="h" fact="0.054"/>
          <dgm:constr type="l" for="ch" forName="Accent9" refType="w" fact="0.6201"/>
          <dgm:constr type="t" for="ch" forName="Accent9" refType="h" fact="0.2115"/>
          <dgm:constr type="w" for="ch" forName="Accent9" refType="w" fact="0.0542"/>
          <dgm:constr type="h" for="ch" forName="Accent9" refType="h" fact="0.0746"/>
          <dgm:constr type="l" for="ch" forName="Child1" refType="w" fact="0.0186"/>
          <dgm:constr type="t" for="ch" forName="Child1" refType="h" fact="0.1515"/>
          <dgm:constr type="w" for="ch" forName="Child1" refType="w" fact="0.1982"/>
          <dgm:constr type="h" for="ch" forName="Child1" refType="h" fact="0.2725"/>
          <dgm:constr type="l" for="ch" forName="Child2" refType="w" fact="0.7086"/>
          <dgm:constr type="t" for="ch" forName="Child2" refType="h" fact="0.0233"/>
          <dgm:constr type="w" for="ch" forName="Child2" refType="w" fact="0.1982"/>
          <dgm:constr type="h" for="ch" forName="Child2" refType="h" fact="0.2725"/>
          <dgm:constr type="l" for="ch" forName="Child3" refType="w" fact="0.8018"/>
          <dgm:constr type="t" for="ch" forName="Child3" refType="h" fact="0.4943"/>
          <dgm:constr type="w" for="ch" forName="Child3" refType="w" fact="0.1982"/>
          <dgm:constr type="h" for="ch" forName="Child3" refType="h" fact="0.2725"/>
          <dgm:constr type="l" for="ch" forName="Accent12" refType="w" fact="0.7459"/>
          <dgm:constr type="t" for="ch" forName="Accent12" refType="h" fact="0.4848"/>
          <dgm:constr type="w" for="ch" forName="Accent12" refType="w" fact="0.0393"/>
          <dgm:constr type="h" for="ch" forName="Accent12" refType="h" fact="0.054"/>
          <dgm:constr type="l" for="ch" forName="Accent4" refType="w" fact="0.5021"/>
          <dgm:constr type="t" for="ch" forName="Accent4" refType="h" fact="0.7085"/>
          <dgm:constr type="w" for="ch" forName="Accent4" refType="w" fact="0.0542"/>
          <dgm:constr type="h" for="ch" forName="Accent4" refType="h" fact="0.0746"/>
          <dgm:constr type="l" for="ch" forName="Accent10" refType="w" fact="0"/>
          <dgm:constr type="t" for="ch" forName="Accent10" refType="h" fact="0.6642"/>
          <dgm:constr type="w" for="ch" forName="Accent10" refType="w" fact="0.0393"/>
          <dgm:constr type="h" for="ch" forName="Accent10" refType="h" fact="0.054"/>
          <dgm:constr type="l" for="ch" forName="Accent11" refType="w" fact="0.3916"/>
          <dgm:constr type="t" for="ch" forName="Accent11" refType="h" fact="0.5873"/>
          <dgm:constr type="w" for="ch" forName="Accent11" refType="w" fact="0.0393"/>
          <dgm:constr type="h" for="ch" forName="Accent11" refType="h" fact="0.054"/>
          <dgm:constr type="l" for="ch" forName="Accent7" refType="w" fact="0.3944"/>
          <dgm:constr type="t" for="ch" forName="Accent7" refType="h" fact="0.1083"/>
          <dgm:constr type="w" for="ch" forName="Accent7" refType="w" fact="0.0542"/>
          <dgm:constr type="h" for="ch" forName="Accent7" refType="h" fact="0.0746"/>
          <dgm:constr type="l" for="ch" forName="Accent5" refType="w" fact="0.3319"/>
          <dgm:constr type="t" for="ch" forName="Accent5" refType="h" fact="0.1059"/>
          <dgm:constr type="w" for="ch" forName="Accent5" refType="w" fact="0.0393"/>
          <dgm:constr type="h" for="ch" forName="Accent5" refType="h" fact="0.054"/>
          <dgm:constr type="l" for="ch" forName="Accent6" refType="w" fact="0.2082"/>
          <dgm:constr type="t" for="ch" forName="Accent6" refType="h" fact="0.4151"/>
          <dgm:constr type="w" for="ch" forName="Accent6" refType="w" fact="0.0393"/>
          <dgm:constr type="h" for="ch" forName="Accent6" refType="h" fact="0.054"/>
          <dgm:constr type="l" for="ch" forName="Child4" refType="w" fact="0.2329"/>
          <dgm:constr type="t" for="ch" forName="Child4" refType="h" fact="0.7275"/>
          <dgm:constr type="w" for="ch" forName="Child4" refType="w" fact="0.1982"/>
          <dgm:constr type="h" for="ch" forName="Child4" refType="h" fact="0.2725"/>
          <dgm:constr type="l" for="ch" forName="Accent13" refType="w" fact="0.4099"/>
          <dgm:constr type="t" for="ch" forName="Accent13" refType="h" fact="0.7183"/>
          <dgm:constr type="w" for="ch" forName="Accent13" refType="w" fact="0.0393"/>
          <dgm:constr type="h" for="ch" forName="Accent13" refType="h" fact="0.054"/>
        </dgm:constrLst>
      </dgm:if>
      <dgm:else name="Name7">
        <dgm:alg type="composite">
          <dgm:param type="ar" val="1.1477"/>
        </dgm:alg>
        <dgm:constrLst>
          <dgm:constr type="primFontSz" for="des" ptType="node" op="equ" val="65"/>
          <dgm:constr type="l" for="ch" forName="Parent" refType="w" fact="0.171"/>
          <dgm:constr type="t" for="ch" forName="Parent" refType="h" fact="0.1907"/>
          <dgm:constr type="w" for="ch" forName="Parent" refType="w" fact="0.4875"/>
          <dgm:constr type="h" for="ch" forName="Parent" refType="h" fact="0.5596"/>
          <dgm:constr type="l" for="ch" forName="Accent8" refType="w" fact="0.0373"/>
          <dgm:constr type="t" for="ch" forName="Accent8" refType="h" fact="0.5858"/>
          <dgm:constr type="w" for="ch" forName="Accent8" refType="w" fact="0.098"/>
          <dgm:constr type="h" for="ch" forName="Accent8" refType="h" fact="0.1125"/>
          <dgm:constr type="l" for="ch" forName="Accent1" refType="w" fact="0.4492"/>
          <dgm:constr type="t" for="ch" forName="Accent1" refType="h" fact="0.1652"/>
          <dgm:constr type="w" for="ch" forName="Accent1" refType="w" fact="0.0542"/>
          <dgm:constr type="h" for="ch" forName="Accent1" refType="h" fact="0.0623"/>
          <dgm:constr type="l" for="ch" forName="Accent2" refType="w" fact="0.3209"/>
          <dgm:constr type="t" for="ch" forName="Accent2" refType="h" fact="0.7087"/>
          <dgm:constr type="w" for="ch" forName="Accent2" refType="w" fact="0.0393"/>
          <dgm:constr type="h" for="ch" forName="Accent2" refType="h" fact="0.0451"/>
          <dgm:constr type="l" for="ch" forName="Accent3" refType="w" fact="0.6899"/>
          <dgm:constr type="t" for="ch" forName="Accent3" refType="h" fact="0.4178"/>
          <dgm:constr type="w" for="ch" forName="Accent3" refType="w" fact="0.0393"/>
          <dgm:constr type="h" for="ch" forName="Accent3" refType="h" fact="0.0451"/>
          <dgm:constr type="l" for="ch" forName="Accent9" refType="w" fact="0.6201"/>
          <dgm:constr type="t" for="ch" forName="Accent9" refType="h" fact="0.3417"/>
          <dgm:constr type="w" for="ch" forName="Accent9" refType="w" fact="0.0542"/>
          <dgm:constr type="h" for="ch" forName="Accent9" refType="h" fact="0.0623"/>
          <dgm:constr type="l" for="ch" forName="Child1" refType="w" fact="0.0186"/>
          <dgm:constr type="t" for="ch" forName="Child1" refType="h" fact="0.2917"/>
          <dgm:constr type="w" for="ch" forName="Child1" refType="w" fact="0.1982"/>
          <dgm:constr type="h" for="ch" forName="Child1" refType="h" fact="0.2275"/>
          <dgm:constr type="l" for="ch" forName="Child2" refType="w" fact="0.7086"/>
          <dgm:constr type="t" for="ch" forName="Child2" refType="h" fact="0.1847"/>
          <dgm:constr type="w" for="ch" forName="Child2" refType="w" fact="0.1982"/>
          <dgm:constr type="h" for="ch" forName="Child2" refType="h" fact="0.2275"/>
          <dgm:constr type="l" for="ch" forName="Child3" refType="w" fact="0.8018"/>
          <dgm:constr type="t" for="ch" forName="Child3" refType="h" fact="0.5778"/>
          <dgm:constr type="w" for="ch" forName="Child3" refType="w" fact="0.1982"/>
          <dgm:constr type="h" for="ch" forName="Child3" refType="h" fact="0.2275"/>
          <dgm:constr type="l" for="ch" forName="Accent12" refType="w" fact="0.7459"/>
          <dgm:constr type="t" for="ch" forName="Accent12" refType="h" fact="0.5699"/>
          <dgm:constr type="w" for="ch" forName="Accent12" refType="w" fact="0.0393"/>
          <dgm:constr type="h" for="ch" forName="Accent12" refType="h" fact="0.0451"/>
          <dgm:constr type="l" for="ch" forName="Accent4" refType="w" fact="0.5021"/>
          <dgm:constr type="t" for="ch" forName="Accent4" refType="h" fact="0.7567"/>
          <dgm:constr type="w" for="ch" forName="Accent4" refType="w" fact="0.0542"/>
          <dgm:constr type="h" for="ch" forName="Accent4" refType="h" fact="0.0623"/>
          <dgm:constr type="l" for="ch" forName="Accent10" refType="w" fact="0"/>
          <dgm:constr type="t" for="ch" forName="Accent10" refType="h" fact="0.7197"/>
          <dgm:constr type="w" for="ch" forName="Accent10" refType="w" fact="0.0393"/>
          <dgm:constr type="h" for="ch" forName="Accent10" refType="h" fact="0.0451"/>
          <dgm:constr type="l" for="ch" forName="Accent11" refType="w" fact="0.3916"/>
          <dgm:constr type="t" for="ch" forName="Accent11" refType="h" fact="0.6555"/>
          <dgm:constr type="w" for="ch" forName="Accent11" refType="w" fact="0.0393"/>
          <dgm:constr type="h" for="ch" forName="Accent11" refType="h" fact="0.0451"/>
          <dgm:constr type="l" for="ch" forName="Accent7" refType="w" fact="0.3944"/>
          <dgm:constr type="t" for="ch" forName="Accent7" refType="h" fact="0.2556"/>
          <dgm:constr type="w" for="ch" forName="Accent7" refType="w" fact="0.0542"/>
          <dgm:constr type="h" for="ch" forName="Accent7" refType="h" fact="0.0623"/>
          <dgm:constr type="l" for="ch" forName="Accent5" refType="w" fact="0.3319"/>
          <dgm:constr type="t" for="ch" forName="Accent5" refType="h" fact="0.2536"/>
          <dgm:constr type="w" for="ch" forName="Accent5" refType="w" fact="0.0393"/>
          <dgm:constr type="h" for="ch" forName="Accent5" refType="h" fact="0.0451"/>
          <dgm:constr type="l" for="ch" forName="Accent6" refType="w" fact="0.2082"/>
          <dgm:constr type="t" for="ch" forName="Accent6" refType="h" fact="0.5117"/>
          <dgm:constr type="w" for="ch" forName="Accent6" refType="w" fact="0.0393"/>
          <dgm:constr type="h" for="ch" forName="Accent6" refType="h" fact="0.0451"/>
          <dgm:constr type="l" for="ch" forName="Child5" refType="w" fact="0.4219"/>
          <dgm:constr type="t" for="ch" forName="Child5" refType="h" fact="0"/>
          <dgm:constr type="w" for="ch" forName="Child5" refType="w" fact="0.1982"/>
          <dgm:constr type="h" for="ch" forName="Child5" refType="h" fact="0.2275"/>
          <dgm:constr type="l" for="ch" forName="Child4" refType="w" fact="0.2329"/>
          <dgm:constr type="t" for="ch" forName="Child4" refType="h" fact="0.7725"/>
          <dgm:constr type="w" for="ch" forName="Child4" refType="w" fact="0.1982"/>
          <dgm:constr type="h" for="ch" forName="Child4" refType="h" fact="0.2275"/>
          <dgm:constr type="l" for="ch" forName="Accent15" refType="w" fact="0.1775"/>
          <dgm:constr type="t" for="ch" forName="Accent15" refType="h" fact="0.2466"/>
          <dgm:constr type="w" for="ch" forName="Accent15" refType="w" fact="0.0393"/>
          <dgm:constr type="h" for="ch" forName="Accent15" refType="h" fact="0.0451"/>
          <dgm:constr type="l" for="ch" forName="Accent16" refType="w" fact="0.6351"/>
          <dgm:constr type="t" for="ch" forName="Accent16" refType="h" fact="0.056"/>
          <dgm:constr type="w" for="ch" forName="Accent16" refType="w" fact="0.0393"/>
          <dgm:constr type="h" for="ch" forName="Accent16" refType="h" fact="0.0451"/>
          <dgm:constr type="l" for="ch" forName="Accent13" refType="w" fact="0.4099"/>
          <dgm:constr type="t" for="ch" forName="Accent13" refType="h" fact="0.7648"/>
          <dgm:constr type="w" for="ch" forName="Accent13" refType="w" fact="0.0393"/>
          <dgm:constr type="h" for="ch" forName="Accent13" refType="h" fact="0.0451"/>
        </dgm:constrLst>
      </dgm:else>
    </dgm:choose>
    <dgm:forEach name="wrapper" axis="self" ptType="parTrans">
      <dgm:forEach name="accentRepeat1" axis="self">
        <dgm:layoutNode name="AccentHold1" styleLbl="node1">
          <dgm:alg type="sp"/>
          <dgm:shape xmlns:r="http://schemas.openxmlformats.org/officeDocument/2006/relationships" type="ellipse" r:blip="">
            <dgm:adjLst/>
          </dgm:shape>
          <dgm:presOf/>
        </dgm:layoutNode>
      </dgm:forEach>
      <dgm:forEach name="accentRepeat2" axis="self">
        <dgm:layoutNode name="AccentHold2" styleLbl="node1">
          <dgm:alg type="sp"/>
          <dgm:shape xmlns:r="http://schemas.openxmlformats.org/officeDocument/2006/relationships" type="ellipse" r:blip="">
            <dgm:adjLst/>
          </dgm:shape>
          <dgm:presOf/>
        </dgm:layoutNode>
      </dgm:forEach>
      <dgm:forEach name="accentRepeat3" axis="self">
        <dgm:layoutNode name="AccentHold3" styleLbl="node1">
          <dgm:alg type="sp"/>
          <dgm:shape xmlns:r="http://schemas.openxmlformats.org/officeDocument/2006/relationships" type="ellipse" r:blip="">
            <dgm:adjLst/>
          </dgm:shape>
          <dgm:presOf/>
        </dgm:layoutNode>
      </dgm:forEach>
    </dgm:forEach>
    <dgm:forEach name="Name8" axis="ch" ptType="node" cnt="1">
      <dgm:layoutNode name="Parent" styleLbl="node0">
        <dgm:varLst>
          <dgm:chMax val="5"/>
          <dgm:chPref val="5"/>
        </dgm:varLst>
        <dgm:alg type="tx"/>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ch" ptType="node" func="cnt" op="lte" val="4">
          <dgm:layoutNode name="Accent1" styleLbl="node1">
            <dgm:alg type="sp"/>
            <dgm:shape xmlns:r="http://schemas.openxmlformats.org/officeDocument/2006/relationships" type="ellipse" r:blip="">
              <dgm:adjLst/>
            </dgm:shape>
            <dgm:presOf/>
            <dgm:constrLst/>
          </dgm:layoutNode>
        </dgm:if>
        <dgm:else name="Name11"/>
      </dgm:choose>
      <dgm:layoutNode name="Accent2" styleLbl="node1">
        <dgm:alg type="sp"/>
        <dgm:shape xmlns:r="http://schemas.openxmlformats.org/officeDocument/2006/relationships" type="ellipse" r:blip="">
          <dgm:adjLst/>
        </dgm:shape>
        <dgm:presOf/>
        <dgm:constrLst/>
      </dgm:layoutNode>
      <dgm:layoutNode name="Accent3" styleLbl="node1">
        <dgm:alg type="sp"/>
        <dgm:shape xmlns:r="http://schemas.openxmlformats.org/officeDocument/2006/relationships" type="ellipse" r:blip="">
          <dgm:adjLst/>
        </dgm:shape>
        <dgm:presOf/>
        <dgm:constrLst/>
      </dgm:layoutNode>
      <dgm:layoutNode name="Accent4" styleLbl="node1">
        <dgm:alg type="sp"/>
        <dgm:shape xmlns:r="http://schemas.openxmlformats.org/officeDocument/2006/relationships" type="ellipse" r:blip="">
          <dgm:adjLst/>
        </dgm:shape>
        <dgm:presOf/>
        <dgm:constrLst/>
      </dgm:layoutNode>
      <dgm:layoutNode name="Accent5" styleLbl="node1">
        <dgm:alg type="sp"/>
        <dgm:shape xmlns:r="http://schemas.openxmlformats.org/officeDocument/2006/relationships" type="ellipse" r:blip="">
          <dgm:adjLst/>
        </dgm:shape>
        <dgm:presOf/>
        <dgm:constrLst/>
      </dgm:layoutNode>
      <dgm:layoutNode name="Accent6" styleLbl="node1">
        <dgm:alg type="sp"/>
        <dgm:shape xmlns:r="http://schemas.openxmlformats.org/officeDocument/2006/relationships" type="ellipse" r:blip="">
          <dgm:adjLst/>
        </dgm:shape>
        <dgm:presOf/>
        <dgm:constrLst/>
      </dgm:layoutNode>
    </dgm:forEach>
    <dgm:forEach name="Name12" axis="ch ch" ptType="node node" st="1 1" cnt="1 1">
      <dgm:layoutNode name="Child1"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7">
        <dgm:alg type="sp"/>
        <dgm:shape xmlns:r="http://schemas.openxmlformats.org/officeDocument/2006/relationships" r:blip="">
          <dgm:adjLst/>
        </dgm:shape>
        <dgm:presOf/>
        <dgm:constrLst/>
        <dgm:forEach name="Name13" ref="accentRepeat1"/>
      </dgm:layoutNode>
      <dgm:layoutNode name="Accent8">
        <dgm:alg type="sp"/>
        <dgm:shape xmlns:r="http://schemas.openxmlformats.org/officeDocument/2006/relationships" r:blip="">
          <dgm:adjLst/>
        </dgm:shape>
        <dgm:presOf/>
        <dgm:constrLst/>
        <dgm:forEach name="Name14" ref="accentRepeat2"/>
      </dgm:layoutNode>
    </dgm:forEach>
    <dgm:forEach name="Name15" axis="ch ch" ptType="node node" st="1 2" cnt="1 1">
      <dgm:layoutNode name="Child2"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9">
        <dgm:alg type="sp"/>
        <dgm:shape xmlns:r="http://schemas.openxmlformats.org/officeDocument/2006/relationships" r:blip="">
          <dgm:adjLst/>
        </dgm:shape>
        <dgm:presOf/>
        <dgm:constrLst/>
        <dgm:forEach name="Name16" ref="accentRepeat1"/>
      </dgm:layoutNode>
      <dgm:layoutNode name="Accent10">
        <dgm:alg type="sp"/>
        <dgm:shape xmlns:r="http://schemas.openxmlformats.org/officeDocument/2006/relationships" r:blip="">
          <dgm:adjLst/>
        </dgm:shape>
        <dgm:presOf/>
        <dgm:constrLst/>
        <dgm:forEach name="Name17" ref="accentRepeat2"/>
      </dgm:layoutNode>
      <dgm:layoutNode name="Accent11">
        <dgm:alg type="sp"/>
        <dgm:shape xmlns:r="http://schemas.openxmlformats.org/officeDocument/2006/relationships" r:blip="">
          <dgm:adjLst/>
        </dgm:shape>
        <dgm:presOf/>
        <dgm:constrLst/>
        <dgm:forEach name="Name18" ref="accentRepeat3"/>
      </dgm:layoutNode>
    </dgm:forEach>
    <dgm:forEach name="Name19" axis="ch ch" ptType="node node" st="1 3" cnt="1 1">
      <dgm:layoutNode name="Child3"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2">
        <dgm:alg type="sp"/>
        <dgm:shape xmlns:r="http://schemas.openxmlformats.org/officeDocument/2006/relationships" r:blip="">
          <dgm:adjLst/>
        </dgm:shape>
        <dgm:presOf/>
        <dgm:constrLst/>
        <dgm:forEach name="Name20" ref="accentRepeat1"/>
      </dgm:layoutNode>
    </dgm:forEach>
    <dgm:forEach name="Name21" axis="ch ch" ptType="node node" st="1 4" cnt="1 1">
      <dgm:layoutNode name="Child4"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3">
        <dgm:alg type="sp"/>
        <dgm:shape xmlns:r="http://schemas.openxmlformats.org/officeDocument/2006/relationships" r:blip="">
          <dgm:adjLst/>
        </dgm:shape>
        <dgm:presOf/>
        <dgm:constrLst/>
        <dgm:forEach name="Name22" ref="accentRepeat1"/>
      </dgm:layoutNode>
    </dgm:forEach>
    <dgm:forEach name="Name23" axis="ch ch" ptType="node node" st="1 5" cnt="1 1">
      <dgm:layoutNode name="Child5"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5">
        <dgm:alg type="sp"/>
        <dgm:shape xmlns:r="http://schemas.openxmlformats.org/officeDocument/2006/relationships" r:blip="">
          <dgm:adjLst/>
        </dgm:shape>
        <dgm:presOf/>
        <dgm:constrLst/>
        <dgm:forEach name="Name24" ref="accentRepeat2"/>
      </dgm:layoutNode>
      <dgm:layoutNode name="Accent16">
        <dgm:alg type="sp"/>
        <dgm:shape xmlns:r="http://schemas.openxmlformats.org/officeDocument/2006/relationships" r:blip="">
          <dgm:adjLst/>
        </dgm:shape>
        <dgm:presOf/>
        <dgm:constrLst/>
        <dgm:forEach name="Name25" ref="accentRepeat3"/>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4#1">
  <dgm:title val=""/>
  <dgm:desc val=""/>
  <dgm:catLst>
    <dgm:cat type="simple" pri="10400"/>
  </dgm:catLst>
  <dgm:scene3d>
    <a:camera prst="orthographicFront"/>
    <a:lightRig rig="threePt" dir="t"/>
  </dgm:scene3d>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‹N°›</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24156926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p:cNvGrpSpPr/>
        <p:nvPr/>
      </p:nvGrpSpPr>
      <p:grpSpPr>
        <a:xfrm>
          <a:off x="0" y="0"/>
          <a:ext cx="0" cy="0"/>
          <a:chOff x="0" y="0"/>
          <a:chExt cx="0" cy="0"/>
        </a:xfrm>
      </p:grpSpPr>
      <p:sp>
        <p:nvSpPr>
          <p:cNvPr id="12" name="Google Shape;1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 name="Google Shape;1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 name="Google Shape;1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extLst>
      <p:ext uri="{BB962C8B-B14F-4D97-AF65-F5344CB8AC3E}">
        <p14:creationId xmlns:p14="http://schemas.microsoft.com/office/powerpoint/2010/main" val="33566012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
        <p:cNvGrpSpPr/>
        <p:nvPr/>
      </p:nvGrpSpPr>
      <p:grpSpPr>
        <a:xfrm>
          <a:off x="0" y="0"/>
          <a:ext cx="0" cy="0"/>
          <a:chOff x="0" y="0"/>
          <a:chExt cx="0" cy="0"/>
        </a:xfrm>
      </p:grpSpPr>
      <p:sp>
        <p:nvSpPr>
          <p:cNvPr id="28" name="Google Shape;2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 name="Google Shape;29;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 name="Google Shape;30;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extLst>
      <p:ext uri="{BB962C8B-B14F-4D97-AF65-F5344CB8AC3E}">
        <p14:creationId xmlns:p14="http://schemas.microsoft.com/office/powerpoint/2010/main" val="4953661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
        <p:cNvGrpSpPr/>
        <p:nvPr/>
      </p:nvGrpSpPr>
      <p:grpSpPr>
        <a:xfrm>
          <a:off x="0" y="0"/>
          <a:ext cx="0" cy="0"/>
          <a:chOff x="0" y="0"/>
          <a:chExt cx="0" cy="0"/>
        </a:xfrm>
      </p:grpSpPr>
      <p:sp>
        <p:nvSpPr>
          <p:cNvPr id="28" name="Google Shape;2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 name="Google Shape;29;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 name="Google Shape;30;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extLst>
      <p:ext uri="{BB962C8B-B14F-4D97-AF65-F5344CB8AC3E}">
        <p14:creationId xmlns:p14="http://schemas.microsoft.com/office/powerpoint/2010/main" val="41410629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
        <p:cNvGrpSpPr/>
        <p:nvPr/>
      </p:nvGrpSpPr>
      <p:grpSpPr>
        <a:xfrm>
          <a:off x="0" y="0"/>
          <a:ext cx="0" cy="0"/>
          <a:chOff x="0" y="0"/>
          <a:chExt cx="0" cy="0"/>
        </a:xfrm>
      </p:grpSpPr>
      <p:sp>
        <p:nvSpPr>
          <p:cNvPr id="28" name="Google Shape;2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 name="Google Shape;29;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 name="Google Shape;30;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extLst>
      <p:ext uri="{BB962C8B-B14F-4D97-AF65-F5344CB8AC3E}">
        <p14:creationId xmlns:p14="http://schemas.microsoft.com/office/powerpoint/2010/main" val="31932996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
        <p:cNvGrpSpPr/>
        <p:nvPr/>
      </p:nvGrpSpPr>
      <p:grpSpPr>
        <a:xfrm>
          <a:off x="0" y="0"/>
          <a:ext cx="0" cy="0"/>
          <a:chOff x="0" y="0"/>
          <a:chExt cx="0" cy="0"/>
        </a:xfrm>
      </p:grpSpPr>
      <p:sp>
        <p:nvSpPr>
          <p:cNvPr id="28" name="Google Shape;2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 name="Google Shape;29;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 name="Google Shape;30;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21103532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
        <p:cNvGrpSpPr/>
        <p:nvPr/>
      </p:nvGrpSpPr>
      <p:grpSpPr>
        <a:xfrm>
          <a:off x="0" y="0"/>
          <a:ext cx="0" cy="0"/>
          <a:chOff x="0" y="0"/>
          <a:chExt cx="0" cy="0"/>
        </a:xfrm>
      </p:grpSpPr>
      <p:sp>
        <p:nvSpPr>
          <p:cNvPr id="28" name="Google Shape;2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 name="Google Shape;29;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 name="Google Shape;30;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extLst>
      <p:ext uri="{BB962C8B-B14F-4D97-AF65-F5344CB8AC3E}">
        <p14:creationId xmlns:p14="http://schemas.microsoft.com/office/powerpoint/2010/main" val="29524827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
        <p:cNvGrpSpPr/>
        <p:nvPr/>
      </p:nvGrpSpPr>
      <p:grpSpPr>
        <a:xfrm>
          <a:off x="0" y="0"/>
          <a:ext cx="0" cy="0"/>
          <a:chOff x="0" y="0"/>
          <a:chExt cx="0" cy="0"/>
        </a:xfrm>
      </p:grpSpPr>
      <p:sp>
        <p:nvSpPr>
          <p:cNvPr id="28" name="Google Shape;2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 name="Google Shape;29;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 name="Google Shape;30;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37134926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
        <p:cNvGrpSpPr/>
        <p:nvPr/>
      </p:nvGrpSpPr>
      <p:grpSpPr>
        <a:xfrm>
          <a:off x="0" y="0"/>
          <a:ext cx="0" cy="0"/>
          <a:chOff x="0" y="0"/>
          <a:chExt cx="0" cy="0"/>
        </a:xfrm>
      </p:grpSpPr>
      <p:sp>
        <p:nvSpPr>
          <p:cNvPr id="28" name="Google Shape;2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 name="Google Shape;29;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fr-FR" dirty="0"/>
              <a:t>L’enrôlement</a:t>
            </a:r>
            <a:r>
              <a:rPr lang="fr-FR" baseline="0" dirty="0"/>
              <a:t> se fait par corps (</a:t>
            </a:r>
            <a:r>
              <a:rPr lang="fr-FR" baseline="0" dirty="0" err="1"/>
              <a:t>couleur,logo</a:t>
            </a:r>
            <a:r>
              <a:rPr lang="fr-FR" baseline="0" dirty="0"/>
              <a:t>) et par grade (galon).</a:t>
            </a:r>
          </a:p>
          <a:p>
            <a:pPr marL="0" lvl="0" indent="0" algn="l" rtl="0">
              <a:spcBef>
                <a:spcPts val="0"/>
              </a:spcBef>
              <a:spcAft>
                <a:spcPts val="0"/>
              </a:spcAft>
              <a:buNone/>
            </a:pPr>
            <a:r>
              <a:rPr lang="fr-FR" baseline="0" dirty="0"/>
              <a:t>Lors du traitement, les données qui transitent,  sont chiffrées de bout en bout.</a:t>
            </a:r>
            <a:endParaRPr dirty="0"/>
          </a:p>
        </p:txBody>
      </p:sp>
      <p:sp>
        <p:nvSpPr>
          <p:cNvPr id="30" name="Google Shape;30;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9178606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
        <p:cNvGrpSpPr/>
        <p:nvPr/>
      </p:nvGrpSpPr>
      <p:grpSpPr>
        <a:xfrm>
          <a:off x="0" y="0"/>
          <a:ext cx="0" cy="0"/>
          <a:chOff x="0" y="0"/>
          <a:chExt cx="0" cy="0"/>
        </a:xfrm>
      </p:grpSpPr>
      <p:sp>
        <p:nvSpPr>
          <p:cNvPr id="28" name="Google Shape;2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 name="Google Shape;29;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0" name="Google Shape;30;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31157778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
        <p:cNvGrpSpPr/>
        <p:nvPr/>
      </p:nvGrpSpPr>
      <p:grpSpPr>
        <a:xfrm>
          <a:off x="0" y="0"/>
          <a:ext cx="0" cy="0"/>
          <a:chOff x="0" y="0"/>
          <a:chExt cx="0" cy="0"/>
        </a:xfrm>
      </p:grpSpPr>
      <p:sp>
        <p:nvSpPr>
          <p:cNvPr id="28" name="Google Shape;2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 name="Google Shape;29;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0" name="Google Shape;30;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14839134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
        <p:cNvGrpSpPr/>
        <p:nvPr/>
      </p:nvGrpSpPr>
      <p:grpSpPr>
        <a:xfrm>
          <a:off x="0" y="0"/>
          <a:ext cx="0" cy="0"/>
          <a:chOff x="0" y="0"/>
          <a:chExt cx="0" cy="0"/>
        </a:xfrm>
      </p:grpSpPr>
      <p:sp>
        <p:nvSpPr>
          <p:cNvPr id="28" name="Google Shape;2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 name="Google Shape;29;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0" name="Google Shape;30;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41374218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
        <p:cNvGrpSpPr/>
        <p:nvPr/>
      </p:nvGrpSpPr>
      <p:grpSpPr>
        <a:xfrm>
          <a:off x="0" y="0"/>
          <a:ext cx="0" cy="0"/>
          <a:chOff x="0" y="0"/>
          <a:chExt cx="0" cy="0"/>
        </a:xfrm>
      </p:grpSpPr>
      <p:sp>
        <p:nvSpPr>
          <p:cNvPr id="28" name="Google Shape;2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 name="Google Shape;29;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71450" lvl="0" indent="-171450" algn="l" rtl="0">
              <a:spcBef>
                <a:spcPts val="0"/>
              </a:spcBef>
              <a:spcAft>
                <a:spcPts val="0"/>
              </a:spcAft>
              <a:buFont typeface="Wingdings" panose="05000000000000000000" pitchFamily="2" charset="2"/>
              <a:buChar char="Ø"/>
            </a:pPr>
            <a:r>
              <a:rPr lang="fr-FR" dirty="0"/>
              <a:t>L’hologramme 3D du Cameroun tourne continuellement et change d’apparence selon l’angle de vue. Nous précisons</a:t>
            </a:r>
            <a:r>
              <a:rPr lang="fr-FR" baseline="0" dirty="0"/>
              <a:t> que cet effet est impossible à reproduire avec une photocopie ou une </a:t>
            </a:r>
            <a:r>
              <a:rPr lang="fr-FR" baseline="0" dirty="0" err="1"/>
              <a:t>impressionnon</a:t>
            </a:r>
            <a:r>
              <a:rPr lang="fr-FR" baseline="0" dirty="0"/>
              <a:t> protocolaire.</a:t>
            </a:r>
            <a:endParaRPr lang="fr-FR" dirty="0"/>
          </a:p>
          <a:p>
            <a:pPr marL="171450" lvl="0" indent="-171450" algn="l" rtl="0">
              <a:spcBef>
                <a:spcPts val="0"/>
              </a:spcBef>
              <a:spcAft>
                <a:spcPts val="0"/>
              </a:spcAft>
              <a:buFont typeface="Wingdings" panose="05000000000000000000" pitchFamily="2" charset="2"/>
              <a:buChar char="Ø"/>
            </a:pPr>
            <a:r>
              <a:rPr lang="fr-FR" dirty="0"/>
              <a:t>Le QR code</a:t>
            </a:r>
            <a:r>
              <a:rPr lang="fr-FR" baseline="0" dirty="0"/>
              <a:t> contient les données cryptées de la carte avec signature numérique unique. Nous remarquons que chaque scan vérifie l’authenticité via une base de données sécurisée et affiche le statut de validation en temps réel.</a:t>
            </a:r>
            <a:endParaRPr dirty="0"/>
          </a:p>
        </p:txBody>
      </p:sp>
      <p:sp>
        <p:nvSpPr>
          <p:cNvPr id="30" name="Google Shape;30;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38634536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
        <p:cNvGrpSpPr/>
        <p:nvPr/>
      </p:nvGrpSpPr>
      <p:grpSpPr>
        <a:xfrm>
          <a:off x="0" y="0"/>
          <a:ext cx="0" cy="0"/>
          <a:chOff x="0" y="0"/>
          <a:chExt cx="0" cy="0"/>
        </a:xfrm>
      </p:grpSpPr>
      <p:sp>
        <p:nvSpPr>
          <p:cNvPr id="28" name="Google Shape;2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 name="Google Shape;29;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fr-FR" dirty="0"/>
              <a:t>C’est une authentification par lumière spécifique. Ici,</a:t>
            </a:r>
            <a:r>
              <a:rPr lang="fr-FR" baseline="0" dirty="0"/>
              <a:t> le matricule est intégré en arrière-plan avec un effet de réfraction similaire aux billets de banque. Ce matricule est visible uniquement sous lumière bleue ou violette et selon l’angle d’inclinaison.</a:t>
            </a:r>
            <a:endParaRPr dirty="0"/>
          </a:p>
        </p:txBody>
      </p:sp>
      <p:sp>
        <p:nvSpPr>
          <p:cNvPr id="30" name="Google Shape;30;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7052167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
        <p:cNvGrpSpPr/>
        <p:nvPr/>
      </p:nvGrpSpPr>
      <p:grpSpPr>
        <a:xfrm>
          <a:off x="0" y="0"/>
          <a:ext cx="0" cy="0"/>
          <a:chOff x="0" y="0"/>
          <a:chExt cx="0" cy="0"/>
        </a:xfrm>
      </p:grpSpPr>
      <p:sp>
        <p:nvSpPr>
          <p:cNvPr id="28" name="Google Shape;2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 name="Google Shape;29;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0" name="Google Shape;30;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12670555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Google Shape;4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 name="Google Shape;44;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 name="Google Shape;45;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37772821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
        <p:cNvGrpSpPr/>
        <p:nvPr/>
      </p:nvGrpSpPr>
      <p:grpSpPr>
        <a:xfrm>
          <a:off x="0" y="0"/>
          <a:ext cx="0" cy="0"/>
          <a:chOff x="0" y="0"/>
          <a:chExt cx="0" cy="0"/>
        </a:xfrm>
      </p:grpSpPr>
      <p:sp>
        <p:nvSpPr>
          <p:cNvPr id="28" name="Google Shape;2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 name="Google Shape;29;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 name="Google Shape;30;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extLst>
      <p:ext uri="{BB962C8B-B14F-4D97-AF65-F5344CB8AC3E}">
        <p14:creationId xmlns:p14="http://schemas.microsoft.com/office/powerpoint/2010/main" val="11454772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Google Shape;4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 name="Google Shape;44;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 name="Google Shape;45;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extLst>
      <p:ext uri="{BB962C8B-B14F-4D97-AF65-F5344CB8AC3E}">
        <p14:creationId xmlns:p14="http://schemas.microsoft.com/office/powerpoint/2010/main" val="38045524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3" name="Google Shape;123;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 name="Google Shape;124;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extLst>
      <p:ext uri="{BB962C8B-B14F-4D97-AF65-F5344CB8AC3E}">
        <p14:creationId xmlns:p14="http://schemas.microsoft.com/office/powerpoint/2010/main" val="23930519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Google Shape;4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 name="Google Shape;44;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 name="Google Shape;45;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Tree>
    <p:extLst>
      <p:ext uri="{BB962C8B-B14F-4D97-AF65-F5344CB8AC3E}">
        <p14:creationId xmlns:p14="http://schemas.microsoft.com/office/powerpoint/2010/main" val="682612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3" name="Google Shape;123;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 name="Google Shape;124;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31</a:t>
            </a:fld>
            <a:endParaRPr/>
          </a:p>
        </p:txBody>
      </p:sp>
    </p:spTree>
    <p:extLst>
      <p:ext uri="{BB962C8B-B14F-4D97-AF65-F5344CB8AC3E}">
        <p14:creationId xmlns:p14="http://schemas.microsoft.com/office/powerpoint/2010/main" val="38298626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342900" y="4767263"/>
            <a:ext cx="1600200" cy="273844"/>
          </a:xfrm>
          <a:prstGeom prst="rect">
            <a:avLst/>
          </a:prstGeom>
        </p:spPr>
        <p:txBody>
          <a:bodyPr/>
          <a:lstStyle/>
          <a:p>
            <a:fld id="{5BCAD085-E8A6-8845-BD4E-CB4CCA059FC4}" type="datetimeFigureOut">
              <a:rPr lang="en-US" smtClean="0"/>
              <a:t>4/9/2026</a:t>
            </a:fld>
            <a:endParaRPr lang="en-US"/>
          </a:p>
        </p:txBody>
      </p:sp>
      <p:sp>
        <p:nvSpPr>
          <p:cNvPr id="3" name="Footer Placeholder 2"/>
          <p:cNvSpPr>
            <a:spLocks noGrp="1"/>
          </p:cNvSpPr>
          <p:nvPr>
            <p:ph type="ftr" sz="quarter" idx="11"/>
          </p:nvPr>
        </p:nvSpPr>
        <p:spPr>
          <a:xfrm>
            <a:off x="2343150" y="4767263"/>
            <a:ext cx="2171700" cy="273844"/>
          </a:xfrm>
          <a:prstGeom prst="rect">
            <a:avLst/>
          </a:prstGeom>
        </p:spPr>
        <p:txBody>
          <a:bodyPr/>
          <a:lstStyle/>
          <a:p>
            <a:endParaRPr lang="en-US"/>
          </a:p>
        </p:txBody>
      </p:sp>
      <p:sp>
        <p:nvSpPr>
          <p:cNvPr id="4" name="Slide Number Placeholder 3"/>
          <p:cNvSpPr>
            <a:spLocks noGrp="1"/>
          </p:cNvSpPr>
          <p:nvPr>
            <p:ph type="sldNum" sz="quarter" idx="12"/>
          </p:nvPr>
        </p:nvSpPr>
        <p:spPr>
          <a:xfrm>
            <a:off x="4914900" y="4767263"/>
            <a:ext cx="1600200" cy="273844"/>
          </a:xfrm>
          <a:prstGeom prst="rect">
            <a:avLst/>
          </a:prstGeom>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22348832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 id="2147483650"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1.png"/><Relationship Id="rId7" Type="http://schemas.openxmlformats.org/officeDocument/2006/relationships/diagramQuickStyle" Target="../diagrams/quickStyle1.xm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2.png"/><Relationship Id="rId9" Type="http://schemas.microsoft.com/office/2007/relationships/diagramDrawing" Target="../diagrams/drawing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image" Target="../media/image4.jp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image" Target="../media/image1.png"/><Relationship Id="rId7" Type="http://schemas.openxmlformats.org/officeDocument/2006/relationships/diagramQuickStyle" Target="../diagrams/quickStyle2.xm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image" Target="../media/image2.png"/><Relationship Id="rId9" Type="http://schemas.microsoft.com/office/2007/relationships/diagramDrawing" Target="../diagrams/drawing2.xml"/></Relationships>
</file>

<file path=ppt/slides/_rels/slide9.xml.rels><?xml version="1.0" encoding="UTF-8" standalone="yes"?>
<Relationships xmlns="http://schemas.openxmlformats.org/package/2006/relationships"><Relationship Id="rId3" Type="http://schemas.openxmlformats.org/officeDocument/2006/relationships/image" Target="../media/image5.jpg"/><Relationship Id="rId7"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7.jpeg"/><Relationship Id="rId4" Type="http://schemas.openxmlformats.org/officeDocument/2006/relationships/image" Target="../media/image6.jpg"/></Relationships>
</file>

<file path=ppt/slides/_rels/slide1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10.jpg"/><Relationship Id="rId7"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7.jpeg"/><Relationship Id="rId4" Type="http://schemas.openxmlformats.org/officeDocument/2006/relationships/image" Target="../media/image11.jpg"/></Relationships>
</file>

<file path=ppt/slides/_rels/slide13.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image" Target="../media/image7.jpeg"/></Relationships>
</file>

<file path=ppt/slides/_rels/slide14.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image" Target="../media/image14.jp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diagramData" Target="../diagrams/data4.xml"/><Relationship Id="rId13" Type="http://schemas.openxmlformats.org/officeDocument/2006/relationships/image" Target="../media/image1.png"/><Relationship Id="rId3" Type="http://schemas.openxmlformats.org/officeDocument/2006/relationships/diagramData" Target="../diagrams/data3.xml"/><Relationship Id="rId7" Type="http://schemas.microsoft.com/office/2007/relationships/diagramDrawing" Target="../diagrams/drawing3.xml"/><Relationship Id="rId12" Type="http://schemas.microsoft.com/office/2007/relationships/diagramDrawing" Target="../diagrams/drawing4.xml"/><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diagramColors" Target="../diagrams/colors3.xml"/><Relationship Id="rId11" Type="http://schemas.openxmlformats.org/officeDocument/2006/relationships/diagramColors" Target="../diagrams/colors4.xml"/><Relationship Id="rId5" Type="http://schemas.openxmlformats.org/officeDocument/2006/relationships/diagramQuickStyle" Target="../diagrams/quickStyle3.xml"/><Relationship Id="rId10" Type="http://schemas.openxmlformats.org/officeDocument/2006/relationships/diagramQuickStyle" Target="../diagrams/quickStyle4.xml"/><Relationship Id="rId4" Type="http://schemas.openxmlformats.org/officeDocument/2006/relationships/diagramLayout" Target="../diagrams/layout3.xml"/><Relationship Id="rId9" Type="http://schemas.openxmlformats.org/officeDocument/2006/relationships/diagramLayout" Target="../diagrams/layout4.xml"/><Relationship Id="rId1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5"/>
        <p:cNvGrpSpPr/>
        <p:nvPr/>
      </p:nvGrpSpPr>
      <p:grpSpPr>
        <a:xfrm>
          <a:off x="0" y="0"/>
          <a:ext cx="0" cy="0"/>
          <a:chOff x="0" y="0"/>
          <a:chExt cx="0" cy="0"/>
        </a:xfrm>
      </p:grpSpPr>
      <p:sp>
        <p:nvSpPr>
          <p:cNvPr id="21" name="Google Shape;21;p3"/>
          <p:cNvSpPr/>
          <p:nvPr/>
        </p:nvSpPr>
        <p:spPr>
          <a:xfrm>
            <a:off x="550022" y="1280160"/>
            <a:ext cx="8229600" cy="36576"/>
          </a:xfrm>
          <a:prstGeom prst="rect">
            <a:avLst/>
          </a:prstGeom>
          <a:solidFill>
            <a:srgbClr val="1384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a:off x="457200" y="1371600"/>
            <a:ext cx="8229600" cy="457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CADCFC"/>
              </a:buClr>
              <a:buSzPts val="1600"/>
              <a:buFont typeface="Calibri"/>
              <a:buNone/>
            </a:pPr>
            <a:r>
              <a:rPr lang="en-US" sz="1600" b="1" i="0" u="none" strike="noStrike" cap="none" dirty="0">
                <a:solidFill>
                  <a:schemeClr val="accent6">
                    <a:lumMod val="60000"/>
                    <a:lumOff val="40000"/>
                  </a:schemeClr>
                </a:solidFill>
                <a:latin typeface="Calibri"/>
                <a:ea typeface="Calibri"/>
                <a:cs typeface="Calibri"/>
                <a:sym typeface="Calibri"/>
              </a:rPr>
              <a:t>MINISTÈRE DE LA DÉFENSE</a:t>
            </a:r>
            <a:endParaRPr sz="1600" b="0" i="0" u="none" strike="noStrike" cap="none" dirty="0">
              <a:solidFill>
                <a:schemeClr val="accent6">
                  <a:lumMod val="60000"/>
                  <a:lumOff val="40000"/>
                </a:schemeClr>
              </a:solidFill>
              <a:latin typeface="Calibri"/>
              <a:ea typeface="Calibri"/>
              <a:cs typeface="Calibri"/>
              <a:sym typeface="Calibri"/>
            </a:endParaRPr>
          </a:p>
        </p:txBody>
      </p:sp>
      <p:sp>
        <p:nvSpPr>
          <p:cNvPr id="23" name="Google Shape;23;p3"/>
          <p:cNvSpPr/>
          <p:nvPr/>
        </p:nvSpPr>
        <p:spPr>
          <a:xfrm>
            <a:off x="457200" y="1828800"/>
            <a:ext cx="8229600" cy="36576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3A86FF"/>
              </a:buClr>
              <a:buSzPts val="1300"/>
              <a:buFont typeface="Calibri"/>
              <a:buNone/>
            </a:pPr>
            <a:r>
              <a:rPr lang="en-US" sz="1300" b="0" i="0" u="none" strike="noStrike" cap="none" dirty="0">
                <a:solidFill>
                  <a:srgbClr val="13844B"/>
                </a:solidFill>
                <a:latin typeface="Calibri"/>
                <a:ea typeface="Calibri"/>
                <a:cs typeface="Calibri"/>
                <a:sym typeface="Calibri"/>
              </a:rPr>
              <a:t>Direction des </a:t>
            </a:r>
            <a:r>
              <a:rPr lang="en-US" sz="1300" b="0" i="0" u="none" strike="noStrike" cap="none" dirty="0" err="1">
                <a:solidFill>
                  <a:srgbClr val="13844B"/>
                </a:solidFill>
                <a:latin typeface="Calibri"/>
                <a:ea typeface="Calibri"/>
                <a:cs typeface="Calibri"/>
                <a:sym typeface="Calibri"/>
              </a:rPr>
              <a:t>Ressources</a:t>
            </a:r>
            <a:r>
              <a:rPr lang="en-US" sz="1300" b="0" i="0" u="none" strike="noStrike" cap="none" dirty="0">
                <a:solidFill>
                  <a:srgbClr val="13844B"/>
                </a:solidFill>
                <a:latin typeface="Calibri"/>
                <a:ea typeface="Calibri"/>
                <a:cs typeface="Calibri"/>
                <a:sym typeface="Calibri"/>
              </a:rPr>
              <a:t> </a:t>
            </a:r>
            <a:r>
              <a:rPr lang="en-US" sz="1300" b="0" i="0" u="none" strike="noStrike" cap="none" dirty="0" err="1">
                <a:solidFill>
                  <a:srgbClr val="13844B"/>
                </a:solidFill>
                <a:latin typeface="Calibri"/>
                <a:ea typeface="Calibri"/>
                <a:cs typeface="Calibri"/>
                <a:sym typeface="Calibri"/>
              </a:rPr>
              <a:t>Humaines</a:t>
            </a:r>
            <a:endParaRPr sz="1300" b="0" i="0" u="none" strike="noStrike" cap="none" dirty="0">
              <a:solidFill>
                <a:srgbClr val="13844B"/>
              </a:solidFill>
              <a:latin typeface="Calibri"/>
              <a:ea typeface="Calibri"/>
              <a:cs typeface="Calibri"/>
              <a:sym typeface="Calibri"/>
            </a:endParaRPr>
          </a:p>
        </p:txBody>
      </p:sp>
      <p:sp>
        <p:nvSpPr>
          <p:cNvPr id="24" name="Google Shape;24;p3"/>
          <p:cNvSpPr/>
          <p:nvPr/>
        </p:nvSpPr>
        <p:spPr>
          <a:xfrm>
            <a:off x="914400" y="2468880"/>
            <a:ext cx="7315200" cy="1123920"/>
          </a:xfrm>
          <a:prstGeom prst="rect">
            <a:avLst/>
          </a:prstGeom>
          <a:noFill/>
          <a:ln>
            <a:noFill/>
          </a:ln>
        </p:spPr>
        <p:txBody>
          <a:bodyPr spcFirstLastPara="1" wrap="square" lIns="91425" tIns="45700" rIns="91425" bIns="45700" anchor="ctr" anchorCtr="0">
            <a:noAutofit/>
          </a:bodyPr>
          <a:lstStyle/>
          <a:p>
            <a:pPr lvl="0" algn="ctr">
              <a:lnSpc>
                <a:spcPct val="120000"/>
              </a:lnSpc>
              <a:buClr>
                <a:srgbClr val="FFFFFF"/>
              </a:buClr>
              <a:buSzPts val="2800"/>
            </a:pPr>
            <a:r>
              <a:rPr lang="fr-FR" sz="2400" b="1" i="0" u="none" strike="noStrike" cap="none" dirty="0">
                <a:solidFill>
                  <a:srgbClr val="13844B"/>
                </a:solidFill>
                <a:latin typeface="Calibri"/>
                <a:ea typeface="Calibri"/>
                <a:cs typeface="Calibri"/>
                <a:sym typeface="Calibri"/>
              </a:rPr>
              <a:t>PR</a:t>
            </a:r>
            <a:r>
              <a:rPr lang="en-US" sz="2400" b="1" dirty="0">
                <a:solidFill>
                  <a:srgbClr val="13844B"/>
                </a:solidFill>
                <a:latin typeface="Calibri"/>
                <a:ea typeface="Calibri"/>
                <a:cs typeface="Calibri"/>
                <a:sym typeface="Calibri"/>
              </a:rPr>
              <a:t>ÉSENTATION DES PROJETS DE DIGITALISATION DE LA DIRECTION DES RESSOURCES HUMAINES </a:t>
            </a:r>
          </a:p>
          <a:p>
            <a:pPr lvl="0" algn="ctr">
              <a:lnSpc>
                <a:spcPct val="120000"/>
              </a:lnSpc>
              <a:buClr>
                <a:srgbClr val="FFFFFF"/>
              </a:buClr>
              <a:buSzPts val="2800"/>
            </a:pPr>
            <a:r>
              <a:rPr lang="en-US" sz="2400" b="1" dirty="0">
                <a:solidFill>
                  <a:srgbClr val="13844B"/>
                </a:solidFill>
                <a:latin typeface="Calibri"/>
                <a:ea typeface="Calibri"/>
                <a:cs typeface="Calibri"/>
                <a:sym typeface="Calibri"/>
              </a:rPr>
              <a:t>(CIMIS, SIADOC, GESMIL 2.0, AIGLES) </a:t>
            </a:r>
            <a:endParaRPr sz="2400" b="0" i="0" u="none" strike="noStrike" cap="none" dirty="0">
              <a:solidFill>
                <a:srgbClr val="13844B"/>
              </a:solidFill>
              <a:latin typeface="Calibri"/>
              <a:ea typeface="Calibri"/>
              <a:cs typeface="Calibri"/>
              <a:sym typeface="Calibri"/>
            </a:endParaRPr>
          </a:p>
        </p:txBody>
      </p:sp>
      <p:sp>
        <p:nvSpPr>
          <p:cNvPr id="25" name="Google Shape;25;p3"/>
          <p:cNvSpPr/>
          <p:nvPr/>
        </p:nvSpPr>
        <p:spPr>
          <a:xfrm>
            <a:off x="3200400" y="4114800"/>
            <a:ext cx="2743200" cy="36576"/>
          </a:xfrm>
          <a:prstGeom prst="rect">
            <a:avLst/>
          </a:prstGeom>
          <a:solidFill>
            <a:srgbClr val="1384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3"/>
          <p:cNvSpPr/>
          <p:nvPr/>
        </p:nvSpPr>
        <p:spPr>
          <a:xfrm>
            <a:off x="2743200" y="4206240"/>
            <a:ext cx="3657600" cy="3200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6B7280"/>
              </a:buClr>
              <a:buSzPts val="1100"/>
              <a:buFont typeface="Calibri"/>
              <a:buNone/>
            </a:pPr>
            <a:r>
              <a:rPr lang="en-US" sz="1100" b="0" i="0" u="none" strike="noStrike" cap="none" dirty="0">
                <a:solidFill>
                  <a:schemeClr val="accent6">
                    <a:lumMod val="60000"/>
                    <a:lumOff val="40000"/>
                  </a:schemeClr>
                </a:solidFill>
                <a:latin typeface="Calibri"/>
                <a:ea typeface="Calibri"/>
                <a:cs typeface="Calibri"/>
                <a:sym typeface="Calibri"/>
              </a:rPr>
              <a:t>N° /DV/MINDEF/02412</a:t>
            </a:r>
            <a:endParaRPr sz="1100" b="0" i="0" u="none" strike="noStrike" cap="none" dirty="0">
              <a:solidFill>
                <a:schemeClr val="accent6">
                  <a:lumMod val="60000"/>
                  <a:lumOff val="40000"/>
                </a:schemeClr>
              </a:solidFill>
              <a:latin typeface="Calibri"/>
              <a:ea typeface="Calibri"/>
              <a:cs typeface="Calibri"/>
              <a:sym typeface="Calibri"/>
            </a:endParaRPr>
          </a:p>
        </p:txBody>
      </p:sp>
      <p:grpSp>
        <p:nvGrpSpPr>
          <p:cNvPr id="13" name="Group 32"/>
          <p:cNvGrpSpPr/>
          <p:nvPr/>
        </p:nvGrpSpPr>
        <p:grpSpPr>
          <a:xfrm>
            <a:off x="152400" y="97463"/>
            <a:ext cx="8991599" cy="1018540"/>
            <a:chOff x="330" y="182"/>
            <a:chExt cx="18543" cy="1604"/>
          </a:xfrm>
        </p:grpSpPr>
        <p:sp>
          <p:nvSpPr>
            <p:cNvPr id="14" name="Freeform 3"/>
            <p:cNvSpPr/>
            <p:nvPr/>
          </p:nvSpPr>
          <p:spPr>
            <a:xfrm>
              <a:off x="330" y="182"/>
              <a:ext cx="1640" cy="1604"/>
            </a:xfrm>
            <a:custGeom>
              <a:avLst/>
              <a:gdLst/>
              <a:ahLst/>
              <a:cxnLst/>
              <a:rect l="l" t="t" r="r" b="b"/>
              <a:pathLst>
                <a:path w="6263628" h="7097595">
                  <a:moveTo>
                    <a:pt x="0" y="0"/>
                  </a:moveTo>
                  <a:lnTo>
                    <a:pt x="6263628" y="0"/>
                  </a:lnTo>
                  <a:lnTo>
                    <a:pt x="6263628" y="7097595"/>
                  </a:lnTo>
                  <a:lnTo>
                    <a:pt x="0" y="7097595"/>
                  </a:lnTo>
                  <a:lnTo>
                    <a:pt x="0" y="0"/>
                  </a:lnTo>
                  <a:close/>
                </a:path>
              </a:pathLst>
            </a:custGeom>
            <a:blipFill>
              <a:blip r:embed="rId3"/>
              <a:stretch>
                <a:fillRect/>
              </a:stretch>
            </a:blipFill>
          </p:spPr>
        </p:sp>
        <p:pic>
          <p:nvPicPr>
            <p:cNvPr id="15" name="Picture 3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953" y="182"/>
              <a:ext cx="1920" cy="1604"/>
            </a:xfrm>
            <a:prstGeom prst="rect">
              <a:avLst/>
            </a:prstGeom>
          </p:spPr>
        </p:pic>
      </p:grpSp>
      <p:sp>
        <p:nvSpPr>
          <p:cNvPr id="27" name="Shape 0"/>
          <p:cNvSpPr/>
          <p:nvPr/>
        </p:nvSpPr>
        <p:spPr>
          <a:xfrm>
            <a:off x="6515099" y="0"/>
            <a:ext cx="2628900" cy="2788920"/>
          </a:xfrm>
          <a:custGeom>
            <a:avLst/>
            <a:gdLst/>
            <a:ahLst/>
            <a:cxnLst/>
            <a:rect l="l" t="t" r="r" b="b"/>
            <a:pathLst>
              <a:path w="3619500" h="3619500">
                <a:moveTo>
                  <a:pt x="0" y="0"/>
                </a:moveTo>
                <a:lnTo>
                  <a:pt x="3619500" y="0"/>
                </a:lnTo>
                <a:lnTo>
                  <a:pt x="3619500" y="3619500"/>
                </a:lnTo>
                <a:lnTo>
                  <a:pt x="3619500" y="3619500"/>
                </a:lnTo>
                <a:cubicBezTo>
                  <a:pt x="1621844" y="3619500"/>
                  <a:pt x="0" y="1997656"/>
                  <a:pt x="0" y="0"/>
                </a:cubicBezTo>
                <a:lnTo>
                  <a:pt x="0" y="0"/>
                </a:lnTo>
                <a:close/>
              </a:path>
            </a:pathLst>
          </a:custGeom>
          <a:solidFill>
            <a:srgbClr val="007A3D">
              <a:alpha val="8000"/>
            </a:srgbClr>
          </a:solid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1"/>
        <p:cNvGrpSpPr/>
        <p:nvPr/>
      </p:nvGrpSpPr>
      <p:grpSpPr>
        <a:xfrm>
          <a:off x="0" y="0"/>
          <a:ext cx="0" cy="0"/>
          <a:chOff x="0" y="0"/>
          <a:chExt cx="0" cy="0"/>
        </a:xfrm>
      </p:grpSpPr>
      <p:sp>
        <p:nvSpPr>
          <p:cNvPr id="32" name="Google Shape;32;p4"/>
          <p:cNvSpPr/>
          <p:nvPr/>
        </p:nvSpPr>
        <p:spPr>
          <a:xfrm>
            <a:off x="-15240" y="0"/>
            <a:ext cx="9144000" cy="914400"/>
          </a:xfrm>
          <a:prstGeom prst="rect">
            <a:avLst/>
          </a:prstGeom>
          <a:solidFill>
            <a:srgbClr val="1384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4"/>
          <p:cNvSpPr/>
          <p:nvPr/>
        </p:nvSpPr>
        <p:spPr>
          <a:xfrm>
            <a:off x="457200" y="137160"/>
            <a:ext cx="8191500" cy="6400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2200"/>
              <a:buFont typeface="Calibri"/>
              <a:buNone/>
            </a:pPr>
            <a:r>
              <a:rPr lang="en-US" sz="2200" b="1" i="0" u="none" strike="noStrike" cap="none" dirty="0">
                <a:solidFill>
                  <a:srgbClr val="FFFFFF"/>
                </a:solidFill>
                <a:latin typeface="Calibri"/>
                <a:ea typeface="Calibri"/>
                <a:cs typeface="Calibri"/>
                <a:sym typeface="Calibri"/>
              </a:rPr>
              <a:t>IDEE MAITRESSE</a:t>
            </a:r>
            <a:endParaRPr sz="2200" b="0" i="0" u="none" strike="noStrike" cap="none" dirty="0">
              <a:solidFill>
                <a:schemeClr val="dk1"/>
              </a:solidFill>
              <a:latin typeface="Calibri"/>
              <a:ea typeface="Calibri"/>
              <a:cs typeface="Calibri"/>
              <a:sym typeface="Calibri"/>
            </a:endParaRPr>
          </a:p>
        </p:txBody>
      </p:sp>
      <p:sp>
        <p:nvSpPr>
          <p:cNvPr id="34" name="Google Shape;34;p4"/>
          <p:cNvSpPr/>
          <p:nvPr/>
        </p:nvSpPr>
        <p:spPr>
          <a:xfrm>
            <a:off x="0" y="4800600"/>
            <a:ext cx="9144000" cy="480060"/>
          </a:xfrm>
          <a:prstGeom prst="rect">
            <a:avLst/>
          </a:prstGeom>
          <a:solidFill>
            <a:srgbClr val="1384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4"/>
          <p:cNvSpPr/>
          <p:nvPr/>
        </p:nvSpPr>
        <p:spPr>
          <a:xfrm>
            <a:off x="457200" y="4709160"/>
            <a:ext cx="640080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ADCFC"/>
              </a:buClr>
              <a:buSzPts val="900"/>
              <a:buFont typeface="Calibri"/>
              <a:buNone/>
            </a:pPr>
            <a:r>
              <a:rPr lang="en-US" sz="900" b="0" i="0" u="none" strike="noStrike" cap="none">
                <a:solidFill>
                  <a:srgbClr val="CADCFC"/>
                </a:solidFill>
                <a:latin typeface="Calibri"/>
                <a:ea typeface="Calibri"/>
                <a:cs typeface="Calibri"/>
                <a:sym typeface="Calibri"/>
              </a:rPr>
              <a:t>MINDEF - Direction des Ressources Humaines</a:t>
            </a:r>
            <a:endParaRPr sz="900" b="0" i="0" u="none" strike="noStrike" cap="none">
              <a:solidFill>
                <a:schemeClr val="dk1"/>
              </a:solidFill>
              <a:latin typeface="Calibri"/>
              <a:ea typeface="Calibri"/>
              <a:cs typeface="Calibri"/>
              <a:sym typeface="Calibri"/>
            </a:endParaRPr>
          </a:p>
        </p:txBody>
      </p:sp>
      <p:sp>
        <p:nvSpPr>
          <p:cNvPr id="36" name="Google Shape;36;p4"/>
          <p:cNvSpPr/>
          <p:nvPr/>
        </p:nvSpPr>
        <p:spPr>
          <a:xfrm>
            <a:off x="7772400" y="4709160"/>
            <a:ext cx="914400" cy="365760"/>
          </a:xfrm>
          <a:prstGeom prst="rect">
            <a:avLst/>
          </a:prstGeom>
          <a:noFill/>
          <a:ln>
            <a:noFill/>
          </a:ln>
        </p:spPr>
        <p:txBody>
          <a:bodyPr spcFirstLastPara="1" wrap="square" lIns="91425" tIns="45700" rIns="91425" bIns="45700" anchor="ctr" anchorCtr="0">
            <a:noAutofit/>
          </a:bodyPr>
          <a:lstStyle/>
          <a:p>
            <a:pPr lvl="0" algn="r">
              <a:buClr>
                <a:srgbClr val="CADCFC"/>
              </a:buClr>
              <a:buSzPts val="900"/>
            </a:pPr>
            <a:r>
              <a:rPr lang="en-US" sz="900" dirty="0">
                <a:solidFill>
                  <a:srgbClr val="CADCFC"/>
                </a:solidFill>
                <a:latin typeface="Calibri"/>
                <a:ea typeface="Calibri"/>
                <a:cs typeface="Calibri"/>
                <a:sym typeface="Calibri"/>
              </a:rPr>
              <a:t>1 / 27</a:t>
            </a:r>
            <a:endParaRPr lang="en-US" sz="900" dirty="0">
              <a:solidFill>
                <a:schemeClr val="dk1"/>
              </a:solidFill>
              <a:latin typeface="Calibri"/>
              <a:ea typeface="Calibri"/>
              <a:cs typeface="Calibri"/>
              <a:sym typeface="Calibri"/>
            </a:endParaRPr>
          </a:p>
        </p:txBody>
      </p:sp>
      <p:sp>
        <p:nvSpPr>
          <p:cNvPr id="40" name="Google Shape;40;p4"/>
          <p:cNvSpPr/>
          <p:nvPr/>
        </p:nvSpPr>
        <p:spPr>
          <a:xfrm>
            <a:off x="209550" y="3907155"/>
            <a:ext cx="54864" cy="731520"/>
          </a:xfrm>
          <a:prstGeom prst="rect">
            <a:avLst/>
          </a:prstGeom>
          <a:solidFill>
            <a:srgbClr val="3A8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4"/>
          <p:cNvSpPr/>
          <p:nvPr/>
        </p:nvSpPr>
        <p:spPr>
          <a:xfrm>
            <a:off x="543750" y="4075826"/>
            <a:ext cx="7772400" cy="480061"/>
          </a:xfrm>
          <a:prstGeom prst="rect">
            <a:avLst/>
          </a:prstGeom>
          <a:noFill/>
          <a:ln>
            <a:noFill/>
          </a:ln>
        </p:spPr>
        <p:txBody>
          <a:bodyPr spcFirstLastPara="1" wrap="square" lIns="91425" tIns="45700" rIns="91425" bIns="45700" anchor="ctr" anchorCtr="0">
            <a:noAutofit/>
          </a:bodyPr>
          <a:lstStyle/>
          <a:p>
            <a:pPr marL="0" marR="0" lvl="0" indent="0" algn="just" rtl="0">
              <a:spcBef>
                <a:spcPts val="0"/>
              </a:spcBef>
              <a:spcAft>
                <a:spcPts val="0"/>
              </a:spcAft>
              <a:buClr>
                <a:srgbClr val="1E2761"/>
              </a:buClr>
              <a:buSzPts val="1300"/>
              <a:buFont typeface="Calibri"/>
              <a:buNone/>
            </a:pPr>
            <a:r>
              <a:rPr lang="en-US" sz="1300" b="1" i="1" u="none" strike="noStrike" cap="none" dirty="0">
                <a:solidFill>
                  <a:srgbClr val="1E2761"/>
                </a:solidFill>
                <a:latin typeface="Calibri"/>
                <a:ea typeface="Calibri"/>
                <a:cs typeface="Calibri"/>
                <a:sym typeface="Calibri"/>
              </a:rPr>
              <a:t>	Il </a:t>
            </a:r>
            <a:r>
              <a:rPr lang="en-US" sz="1300" b="1" i="1" u="none" strike="noStrike" cap="none" dirty="0" err="1">
                <a:solidFill>
                  <a:srgbClr val="1E2761"/>
                </a:solidFill>
                <a:latin typeface="Calibri"/>
                <a:ea typeface="Calibri"/>
                <a:cs typeface="Calibri"/>
                <a:sym typeface="Calibri"/>
              </a:rPr>
              <a:t>serait</a:t>
            </a:r>
            <a:r>
              <a:rPr lang="en-US" sz="1300" b="1" i="1" u="none" strike="noStrike" cap="none" dirty="0">
                <a:solidFill>
                  <a:srgbClr val="1E2761"/>
                </a:solidFill>
                <a:latin typeface="Calibri"/>
                <a:ea typeface="Calibri"/>
                <a:cs typeface="Calibri"/>
                <a:sym typeface="Calibri"/>
              </a:rPr>
              <a:t> </a:t>
            </a:r>
            <a:r>
              <a:rPr lang="en-US" sz="1300" b="1" i="1" u="none" strike="noStrike" cap="none" dirty="0" err="1">
                <a:solidFill>
                  <a:srgbClr val="1E2761"/>
                </a:solidFill>
                <a:latin typeface="Calibri"/>
                <a:ea typeface="Calibri"/>
                <a:cs typeface="Calibri"/>
                <a:sym typeface="Calibri"/>
              </a:rPr>
              <a:t>donc</a:t>
            </a:r>
            <a:r>
              <a:rPr lang="en-US" sz="1300" b="1" i="1" u="none" strike="noStrike" cap="none" dirty="0">
                <a:solidFill>
                  <a:srgbClr val="1E2761"/>
                </a:solidFill>
                <a:latin typeface="Calibri"/>
                <a:ea typeface="Calibri"/>
                <a:cs typeface="Calibri"/>
                <a:sym typeface="Calibri"/>
              </a:rPr>
              <a:t> </a:t>
            </a:r>
            <a:r>
              <a:rPr lang="en-US" sz="1300" b="1" i="1" u="none" strike="noStrike" cap="none" dirty="0" err="1">
                <a:solidFill>
                  <a:srgbClr val="1E2761"/>
                </a:solidFill>
                <a:latin typeface="Calibri"/>
                <a:ea typeface="Calibri"/>
                <a:cs typeface="Calibri"/>
                <a:sym typeface="Calibri"/>
              </a:rPr>
              <a:t>impératif</a:t>
            </a:r>
            <a:r>
              <a:rPr lang="en-US" sz="1300" b="1" i="1" u="none" strike="noStrike" cap="none" dirty="0">
                <a:solidFill>
                  <a:srgbClr val="1E2761"/>
                </a:solidFill>
                <a:latin typeface="Calibri"/>
                <a:ea typeface="Calibri"/>
                <a:cs typeface="Calibri"/>
                <a:sym typeface="Calibri"/>
              </a:rPr>
              <a:t> </a:t>
            </a:r>
            <a:r>
              <a:rPr lang="en-US" sz="1300" b="1" i="1" u="none" strike="noStrike" cap="none" dirty="0" err="1">
                <a:solidFill>
                  <a:srgbClr val="1E2761"/>
                </a:solidFill>
                <a:latin typeface="Calibri"/>
                <a:ea typeface="Calibri"/>
                <a:cs typeface="Calibri"/>
                <a:sym typeface="Calibri"/>
              </a:rPr>
              <a:t>d'acquérir</a:t>
            </a:r>
            <a:r>
              <a:rPr lang="en-US" sz="1300" b="1" i="1" u="none" strike="noStrike" cap="none" dirty="0">
                <a:solidFill>
                  <a:srgbClr val="1E2761"/>
                </a:solidFill>
                <a:latin typeface="Calibri"/>
                <a:ea typeface="Calibri"/>
                <a:cs typeface="Calibri"/>
                <a:sym typeface="Calibri"/>
              </a:rPr>
              <a:t> un </a:t>
            </a:r>
            <a:r>
              <a:rPr lang="en-US" sz="1300" b="1" i="1" u="none" strike="noStrike" cap="none" dirty="0" err="1">
                <a:solidFill>
                  <a:srgbClr val="1E2761"/>
                </a:solidFill>
                <a:latin typeface="Calibri"/>
                <a:ea typeface="Calibri"/>
                <a:cs typeface="Calibri"/>
                <a:sym typeface="Calibri"/>
              </a:rPr>
              <a:t>système</a:t>
            </a:r>
            <a:r>
              <a:rPr lang="en-US" sz="1300" b="1" i="1" u="none" strike="noStrike" cap="none" dirty="0">
                <a:solidFill>
                  <a:srgbClr val="1E2761"/>
                </a:solidFill>
                <a:latin typeface="Calibri"/>
                <a:ea typeface="Calibri"/>
                <a:cs typeface="Calibri"/>
                <a:sym typeface="Calibri"/>
              </a:rPr>
              <a:t> </a:t>
            </a:r>
            <a:r>
              <a:rPr lang="en-US" sz="1300" b="1" i="1" u="none" strike="noStrike" cap="none" dirty="0" err="1">
                <a:solidFill>
                  <a:srgbClr val="1E2761"/>
                </a:solidFill>
                <a:latin typeface="Calibri"/>
                <a:ea typeface="Calibri"/>
                <a:cs typeface="Calibri"/>
                <a:sym typeface="Calibri"/>
              </a:rPr>
              <a:t>informatisé</a:t>
            </a:r>
            <a:r>
              <a:rPr lang="en-US" sz="1300" b="1" i="1" u="none" strike="noStrike" cap="none" dirty="0">
                <a:solidFill>
                  <a:srgbClr val="1E2761"/>
                </a:solidFill>
                <a:latin typeface="Calibri"/>
                <a:ea typeface="Calibri"/>
                <a:cs typeface="Calibri"/>
                <a:sym typeface="Calibri"/>
              </a:rPr>
              <a:t>, </a:t>
            </a:r>
            <a:r>
              <a:rPr lang="en-US" sz="1300" b="1" i="1" u="none" strike="noStrike" cap="none" dirty="0" err="1">
                <a:solidFill>
                  <a:srgbClr val="1E2761"/>
                </a:solidFill>
                <a:latin typeface="Calibri"/>
                <a:ea typeface="Calibri"/>
                <a:cs typeface="Calibri"/>
                <a:sym typeface="Calibri"/>
              </a:rPr>
              <a:t>sécurisé</a:t>
            </a:r>
            <a:r>
              <a:rPr lang="en-US" sz="1300" b="1" i="1" u="none" strike="noStrike" cap="none" dirty="0">
                <a:solidFill>
                  <a:srgbClr val="1E2761"/>
                </a:solidFill>
                <a:latin typeface="Calibri"/>
                <a:ea typeface="Calibri"/>
                <a:cs typeface="Calibri"/>
                <a:sym typeface="Calibri"/>
              </a:rPr>
              <a:t> et </a:t>
            </a:r>
            <a:r>
              <a:rPr lang="en-US" sz="1300" b="1" i="1" u="none" strike="noStrike" cap="none" dirty="0" err="1">
                <a:solidFill>
                  <a:srgbClr val="1E2761"/>
                </a:solidFill>
                <a:latin typeface="Calibri"/>
                <a:ea typeface="Calibri"/>
                <a:cs typeface="Calibri"/>
                <a:sym typeface="Calibri"/>
              </a:rPr>
              <a:t>centralisé</a:t>
            </a:r>
            <a:r>
              <a:rPr lang="en-US" sz="1300" b="1" i="1" u="none" strike="noStrike" cap="none" dirty="0">
                <a:solidFill>
                  <a:srgbClr val="1E2761"/>
                </a:solidFill>
                <a:latin typeface="Calibri"/>
                <a:ea typeface="Calibri"/>
                <a:cs typeface="Calibri"/>
                <a:sym typeface="Calibri"/>
              </a:rPr>
              <a:t> pour </a:t>
            </a:r>
            <a:r>
              <a:rPr lang="en-US" sz="1300" b="1" i="1" u="none" strike="noStrike" cap="none" dirty="0" err="1">
                <a:solidFill>
                  <a:srgbClr val="1E2761"/>
                </a:solidFill>
                <a:latin typeface="Calibri"/>
                <a:ea typeface="Calibri"/>
                <a:cs typeface="Calibri"/>
                <a:sym typeface="Calibri"/>
              </a:rPr>
              <a:t>améliorer</a:t>
            </a:r>
            <a:r>
              <a:rPr lang="en-US" sz="1300" b="1" i="1" u="none" strike="noStrike" cap="none" dirty="0">
                <a:solidFill>
                  <a:srgbClr val="1E2761"/>
                </a:solidFill>
                <a:latin typeface="Calibri"/>
                <a:ea typeface="Calibri"/>
                <a:cs typeface="Calibri"/>
                <a:sym typeface="Calibri"/>
              </a:rPr>
              <a:t> la </a:t>
            </a:r>
            <a:r>
              <a:rPr lang="en-US" sz="1300" b="1" i="1" u="none" strike="noStrike" cap="none" dirty="0" err="1">
                <a:solidFill>
                  <a:srgbClr val="1E2761"/>
                </a:solidFill>
                <a:latin typeface="Calibri"/>
                <a:ea typeface="Calibri"/>
                <a:cs typeface="Calibri"/>
                <a:sym typeface="Calibri"/>
              </a:rPr>
              <a:t>gestion</a:t>
            </a:r>
            <a:r>
              <a:rPr lang="en-US" sz="1300" b="1" i="1" u="none" strike="noStrike" cap="none" dirty="0">
                <a:solidFill>
                  <a:srgbClr val="1E2761"/>
                </a:solidFill>
                <a:latin typeface="Calibri"/>
                <a:ea typeface="Calibri"/>
                <a:cs typeface="Calibri"/>
                <a:sym typeface="Calibri"/>
              </a:rPr>
              <a:t> des archives et </a:t>
            </a:r>
            <a:r>
              <a:rPr lang="en-US" sz="1300" b="1" i="1" u="none" strike="noStrike" cap="none" dirty="0" err="1">
                <a:solidFill>
                  <a:srgbClr val="1E2761"/>
                </a:solidFill>
                <a:latin typeface="Calibri"/>
                <a:ea typeface="Calibri"/>
                <a:cs typeface="Calibri"/>
                <a:sym typeface="Calibri"/>
              </a:rPr>
              <a:t>renseigner</a:t>
            </a:r>
            <a:r>
              <a:rPr lang="en-US" sz="1300" b="1" i="1" u="none" strike="noStrike" cap="none" dirty="0">
                <a:solidFill>
                  <a:srgbClr val="1E2761"/>
                </a:solidFill>
                <a:latin typeface="Calibri"/>
                <a:ea typeface="Calibri"/>
                <a:cs typeface="Calibri"/>
                <a:sym typeface="Calibri"/>
              </a:rPr>
              <a:t> </a:t>
            </a:r>
            <a:r>
              <a:rPr lang="en-US" sz="1300" b="1" i="1" u="none" strike="noStrike" cap="none" dirty="0" err="1">
                <a:solidFill>
                  <a:srgbClr val="1E2761"/>
                </a:solidFill>
                <a:latin typeface="Calibri"/>
                <a:ea typeface="Calibri"/>
                <a:cs typeface="Calibri"/>
                <a:sym typeface="Calibri"/>
              </a:rPr>
              <a:t>l’application</a:t>
            </a:r>
            <a:r>
              <a:rPr lang="en-US" sz="1300" b="1" i="1" u="none" strike="noStrike" cap="none" dirty="0">
                <a:solidFill>
                  <a:srgbClr val="1E2761"/>
                </a:solidFill>
                <a:latin typeface="Calibri"/>
                <a:ea typeface="Calibri"/>
                <a:cs typeface="Calibri"/>
                <a:sym typeface="Calibri"/>
              </a:rPr>
              <a:t> AIGLES </a:t>
            </a:r>
            <a:r>
              <a:rPr lang="en-US" sz="1300" b="1" i="1" u="none" strike="noStrike" cap="none" dirty="0" err="1">
                <a:solidFill>
                  <a:srgbClr val="1E2761"/>
                </a:solidFill>
                <a:latin typeface="Calibri"/>
                <a:ea typeface="Calibri"/>
                <a:cs typeface="Calibri"/>
                <a:sym typeface="Calibri"/>
              </a:rPr>
              <a:t>dans</a:t>
            </a:r>
            <a:r>
              <a:rPr lang="en-US" sz="1300" b="1" i="1" u="none" strike="noStrike" cap="none" dirty="0">
                <a:solidFill>
                  <a:srgbClr val="1E2761"/>
                </a:solidFill>
                <a:latin typeface="Calibri"/>
                <a:ea typeface="Calibri"/>
                <a:cs typeface="Calibri"/>
                <a:sym typeface="Calibri"/>
              </a:rPr>
              <a:t> le </a:t>
            </a:r>
            <a:r>
              <a:rPr lang="en-US" sz="1300" b="1" i="1" u="none" strike="noStrike" cap="none" dirty="0" err="1">
                <a:solidFill>
                  <a:srgbClr val="1E2761"/>
                </a:solidFill>
                <a:latin typeface="Calibri"/>
                <a:ea typeface="Calibri"/>
                <a:cs typeface="Calibri"/>
                <a:sym typeface="Calibri"/>
              </a:rPr>
              <a:t>processus</a:t>
            </a:r>
            <a:r>
              <a:rPr lang="en-US" sz="1300" b="1" i="1" u="none" strike="noStrike" cap="none" dirty="0">
                <a:solidFill>
                  <a:srgbClr val="1E2761"/>
                </a:solidFill>
                <a:latin typeface="Calibri"/>
                <a:ea typeface="Calibri"/>
                <a:cs typeface="Calibri"/>
                <a:sym typeface="Calibri"/>
              </a:rPr>
              <a:t> à incidence </a:t>
            </a:r>
            <a:r>
              <a:rPr lang="en-US" sz="1300" b="1" i="1" u="none" strike="noStrike" cap="none" dirty="0" err="1">
                <a:solidFill>
                  <a:srgbClr val="1E2761"/>
                </a:solidFill>
                <a:latin typeface="Calibri"/>
                <a:ea typeface="Calibri"/>
                <a:cs typeface="Calibri"/>
                <a:sym typeface="Calibri"/>
              </a:rPr>
              <a:t>financière</a:t>
            </a:r>
            <a:r>
              <a:rPr lang="en-US" sz="1300" b="1" i="1" u="none" strike="noStrike" cap="none" dirty="0">
                <a:solidFill>
                  <a:srgbClr val="1E2761"/>
                </a:solidFill>
                <a:latin typeface="Calibri"/>
                <a:ea typeface="Calibri"/>
                <a:cs typeface="Calibri"/>
                <a:sym typeface="Calibri"/>
              </a:rPr>
              <a:t>.</a:t>
            </a:r>
            <a:endParaRPr sz="1300" b="0" i="0" u="none" strike="noStrike" cap="none" dirty="0">
              <a:solidFill>
                <a:schemeClr val="dk1"/>
              </a:solidFill>
              <a:latin typeface="Calibri"/>
              <a:ea typeface="Calibri"/>
              <a:cs typeface="Calibri"/>
              <a:sym typeface="Calibri"/>
            </a:endParaRPr>
          </a:p>
        </p:txBody>
      </p:sp>
      <p:grpSp>
        <p:nvGrpSpPr>
          <p:cNvPr id="12" name="Group 32"/>
          <p:cNvGrpSpPr/>
          <p:nvPr/>
        </p:nvGrpSpPr>
        <p:grpSpPr>
          <a:xfrm>
            <a:off x="144780" y="86033"/>
            <a:ext cx="9022080" cy="778837"/>
            <a:chOff x="330" y="182"/>
            <a:chExt cx="18543" cy="1604"/>
          </a:xfrm>
        </p:grpSpPr>
        <p:sp>
          <p:nvSpPr>
            <p:cNvPr id="13" name="Freeform 3"/>
            <p:cNvSpPr/>
            <p:nvPr/>
          </p:nvSpPr>
          <p:spPr>
            <a:xfrm>
              <a:off x="330" y="182"/>
              <a:ext cx="1640" cy="1604"/>
            </a:xfrm>
            <a:custGeom>
              <a:avLst/>
              <a:gdLst/>
              <a:ahLst/>
              <a:cxnLst/>
              <a:rect l="l" t="t" r="r" b="b"/>
              <a:pathLst>
                <a:path w="6263628" h="7097595">
                  <a:moveTo>
                    <a:pt x="0" y="0"/>
                  </a:moveTo>
                  <a:lnTo>
                    <a:pt x="6263628" y="0"/>
                  </a:lnTo>
                  <a:lnTo>
                    <a:pt x="6263628" y="7097595"/>
                  </a:lnTo>
                  <a:lnTo>
                    <a:pt x="0" y="7097595"/>
                  </a:lnTo>
                  <a:lnTo>
                    <a:pt x="0" y="0"/>
                  </a:lnTo>
                  <a:close/>
                </a:path>
              </a:pathLst>
            </a:custGeom>
            <a:blipFill>
              <a:blip r:embed="rId3"/>
              <a:stretch>
                <a:fillRect/>
              </a:stretch>
            </a:blipFill>
          </p:spPr>
        </p:sp>
        <p:pic>
          <p:nvPicPr>
            <p:cNvPr id="14" name="Picture 3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953" y="182"/>
              <a:ext cx="1920" cy="1604"/>
            </a:xfrm>
            <a:prstGeom prst="rect">
              <a:avLst/>
            </a:prstGeom>
          </p:spPr>
        </p:pic>
      </p:grpSp>
      <p:sp>
        <p:nvSpPr>
          <p:cNvPr id="16" name="TextBox 7">
            <a:extLst>
              <a:ext uri="{FF2B5EF4-FFF2-40B4-BE49-F238E27FC236}">
                <a16:creationId xmlns:a16="http://schemas.microsoft.com/office/drawing/2014/main" id="{932DD84F-C2C7-4485-A411-E8FC1C88068C}"/>
              </a:ext>
            </a:extLst>
          </p:cNvPr>
          <p:cNvSpPr txBox="1"/>
          <p:nvPr/>
        </p:nvSpPr>
        <p:spPr>
          <a:xfrm>
            <a:off x="241935" y="1076325"/>
            <a:ext cx="8660130" cy="2446119"/>
          </a:xfrm>
          <a:custGeom>
            <a:avLst/>
            <a:gdLst>
              <a:gd name="connsiteX0" fmla="*/ 0 w 11616544"/>
              <a:gd name="connsiteY0" fmla="*/ 0 h 3539430"/>
              <a:gd name="connsiteX1" fmla="*/ 464662 w 11616544"/>
              <a:gd name="connsiteY1" fmla="*/ 0 h 3539430"/>
              <a:gd name="connsiteX2" fmla="*/ 1277820 w 11616544"/>
              <a:gd name="connsiteY2" fmla="*/ 0 h 3539430"/>
              <a:gd name="connsiteX3" fmla="*/ 1858647 w 11616544"/>
              <a:gd name="connsiteY3" fmla="*/ 0 h 3539430"/>
              <a:gd name="connsiteX4" fmla="*/ 2671805 w 11616544"/>
              <a:gd name="connsiteY4" fmla="*/ 0 h 3539430"/>
              <a:gd name="connsiteX5" fmla="*/ 3368798 w 11616544"/>
              <a:gd name="connsiteY5" fmla="*/ 0 h 3539430"/>
              <a:gd name="connsiteX6" fmla="*/ 3949625 w 11616544"/>
              <a:gd name="connsiteY6" fmla="*/ 0 h 3539430"/>
              <a:gd name="connsiteX7" fmla="*/ 4530452 w 11616544"/>
              <a:gd name="connsiteY7" fmla="*/ 0 h 3539430"/>
              <a:gd name="connsiteX8" fmla="*/ 5343610 w 11616544"/>
              <a:gd name="connsiteY8" fmla="*/ 0 h 3539430"/>
              <a:gd name="connsiteX9" fmla="*/ 6156768 w 11616544"/>
              <a:gd name="connsiteY9" fmla="*/ 0 h 3539430"/>
              <a:gd name="connsiteX10" fmla="*/ 6621430 w 11616544"/>
              <a:gd name="connsiteY10" fmla="*/ 0 h 3539430"/>
              <a:gd name="connsiteX11" fmla="*/ 7318423 w 11616544"/>
              <a:gd name="connsiteY11" fmla="*/ 0 h 3539430"/>
              <a:gd name="connsiteX12" fmla="*/ 8131581 w 11616544"/>
              <a:gd name="connsiteY12" fmla="*/ 0 h 3539430"/>
              <a:gd name="connsiteX13" fmla="*/ 8944739 w 11616544"/>
              <a:gd name="connsiteY13" fmla="*/ 0 h 3539430"/>
              <a:gd name="connsiteX14" fmla="*/ 9757897 w 11616544"/>
              <a:gd name="connsiteY14" fmla="*/ 0 h 3539430"/>
              <a:gd name="connsiteX15" fmla="*/ 10338724 w 11616544"/>
              <a:gd name="connsiteY15" fmla="*/ 0 h 3539430"/>
              <a:gd name="connsiteX16" fmla="*/ 11035717 w 11616544"/>
              <a:gd name="connsiteY16" fmla="*/ 0 h 3539430"/>
              <a:gd name="connsiteX17" fmla="*/ 11616544 w 11616544"/>
              <a:gd name="connsiteY17" fmla="*/ 0 h 3539430"/>
              <a:gd name="connsiteX18" fmla="*/ 11616544 w 11616544"/>
              <a:gd name="connsiteY18" fmla="*/ 625299 h 3539430"/>
              <a:gd name="connsiteX19" fmla="*/ 11616544 w 11616544"/>
              <a:gd name="connsiteY19" fmla="*/ 1250599 h 3539430"/>
              <a:gd name="connsiteX20" fmla="*/ 11616544 w 11616544"/>
              <a:gd name="connsiteY20" fmla="*/ 1911292 h 3539430"/>
              <a:gd name="connsiteX21" fmla="*/ 11616544 w 11616544"/>
              <a:gd name="connsiteY21" fmla="*/ 2501197 h 3539430"/>
              <a:gd name="connsiteX22" fmla="*/ 11616544 w 11616544"/>
              <a:gd name="connsiteY22" fmla="*/ 3020314 h 3539430"/>
              <a:gd name="connsiteX23" fmla="*/ 11616544 w 11616544"/>
              <a:gd name="connsiteY23" fmla="*/ 3539430 h 3539430"/>
              <a:gd name="connsiteX24" fmla="*/ 11151882 w 11616544"/>
              <a:gd name="connsiteY24" fmla="*/ 3539430 h 3539430"/>
              <a:gd name="connsiteX25" fmla="*/ 10919551 w 11616544"/>
              <a:gd name="connsiteY25" fmla="*/ 3539430 h 3539430"/>
              <a:gd name="connsiteX26" fmla="*/ 10338724 w 11616544"/>
              <a:gd name="connsiteY26" fmla="*/ 3539430 h 3539430"/>
              <a:gd name="connsiteX27" fmla="*/ 9874062 w 11616544"/>
              <a:gd name="connsiteY27" fmla="*/ 3539430 h 3539430"/>
              <a:gd name="connsiteX28" fmla="*/ 9177070 w 11616544"/>
              <a:gd name="connsiteY28" fmla="*/ 3539430 h 3539430"/>
              <a:gd name="connsiteX29" fmla="*/ 8944739 w 11616544"/>
              <a:gd name="connsiteY29" fmla="*/ 3539430 h 3539430"/>
              <a:gd name="connsiteX30" fmla="*/ 8596243 w 11616544"/>
              <a:gd name="connsiteY30" fmla="*/ 3539430 h 3539430"/>
              <a:gd name="connsiteX31" fmla="*/ 8247746 w 11616544"/>
              <a:gd name="connsiteY31" fmla="*/ 3539430 h 3539430"/>
              <a:gd name="connsiteX32" fmla="*/ 7899250 w 11616544"/>
              <a:gd name="connsiteY32" fmla="*/ 3539430 h 3539430"/>
              <a:gd name="connsiteX33" fmla="*/ 7550754 w 11616544"/>
              <a:gd name="connsiteY33" fmla="*/ 3539430 h 3539430"/>
              <a:gd name="connsiteX34" fmla="*/ 6969926 w 11616544"/>
              <a:gd name="connsiteY34" fmla="*/ 3539430 h 3539430"/>
              <a:gd name="connsiteX35" fmla="*/ 6389099 w 11616544"/>
              <a:gd name="connsiteY35" fmla="*/ 3539430 h 3539430"/>
              <a:gd name="connsiteX36" fmla="*/ 5924437 w 11616544"/>
              <a:gd name="connsiteY36" fmla="*/ 3539430 h 3539430"/>
              <a:gd name="connsiteX37" fmla="*/ 5575941 w 11616544"/>
              <a:gd name="connsiteY37" fmla="*/ 3539430 h 3539430"/>
              <a:gd name="connsiteX38" fmla="*/ 5227445 w 11616544"/>
              <a:gd name="connsiteY38" fmla="*/ 3539430 h 3539430"/>
              <a:gd name="connsiteX39" fmla="*/ 4995114 w 11616544"/>
              <a:gd name="connsiteY39" fmla="*/ 3539430 h 3539430"/>
              <a:gd name="connsiteX40" fmla="*/ 4414287 w 11616544"/>
              <a:gd name="connsiteY40" fmla="*/ 3539430 h 3539430"/>
              <a:gd name="connsiteX41" fmla="*/ 3833460 w 11616544"/>
              <a:gd name="connsiteY41" fmla="*/ 3539430 h 3539430"/>
              <a:gd name="connsiteX42" fmla="*/ 3020301 w 11616544"/>
              <a:gd name="connsiteY42" fmla="*/ 3539430 h 3539430"/>
              <a:gd name="connsiteX43" fmla="*/ 2207143 w 11616544"/>
              <a:gd name="connsiteY43" fmla="*/ 3539430 h 3539430"/>
              <a:gd name="connsiteX44" fmla="*/ 1742482 w 11616544"/>
              <a:gd name="connsiteY44" fmla="*/ 3539430 h 3539430"/>
              <a:gd name="connsiteX45" fmla="*/ 1045489 w 11616544"/>
              <a:gd name="connsiteY45" fmla="*/ 3539430 h 3539430"/>
              <a:gd name="connsiteX46" fmla="*/ 813158 w 11616544"/>
              <a:gd name="connsiteY46" fmla="*/ 3539430 h 3539430"/>
              <a:gd name="connsiteX47" fmla="*/ 0 w 11616544"/>
              <a:gd name="connsiteY47" fmla="*/ 3539430 h 3539430"/>
              <a:gd name="connsiteX48" fmla="*/ 0 w 11616544"/>
              <a:gd name="connsiteY48" fmla="*/ 3020314 h 3539430"/>
              <a:gd name="connsiteX49" fmla="*/ 0 w 11616544"/>
              <a:gd name="connsiteY49" fmla="*/ 2359620 h 3539430"/>
              <a:gd name="connsiteX50" fmla="*/ 0 w 11616544"/>
              <a:gd name="connsiteY50" fmla="*/ 1769715 h 3539430"/>
              <a:gd name="connsiteX51" fmla="*/ 0 w 11616544"/>
              <a:gd name="connsiteY51" fmla="*/ 1250599 h 3539430"/>
              <a:gd name="connsiteX52" fmla="*/ 0 w 11616544"/>
              <a:gd name="connsiteY52" fmla="*/ 696088 h 3539430"/>
              <a:gd name="connsiteX53" fmla="*/ 0 w 11616544"/>
              <a:gd name="connsiteY53" fmla="*/ 0 h 3539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1616544" h="3539430" extrusionOk="0">
                <a:moveTo>
                  <a:pt x="0" y="0"/>
                </a:moveTo>
                <a:cubicBezTo>
                  <a:pt x="232224" y="-26628"/>
                  <a:pt x="307117" y="10910"/>
                  <a:pt x="464662" y="0"/>
                </a:cubicBezTo>
                <a:cubicBezTo>
                  <a:pt x="622207" y="-10910"/>
                  <a:pt x="903547" y="30091"/>
                  <a:pt x="1277820" y="0"/>
                </a:cubicBezTo>
                <a:cubicBezTo>
                  <a:pt x="1652093" y="-30091"/>
                  <a:pt x="1736767" y="24909"/>
                  <a:pt x="1858647" y="0"/>
                </a:cubicBezTo>
                <a:cubicBezTo>
                  <a:pt x="1980527" y="-24909"/>
                  <a:pt x="2266475" y="24102"/>
                  <a:pt x="2671805" y="0"/>
                </a:cubicBezTo>
                <a:cubicBezTo>
                  <a:pt x="3077135" y="-24102"/>
                  <a:pt x="3091287" y="11024"/>
                  <a:pt x="3368798" y="0"/>
                </a:cubicBezTo>
                <a:cubicBezTo>
                  <a:pt x="3646309" y="-11024"/>
                  <a:pt x="3671350" y="48558"/>
                  <a:pt x="3949625" y="0"/>
                </a:cubicBezTo>
                <a:cubicBezTo>
                  <a:pt x="4227900" y="-48558"/>
                  <a:pt x="4368118" y="28794"/>
                  <a:pt x="4530452" y="0"/>
                </a:cubicBezTo>
                <a:cubicBezTo>
                  <a:pt x="4692786" y="-28794"/>
                  <a:pt x="4955150" y="39878"/>
                  <a:pt x="5343610" y="0"/>
                </a:cubicBezTo>
                <a:cubicBezTo>
                  <a:pt x="5732070" y="-39878"/>
                  <a:pt x="5765575" y="10239"/>
                  <a:pt x="6156768" y="0"/>
                </a:cubicBezTo>
                <a:cubicBezTo>
                  <a:pt x="6547961" y="-10239"/>
                  <a:pt x="6522096" y="7810"/>
                  <a:pt x="6621430" y="0"/>
                </a:cubicBezTo>
                <a:cubicBezTo>
                  <a:pt x="6720764" y="-7810"/>
                  <a:pt x="7013778" y="41213"/>
                  <a:pt x="7318423" y="0"/>
                </a:cubicBezTo>
                <a:cubicBezTo>
                  <a:pt x="7623068" y="-41213"/>
                  <a:pt x="7844287" y="65569"/>
                  <a:pt x="8131581" y="0"/>
                </a:cubicBezTo>
                <a:cubicBezTo>
                  <a:pt x="8418875" y="-65569"/>
                  <a:pt x="8563314" y="63067"/>
                  <a:pt x="8944739" y="0"/>
                </a:cubicBezTo>
                <a:cubicBezTo>
                  <a:pt x="9326164" y="-63067"/>
                  <a:pt x="9455129" y="86350"/>
                  <a:pt x="9757897" y="0"/>
                </a:cubicBezTo>
                <a:cubicBezTo>
                  <a:pt x="10060665" y="-86350"/>
                  <a:pt x="10105667" y="68039"/>
                  <a:pt x="10338724" y="0"/>
                </a:cubicBezTo>
                <a:cubicBezTo>
                  <a:pt x="10571781" y="-68039"/>
                  <a:pt x="10700438" y="6239"/>
                  <a:pt x="11035717" y="0"/>
                </a:cubicBezTo>
                <a:cubicBezTo>
                  <a:pt x="11370996" y="-6239"/>
                  <a:pt x="11455605" y="37776"/>
                  <a:pt x="11616544" y="0"/>
                </a:cubicBezTo>
                <a:cubicBezTo>
                  <a:pt x="11677158" y="151100"/>
                  <a:pt x="11600280" y="415104"/>
                  <a:pt x="11616544" y="625299"/>
                </a:cubicBezTo>
                <a:cubicBezTo>
                  <a:pt x="11632808" y="835494"/>
                  <a:pt x="11573245" y="1079574"/>
                  <a:pt x="11616544" y="1250599"/>
                </a:cubicBezTo>
                <a:cubicBezTo>
                  <a:pt x="11659843" y="1421624"/>
                  <a:pt x="11571517" y="1591878"/>
                  <a:pt x="11616544" y="1911292"/>
                </a:cubicBezTo>
                <a:cubicBezTo>
                  <a:pt x="11661571" y="2230706"/>
                  <a:pt x="11610550" y="2211759"/>
                  <a:pt x="11616544" y="2501197"/>
                </a:cubicBezTo>
                <a:cubicBezTo>
                  <a:pt x="11622538" y="2790635"/>
                  <a:pt x="11560327" y="2831653"/>
                  <a:pt x="11616544" y="3020314"/>
                </a:cubicBezTo>
                <a:cubicBezTo>
                  <a:pt x="11672761" y="3208975"/>
                  <a:pt x="11562991" y="3408861"/>
                  <a:pt x="11616544" y="3539430"/>
                </a:cubicBezTo>
                <a:cubicBezTo>
                  <a:pt x="11445092" y="3549370"/>
                  <a:pt x="11294975" y="3502128"/>
                  <a:pt x="11151882" y="3539430"/>
                </a:cubicBezTo>
                <a:cubicBezTo>
                  <a:pt x="11008789" y="3576732"/>
                  <a:pt x="10995769" y="3516222"/>
                  <a:pt x="10919551" y="3539430"/>
                </a:cubicBezTo>
                <a:cubicBezTo>
                  <a:pt x="10843333" y="3562638"/>
                  <a:pt x="10456906" y="3469930"/>
                  <a:pt x="10338724" y="3539430"/>
                </a:cubicBezTo>
                <a:cubicBezTo>
                  <a:pt x="10220542" y="3608930"/>
                  <a:pt x="10075105" y="3516606"/>
                  <a:pt x="9874062" y="3539430"/>
                </a:cubicBezTo>
                <a:cubicBezTo>
                  <a:pt x="9673019" y="3562254"/>
                  <a:pt x="9459988" y="3499074"/>
                  <a:pt x="9177070" y="3539430"/>
                </a:cubicBezTo>
                <a:cubicBezTo>
                  <a:pt x="8894152" y="3579786"/>
                  <a:pt x="9034617" y="3517595"/>
                  <a:pt x="8944739" y="3539430"/>
                </a:cubicBezTo>
                <a:cubicBezTo>
                  <a:pt x="8854861" y="3561265"/>
                  <a:pt x="8718652" y="3522902"/>
                  <a:pt x="8596243" y="3539430"/>
                </a:cubicBezTo>
                <a:cubicBezTo>
                  <a:pt x="8473834" y="3555958"/>
                  <a:pt x="8405020" y="3538226"/>
                  <a:pt x="8247746" y="3539430"/>
                </a:cubicBezTo>
                <a:cubicBezTo>
                  <a:pt x="8090472" y="3540634"/>
                  <a:pt x="8022976" y="3526699"/>
                  <a:pt x="7899250" y="3539430"/>
                </a:cubicBezTo>
                <a:cubicBezTo>
                  <a:pt x="7775524" y="3552161"/>
                  <a:pt x="7701858" y="3533690"/>
                  <a:pt x="7550754" y="3539430"/>
                </a:cubicBezTo>
                <a:cubicBezTo>
                  <a:pt x="7399650" y="3545170"/>
                  <a:pt x="7207756" y="3476370"/>
                  <a:pt x="6969926" y="3539430"/>
                </a:cubicBezTo>
                <a:cubicBezTo>
                  <a:pt x="6732096" y="3602490"/>
                  <a:pt x="6607569" y="3503462"/>
                  <a:pt x="6389099" y="3539430"/>
                </a:cubicBezTo>
                <a:cubicBezTo>
                  <a:pt x="6170629" y="3575398"/>
                  <a:pt x="6077601" y="3506006"/>
                  <a:pt x="5924437" y="3539430"/>
                </a:cubicBezTo>
                <a:cubicBezTo>
                  <a:pt x="5771273" y="3572854"/>
                  <a:pt x="5704828" y="3519633"/>
                  <a:pt x="5575941" y="3539430"/>
                </a:cubicBezTo>
                <a:cubicBezTo>
                  <a:pt x="5447054" y="3559227"/>
                  <a:pt x="5394796" y="3508255"/>
                  <a:pt x="5227445" y="3539430"/>
                </a:cubicBezTo>
                <a:cubicBezTo>
                  <a:pt x="5060094" y="3570605"/>
                  <a:pt x="5110283" y="3515812"/>
                  <a:pt x="4995114" y="3539430"/>
                </a:cubicBezTo>
                <a:cubicBezTo>
                  <a:pt x="4879945" y="3563048"/>
                  <a:pt x="4683158" y="3508834"/>
                  <a:pt x="4414287" y="3539430"/>
                </a:cubicBezTo>
                <a:cubicBezTo>
                  <a:pt x="4145416" y="3570026"/>
                  <a:pt x="4068449" y="3481692"/>
                  <a:pt x="3833460" y="3539430"/>
                </a:cubicBezTo>
                <a:cubicBezTo>
                  <a:pt x="3598471" y="3597168"/>
                  <a:pt x="3189226" y="3519562"/>
                  <a:pt x="3020301" y="3539430"/>
                </a:cubicBezTo>
                <a:cubicBezTo>
                  <a:pt x="2851376" y="3559298"/>
                  <a:pt x="2400944" y="3515384"/>
                  <a:pt x="2207143" y="3539430"/>
                </a:cubicBezTo>
                <a:cubicBezTo>
                  <a:pt x="2013342" y="3563476"/>
                  <a:pt x="1923437" y="3518991"/>
                  <a:pt x="1742482" y="3539430"/>
                </a:cubicBezTo>
                <a:cubicBezTo>
                  <a:pt x="1561527" y="3559869"/>
                  <a:pt x="1375484" y="3473951"/>
                  <a:pt x="1045489" y="3539430"/>
                </a:cubicBezTo>
                <a:cubicBezTo>
                  <a:pt x="715494" y="3604909"/>
                  <a:pt x="911137" y="3525691"/>
                  <a:pt x="813158" y="3539430"/>
                </a:cubicBezTo>
                <a:cubicBezTo>
                  <a:pt x="715179" y="3553169"/>
                  <a:pt x="168847" y="3472078"/>
                  <a:pt x="0" y="3539430"/>
                </a:cubicBezTo>
                <a:cubicBezTo>
                  <a:pt x="-42906" y="3322513"/>
                  <a:pt x="23297" y="3210351"/>
                  <a:pt x="0" y="3020314"/>
                </a:cubicBezTo>
                <a:cubicBezTo>
                  <a:pt x="-23297" y="2830277"/>
                  <a:pt x="33120" y="2567747"/>
                  <a:pt x="0" y="2359620"/>
                </a:cubicBezTo>
                <a:cubicBezTo>
                  <a:pt x="-33120" y="2151493"/>
                  <a:pt x="29007" y="2024978"/>
                  <a:pt x="0" y="1769715"/>
                </a:cubicBezTo>
                <a:cubicBezTo>
                  <a:pt x="-29007" y="1514452"/>
                  <a:pt x="9728" y="1499845"/>
                  <a:pt x="0" y="1250599"/>
                </a:cubicBezTo>
                <a:cubicBezTo>
                  <a:pt x="-9728" y="1001353"/>
                  <a:pt x="22281" y="948164"/>
                  <a:pt x="0" y="696088"/>
                </a:cubicBezTo>
                <a:cubicBezTo>
                  <a:pt x="-22281" y="444012"/>
                  <a:pt x="68130" y="295046"/>
                  <a:pt x="0" y="0"/>
                </a:cubicBezTo>
                <a:close/>
              </a:path>
            </a:pathLst>
          </a:custGeom>
          <a:solidFill>
            <a:srgbClr val="70AD47">
              <a:lumMod val="75000"/>
            </a:srgbClr>
          </a:solidFill>
          <a:ln>
            <a:noFill/>
          </a:ln>
          <a:effectLst>
            <a:outerShdw blurRad="50800" dist="38100" dir="13500000" algn="br" rotWithShape="0">
              <a:prstClr val="black">
                <a:alpha val="40000"/>
              </a:prstClr>
            </a:outerShdw>
          </a:effectLst>
        </p:spPr>
        <p:txBody>
          <a:bodyPr wrap="square">
            <a:spAutoFit/>
          </a:bodyPr>
          <a:lstStyle/>
          <a:p>
            <a:pPr marL="0" marR="0" lvl="0" indent="0" algn="just" defTabSz="914400" eaLnBrk="1" fontAlgn="auto" latinLnBrk="0" hangingPunct="1">
              <a:lnSpc>
                <a:spcPct val="130000"/>
              </a:lnSpc>
              <a:spcBef>
                <a:spcPts val="0"/>
              </a:spcBef>
              <a:spcAft>
                <a:spcPts val="0"/>
              </a:spcAft>
              <a:buClrTx/>
              <a:buSzTx/>
              <a:buFontTx/>
              <a:buNone/>
              <a:tabLst/>
              <a:defRPr/>
            </a:pPr>
            <a:r>
              <a:rPr kumimoji="0" lang="fr-FR" sz="2000" b="0" i="0" u="none" strike="noStrike" kern="1200" cap="none" spc="0" normalizeH="0" baseline="0" noProof="0" dirty="0">
                <a:ln>
                  <a:noFill/>
                </a:ln>
                <a:solidFill>
                  <a:srgbClr val="FFFFFF"/>
                </a:solidFill>
                <a:effectLst/>
                <a:uLnTx/>
                <a:uFillTx/>
                <a:latin typeface="Verdana" panose="020B0804030504040204" pitchFamily="34" charset="0"/>
                <a:ea typeface="Times New Roman" panose="02020503050405090304" pitchFamily="18" charset="0"/>
                <a:cs typeface="Times New Roman" panose="02020503050405090304" pitchFamily="18" charset="0"/>
              </a:rPr>
              <a:t>Dans le cadre de la modernisation de la gestion des ressources humaines des Forces de Défense, et ce </a:t>
            </a:r>
            <a:r>
              <a:rPr kumimoji="0" lang="en-US" altLang="en-US" sz="2000" b="0" i="0" u="none" strike="noStrike" kern="1200" cap="none" spc="0" normalizeH="0" baseline="0" noProof="0" dirty="0">
                <a:ln>
                  <a:noFill/>
                </a:ln>
                <a:solidFill>
                  <a:srgbClr val="FFFFFF"/>
                </a:solidFill>
                <a:effectLst/>
                <a:uLnTx/>
                <a:uFillTx/>
                <a:latin typeface="Verdana" panose="020B0804030504040204" pitchFamily="34" charset="0"/>
                <a:ea typeface="Times New Roman" panose="02020503050405090304" pitchFamily="18" charset="0"/>
                <a:cs typeface="Times New Roman" panose="02020503050405090304" pitchFamily="18" charset="0"/>
              </a:rPr>
              <a:t>en cohérence avec l</a:t>
            </a:r>
            <a:r>
              <a:rPr kumimoji="0" lang="fr-FR" sz="2000" b="0" i="0" u="none" strike="noStrike" kern="1200" cap="none" spc="0" normalizeH="0" baseline="0" noProof="0" dirty="0">
                <a:ln>
                  <a:noFill/>
                </a:ln>
                <a:solidFill>
                  <a:srgbClr val="FFFFFF"/>
                </a:solidFill>
                <a:effectLst/>
                <a:uLnTx/>
                <a:uFillTx/>
                <a:latin typeface="Verdana" panose="020B0804030504040204" pitchFamily="34" charset="0"/>
                <a:ea typeface="Times New Roman" panose="02020503050405090304" pitchFamily="18" charset="0"/>
                <a:cs typeface="Times New Roman" panose="02020503050405090304" pitchFamily="18" charset="0"/>
              </a:rPr>
              <a:t>es orientations stratégiques gouvernementales en matière de digitalisation de l’Administration publique, le Ministère de la Défense s’est résolu à mettre en place un </a:t>
            </a:r>
            <a:r>
              <a:rPr kumimoji="0" lang="fr-FR" sz="2000" b="0" i="0" u="none" strike="noStrike" kern="1200" cap="none" spc="0" normalizeH="0" baseline="0" noProof="0" dirty="0" err="1">
                <a:ln>
                  <a:noFill/>
                </a:ln>
                <a:solidFill>
                  <a:srgbClr val="FFFFFF"/>
                </a:solidFill>
                <a:effectLst/>
                <a:uLnTx/>
                <a:uFillTx/>
                <a:latin typeface="Verdana" panose="020B0804030504040204" pitchFamily="34" charset="0"/>
                <a:ea typeface="Times New Roman" panose="02020503050405090304" pitchFamily="18" charset="0"/>
                <a:cs typeface="Times New Roman" panose="02020503050405090304" pitchFamily="18" charset="0"/>
              </a:rPr>
              <a:t>ense</a:t>
            </a:r>
            <a:r>
              <a:rPr lang="fr-FR" sz="2000" kern="1200" dirty="0">
                <a:solidFill>
                  <a:srgbClr val="FFFFFF"/>
                </a:solidFill>
                <a:latin typeface="Verdana" panose="020B0804030504040204" pitchFamily="34" charset="0"/>
                <a:ea typeface="Times New Roman" panose="02020503050405090304" pitchFamily="18" charset="0"/>
                <a:cs typeface="Times New Roman" panose="02020503050405090304" pitchFamily="18" charset="0"/>
              </a:rPr>
              <a:t>mble de</a:t>
            </a:r>
            <a:r>
              <a:rPr kumimoji="0" lang="fr-FR" sz="2000" b="0" i="0" u="none" strike="noStrike" kern="1200" cap="none" spc="0" normalizeH="0" baseline="0" noProof="0" dirty="0">
                <a:ln>
                  <a:noFill/>
                </a:ln>
                <a:solidFill>
                  <a:srgbClr val="FFFFFF"/>
                </a:solidFill>
                <a:effectLst/>
                <a:uLnTx/>
                <a:uFillTx/>
                <a:latin typeface="Verdana" panose="020B0804030504040204" pitchFamily="34" charset="0"/>
                <a:ea typeface="Times New Roman" panose="02020503050405090304" pitchFamily="18" charset="0"/>
                <a:cs typeface="Times New Roman" panose="02020503050405090304" pitchFamily="18" charset="0"/>
              </a:rPr>
              <a:t> Système Informatisé d’Archivage des Dossiers de Campagne (SIADOC).</a:t>
            </a:r>
            <a:endParaRPr kumimoji="0" lang="fr-FR" sz="2000" b="0" i="1" u="none" strike="noStrike" kern="1200" cap="none" spc="0" normalizeH="0" baseline="0" noProof="0" dirty="0">
              <a:ln>
                <a:noFill/>
              </a:ln>
              <a:solidFill>
                <a:srgbClr val="FFFFFF"/>
              </a:solidFill>
              <a:effectLst/>
              <a:highlight>
                <a:srgbClr val="FF0000"/>
              </a:highlight>
              <a:uLnTx/>
              <a:uFillTx/>
              <a:latin typeface="Verdana" panose="020B0804030504040204" pitchFamily="34" charset="0"/>
              <a:ea typeface="Times New Roman" panose="02020503050405090304" pitchFamily="18" charset="0"/>
              <a:cs typeface="Times New Roman" panose="02020503050405090304" pitchFamily="18" charset="0"/>
            </a:endParaRPr>
          </a:p>
        </p:txBody>
      </p:sp>
    </p:spTree>
    <p:extLst>
      <p:ext uri="{BB962C8B-B14F-4D97-AF65-F5344CB8AC3E}">
        <p14:creationId xmlns:p14="http://schemas.microsoft.com/office/powerpoint/2010/main" val="2849303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8"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heel(8)">
                                      <p:cBhvr>
                                        <p:cTn id="7" dur="7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1"/>
        <p:cNvGrpSpPr/>
        <p:nvPr/>
      </p:nvGrpSpPr>
      <p:grpSpPr>
        <a:xfrm>
          <a:off x="0" y="0"/>
          <a:ext cx="0" cy="0"/>
          <a:chOff x="0" y="0"/>
          <a:chExt cx="0" cy="0"/>
        </a:xfrm>
      </p:grpSpPr>
      <p:sp>
        <p:nvSpPr>
          <p:cNvPr id="32" name="Google Shape;32;p4"/>
          <p:cNvSpPr/>
          <p:nvPr/>
        </p:nvSpPr>
        <p:spPr>
          <a:xfrm>
            <a:off x="-15240" y="0"/>
            <a:ext cx="9144000" cy="914400"/>
          </a:xfrm>
          <a:prstGeom prst="rect">
            <a:avLst/>
          </a:prstGeom>
          <a:solidFill>
            <a:srgbClr val="1384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 name="Google Shape;33;p4"/>
          <p:cNvSpPr/>
          <p:nvPr/>
        </p:nvSpPr>
        <p:spPr>
          <a:xfrm>
            <a:off x="457200" y="137160"/>
            <a:ext cx="8191500" cy="6400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2200"/>
              <a:buFont typeface="Calibri"/>
              <a:buNone/>
            </a:pPr>
            <a:endParaRPr sz="2200" b="0" i="0" u="none" strike="noStrike" cap="none" dirty="0">
              <a:solidFill>
                <a:schemeClr val="dk1"/>
              </a:solidFill>
              <a:latin typeface="Calibri"/>
              <a:ea typeface="Calibri"/>
              <a:cs typeface="Calibri"/>
              <a:sym typeface="Calibri"/>
            </a:endParaRPr>
          </a:p>
        </p:txBody>
      </p:sp>
      <p:sp>
        <p:nvSpPr>
          <p:cNvPr id="34" name="Google Shape;34;p4"/>
          <p:cNvSpPr/>
          <p:nvPr/>
        </p:nvSpPr>
        <p:spPr>
          <a:xfrm>
            <a:off x="0" y="4800600"/>
            <a:ext cx="9144000" cy="480060"/>
          </a:xfrm>
          <a:prstGeom prst="rect">
            <a:avLst/>
          </a:prstGeom>
          <a:solidFill>
            <a:srgbClr val="1384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4"/>
          <p:cNvSpPr/>
          <p:nvPr/>
        </p:nvSpPr>
        <p:spPr>
          <a:xfrm>
            <a:off x="457200" y="4709160"/>
            <a:ext cx="640080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ADCFC"/>
              </a:buClr>
              <a:buSzPts val="900"/>
              <a:buFont typeface="Calibri"/>
              <a:buNone/>
            </a:pPr>
            <a:r>
              <a:rPr lang="en-US" sz="900" b="0" i="0" u="none" strike="noStrike" cap="none">
                <a:solidFill>
                  <a:srgbClr val="CADCFC"/>
                </a:solidFill>
                <a:latin typeface="Calibri"/>
                <a:ea typeface="Calibri"/>
                <a:cs typeface="Calibri"/>
                <a:sym typeface="Calibri"/>
              </a:rPr>
              <a:t>MINDEF - Direction des Ressources Humaines</a:t>
            </a:r>
            <a:endParaRPr sz="900" b="0" i="0" u="none" strike="noStrike" cap="none">
              <a:solidFill>
                <a:schemeClr val="dk1"/>
              </a:solidFill>
              <a:latin typeface="Calibri"/>
              <a:ea typeface="Calibri"/>
              <a:cs typeface="Calibri"/>
              <a:sym typeface="Calibri"/>
            </a:endParaRPr>
          </a:p>
        </p:txBody>
      </p:sp>
      <p:sp>
        <p:nvSpPr>
          <p:cNvPr id="36" name="Google Shape;36;p4"/>
          <p:cNvSpPr/>
          <p:nvPr/>
        </p:nvSpPr>
        <p:spPr>
          <a:xfrm>
            <a:off x="7772400" y="4709160"/>
            <a:ext cx="914400" cy="365760"/>
          </a:xfrm>
          <a:prstGeom prst="rect">
            <a:avLst/>
          </a:prstGeom>
          <a:noFill/>
          <a:ln>
            <a:noFill/>
          </a:ln>
        </p:spPr>
        <p:txBody>
          <a:bodyPr spcFirstLastPara="1" wrap="square" lIns="91425" tIns="45700" rIns="91425" bIns="45700" anchor="ctr" anchorCtr="0">
            <a:noAutofit/>
          </a:bodyPr>
          <a:lstStyle/>
          <a:p>
            <a:pPr lvl="0" algn="r">
              <a:buClr>
                <a:srgbClr val="CADCFC"/>
              </a:buClr>
              <a:buSzPts val="900"/>
            </a:pPr>
            <a:r>
              <a:rPr lang="en-US" sz="900" dirty="0">
                <a:solidFill>
                  <a:srgbClr val="CADCFC"/>
                </a:solidFill>
                <a:latin typeface="Calibri"/>
                <a:ea typeface="Calibri"/>
                <a:cs typeface="Calibri"/>
                <a:sym typeface="Calibri"/>
              </a:rPr>
              <a:t>1 / 27</a:t>
            </a:r>
            <a:endParaRPr lang="en-US" sz="900" dirty="0">
              <a:solidFill>
                <a:schemeClr val="dk1"/>
              </a:solidFill>
              <a:latin typeface="Calibri"/>
              <a:ea typeface="Calibri"/>
              <a:cs typeface="Calibri"/>
              <a:sym typeface="Calibri"/>
            </a:endParaRPr>
          </a:p>
        </p:txBody>
      </p:sp>
      <p:grpSp>
        <p:nvGrpSpPr>
          <p:cNvPr id="12" name="Group 32"/>
          <p:cNvGrpSpPr/>
          <p:nvPr/>
        </p:nvGrpSpPr>
        <p:grpSpPr>
          <a:xfrm>
            <a:off x="144780" y="86033"/>
            <a:ext cx="9022080" cy="778837"/>
            <a:chOff x="330" y="182"/>
            <a:chExt cx="18543" cy="1604"/>
          </a:xfrm>
        </p:grpSpPr>
        <p:sp>
          <p:nvSpPr>
            <p:cNvPr id="13" name="Freeform 3"/>
            <p:cNvSpPr/>
            <p:nvPr/>
          </p:nvSpPr>
          <p:spPr>
            <a:xfrm>
              <a:off x="330" y="182"/>
              <a:ext cx="1640" cy="1604"/>
            </a:xfrm>
            <a:custGeom>
              <a:avLst/>
              <a:gdLst/>
              <a:ahLst/>
              <a:cxnLst/>
              <a:rect l="l" t="t" r="r" b="b"/>
              <a:pathLst>
                <a:path w="6263628" h="7097595">
                  <a:moveTo>
                    <a:pt x="0" y="0"/>
                  </a:moveTo>
                  <a:lnTo>
                    <a:pt x="6263628" y="0"/>
                  </a:lnTo>
                  <a:lnTo>
                    <a:pt x="6263628" y="7097595"/>
                  </a:lnTo>
                  <a:lnTo>
                    <a:pt x="0" y="7097595"/>
                  </a:lnTo>
                  <a:lnTo>
                    <a:pt x="0" y="0"/>
                  </a:lnTo>
                  <a:close/>
                </a:path>
              </a:pathLst>
            </a:custGeom>
            <a:blipFill>
              <a:blip r:embed="rId3"/>
              <a:stretch>
                <a:fillRect/>
              </a:stretch>
            </a:blipFill>
          </p:spPr>
        </p:sp>
        <p:pic>
          <p:nvPicPr>
            <p:cNvPr id="14" name="Picture 3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953" y="182"/>
              <a:ext cx="1920" cy="1604"/>
            </a:xfrm>
            <a:prstGeom prst="rect">
              <a:avLst/>
            </a:prstGeom>
          </p:spPr>
        </p:pic>
      </p:grpSp>
      <p:graphicFrame>
        <p:nvGraphicFramePr>
          <p:cNvPr id="15" name="Diagramme 14">
            <a:extLst>
              <a:ext uri="{FF2B5EF4-FFF2-40B4-BE49-F238E27FC236}">
                <a16:creationId xmlns:a16="http://schemas.microsoft.com/office/drawing/2014/main" id="{7E68674C-3DFD-4914-8689-4F2594D51096}"/>
              </a:ext>
            </a:extLst>
          </p:cNvPr>
          <p:cNvGraphicFramePr/>
          <p:nvPr>
            <p:extLst>
              <p:ext uri="{D42A27DB-BD31-4B8C-83A1-F6EECF244321}">
                <p14:modId xmlns:p14="http://schemas.microsoft.com/office/powerpoint/2010/main" val="3493978143"/>
              </p:ext>
            </p:extLst>
          </p:nvPr>
        </p:nvGraphicFramePr>
        <p:xfrm>
          <a:off x="2523308" y="918076"/>
          <a:ext cx="6487341" cy="3930011"/>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17" name="Text Box 1">
            <a:extLst>
              <a:ext uri="{FF2B5EF4-FFF2-40B4-BE49-F238E27FC236}">
                <a16:creationId xmlns:a16="http://schemas.microsoft.com/office/drawing/2014/main" id="{1C7ED598-3E71-40A3-816C-771180614A77}"/>
              </a:ext>
            </a:extLst>
          </p:cNvPr>
          <p:cNvSpPr txBox="1"/>
          <p:nvPr/>
        </p:nvSpPr>
        <p:spPr>
          <a:xfrm>
            <a:off x="386239" y="2315528"/>
            <a:ext cx="5861209" cy="854080"/>
          </a:xfrm>
          <a:prstGeom prst="rect">
            <a:avLst/>
          </a:prstGeom>
          <a:noFill/>
        </p:spPr>
        <p:txBody>
          <a:bodyPr wrap="square" rtlCol="0" anchor="t">
            <a:spAutoFit/>
          </a:bodyPr>
          <a:lstStyle/>
          <a:p>
            <a:r>
              <a:rPr lang="fr-FR" sz="4950" b="1" dirty="0">
                <a:solidFill>
                  <a:prstClr val="black"/>
                </a:solidFill>
                <a:latin typeface="Verdana" panose="020B0804030504040204" pitchFamily="34" charset="0"/>
                <a:ea typeface="Verdana" panose="020B0804030504040204" pitchFamily="34" charset="0"/>
                <a:sym typeface="+mn-ea"/>
              </a:rPr>
              <a:t>PLAN</a:t>
            </a:r>
          </a:p>
        </p:txBody>
      </p:sp>
    </p:spTree>
    <p:extLst>
      <p:ext uri="{BB962C8B-B14F-4D97-AF65-F5344CB8AC3E}">
        <p14:creationId xmlns:p14="http://schemas.microsoft.com/office/powerpoint/2010/main" val="12434374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1"/>
        <p:cNvGrpSpPr/>
        <p:nvPr/>
      </p:nvGrpSpPr>
      <p:grpSpPr>
        <a:xfrm>
          <a:off x="0" y="0"/>
          <a:ext cx="0" cy="0"/>
          <a:chOff x="0" y="0"/>
          <a:chExt cx="0" cy="0"/>
        </a:xfrm>
      </p:grpSpPr>
      <p:sp>
        <p:nvSpPr>
          <p:cNvPr id="32" name="Google Shape;32;p4"/>
          <p:cNvSpPr/>
          <p:nvPr/>
        </p:nvSpPr>
        <p:spPr>
          <a:xfrm>
            <a:off x="0" y="0"/>
            <a:ext cx="9144000" cy="914400"/>
          </a:xfrm>
          <a:prstGeom prst="rect">
            <a:avLst/>
          </a:prstGeom>
          <a:solidFill>
            <a:srgbClr val="C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4"/>
          <p:cNvSpPr/>
          <p:nvPr/>
        </p:nvSpPr>
        <p:spPr>
          <a:xfrm>
            <a:off x="457200" y="137160"/>
            <a:ext cx="8229600" cy="6400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2200"/>
              <a:buFont typeface="Calibri"/>
              <a:buNone/>
            </a:pPr>
            <a:r>
              <a:rPr lang="en-US" sz="2200" b="1" i="0" u="none" strike="noStrike" cap="none" dirty="0">
                <a:solidFill>
                  <a:srgbClr val="FFFFFF"/>
                </a:solidFill>
                <a:latin typeface="Calibri"/>
                <a:ea typeface="Calibri"/>
                <a:cs typeface="Calibri"/>
                <a:sym typeface="Calibri"/>
              </a:rPr>
              <a:t>CONTEXTE ET ENJEUX</a:t>
            </a:r>
            <a:endParaRPr sz="2200" b="0" i="0" u="none" strike="noStrike" cap="none" dirty="0">
              <a:solidFill>
                <a:schemeClr val="dk1"/>
              </a:solidFill>
              <a:latin typeface="Calibri"/>
              <a:ea typeface="Calibri"/>
              <a:cs typeface="Calibri"/>
              <a:sym typeface="Calibri"/>
            </a:endParaRPr>
          </a:p>
        </p:txBody>
      </p:sp>
      <p:sp>
        <p:nvSpPr>
          <p:cNvPr id="34" name="Google Shape;34;p4"/>
          <p:cNvSpPr/>
          <p:nvPr/>
        </p:nvSpPr>
        <p:spPr>
          <a:xfrm>
            <a:off x="0" y="4663440"/>
            <a:ext cx="9144000" cy="480060"/>
          </a:xfrm>
          <a:prstGeom prst="rect">
            <a:avLst/>
          </a:prstGeom>
          <a:solidFill>
            <a:srgbClr val="C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4"/>
          <p:cNvSpPr/>
          <p:nvPr/>
        </p:nvSpPr>
        <p:spPr>
          <a:xfrm>
            <a:off x="457200" y="4709160"/>
            <a:ext cx="640080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ADCFC"/>
              </a:buClr>
              <a:buSzPts val="900"/>
              <a:buFont typeface="Calibri"/>
              <a:buNone/>
            </a:pPr>
            <a:r>
              <a:rPr lang="en-US" sz="900" b="0" i="0" u="none" strike="noStrike" cap="none">
                <a:solidFill>
                  <a:srgbClr val="CADCFC"/>
                </a:solidFill>
                <a:latin typeface="Calibri"/>
                <a:ea typeface="Calibri"/>
                <a:cs typeface="Calibri"/>
                <a:sym typeface="Calibri"/>
              </a:rPr>
              <a:t>MINDEF - Direction des Ressources Humaines</a:t>
            </a:r>
            <a:endParaRPr sz="900" b="0" i="0" u="none" strike="noStrike" cap="none">
              <a:solidFill>
                <a:schemeClr val="dk1"/>
              </a:solidFill>
              <a:latin typeface="Calibri"/>
              <a:ea typeface="Calibri"/>
              <a:cs typeface="Calibri"/>
              <a:sym typeface="Calibri"/>
            </a:endParaRPr>
          </a:p>
        </p:txBody>
      </p:sp>
      <p:sp>
        <p:nvSpPr>
          <p:cNvPr id="36" name="Google Shape;36;p4"/>
          <p:cNvSpPr/>
          <p:nvPr/>
        </p:nvSpPr>
        <p:spPr>
          <a:xfrm>
            <a:off x="7772400" y="4709160"/>
            <a:ext cx="914400" cy="365760"/>
          </a:xfrm>
          <a:prstGeom prst="rect">
            <a:avLst/>
          </a:prstGeom>
          <a:noFill/>
          <a:ln>
            <a:noFill/>
          </a:ln>
        </p:spPr>
        <p:txBody>
          <a:bodyPr spcFirstLastPara="1" wrap="square" lIns="91425" tIns="45700" rIns="91425" bIns="45700" anchor="ctr" anchorCtr="0">
            <a:noAutofit/>
          </a:bodyPr>
          <a:lstStyle/>
          <a:p>
            <a:pPr lvl="0" algn="r">
              <a:buClr>
                <a:srgbClr val="CADCFC"/>
              </a:buClr>
              <a:buSzPts val="900"/>
            </a:pPr>
            <a:r>
              <a:rPr lang="en-US" sz="900" b="0" i="0" u="none" strike="noStrike" cap="none" dirty="0">
                <a:solidFill>
                  <a:srgbClr val="CADCFC"/>
                </a:solidFill>
                <a:latin typeface="Calibri"/>
                <a:ea typeface="Calibri"/>
                <a:cs typeface="Calibri"/>
                <a:sym typeface="Calibri"/>
              </a:rPr>
              <a:t>2 / </a:t>
            </a:r>
            <a:r>
              <a:rPr lang="en-US" sz="900" dirty="0">
                <a:solidFill>
                  <a:srgbClr val="CADCFC"/>
                </a:solidFill>
                <a:latin typeface="Calibri"/>
                <a:ea typeface="Calibri"/>
                <a:cs typeface="Calibri"/>
                <a:sym typeface="Calibri"/>
              </a:rPr>
              <a:t>27</a:t>
            </a:r>
            <a:endParaRPr lang="en-US" sz="900" dirty="0">
              <a:solidFill>
                <a:schemeClr val="dk1"/>
              </a:solidFill>
              <a:latin typeface="Calibri"/>
              <a:ea typeface="Calibri"/>
              <a:cs typeface="Calibri"/>
              <a:sym typeface="Calibri"/>
            </a:endParaRPr>
          </a:p>
        </p:txBody>
      </p:sp>
      <p:sp>
        <p:nvSpPr>
          <p:cNvPr id="37" name="Google Shape;37;p4"/>
          <p:cNvSpPr/>
          <p:nvPr/>
        </p:nvSpPr>
        <p:spPr>
          <a:xfrm>
            <a:off x="298961" y="1291230"/>
            <a:ext cx="8229600" cy="3200400"/>
          </a:xfrm>
          <a:prstGeom prst="rect">
            <a:avLst/>
          </a:prstGeom>
          <a:solidFill>
            <a:srgbClr val="F0F4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 name="ZoneTexte 21"/>
          <p:cNvSpPr txBox="1"/>
          <p:nvPr/>
        </p:nvSpPr>
        <p:spPr>
          <a:xfrm>
            <a:off x="5011200" y="4286610"/>
            <a:ext cx="45719" cy="307777"/>
          </a:xfrm>
          <a:prstGeom prst="rect">
            <a:avLst/>
          </a:prstGeom>
          <a:noFill/>
        </p:spPr>
        <p:txBody>
          <a:bodyPr wrap="square" rtlCol="0">
            <a:spAutoFit/>
          </a:bodyPr>
          <a:lstStyle/>
          <a:p>
            <a:endParaRPr lang="fr-FR" dirty="0"/>
          </a:p>
        </p:txBody>
      </p:sp>
      <p:grpSp>
        <p:nvGrpSpPr>
          <p:cNvPr id="30" name="Group 32"/>
          <p:cNvGrpSpPr/>
          <p:nvPr/>
        </p:nvGrpSpPr>
        <p:grpSpPr>
          <a:xfrm>
            <a:off x="175260" y="86033"/>
            <a:ext cx="9022080" cy="778837"/>
            <a:chOff x="330" y="182"/>
            <a:chExt cx="18543" cy="1604"/>
          </a:xfrm>
        </p:grpSpPr>
        <p:sp>
          <p:nvSpPr>
            <p:cNvPr id="31" name="Freeform 3"/>
            <p:cNvSpPr/>
            <p:nvPr/>
          </p:nvSpPr>
          <p:spPr>
            <a:xfrm>
              <a:off x="330" y="182"/>
              <a:ext cx="1640" cy="1604"/>
            </a:xfrm>
            <a:custGeom>
              <a:avLst/>
              <a:gdLst/>
              <a:ahLst/>
              <a:cxnLst/>
              <a:rect l="l" t="t" r="r" b="b"/>
              <a:pathLst>
                <a:path w="6263628" h="7097595">
                  <a:moveTo>
                    <a:pt x="0" y="0"/>
                  </a:moveTo>
                  <a:lnTo>
                    <a:pt x="6263628" y="0"/>
                  </a:lnTo>
                  <a:lnTo>
                    <a:pt x="6263628" y="7097595"/>
                  </a:lnTo>
                  <a:lnTo>
                    <a:pt x="0" y="7097595"/>
                  </a:lnTo>
                  <a:lnTo>
                    <a:pt x="0" y="0"/>
                  </a:lnTo>
                  <a:close/>
                </a:path>
              </a:pathLst>
            </a:custGeom>
            <a:blipFill>
              <a:blip r:embed="rId3"/>
              <a:stretch>
                <a:fillRect/>
              </a:stretch>
            </a:blipFill>
          </p:spPr>
        </p:sp>
        <p:pic>
          <p:nvPicPr>
            <p:cNvPr id="39" name="Picture 3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953" y="182"/>
              <a:ext cx="1920" cy="1604"/>
            </a:xfrm>
            <a:prstGeom prst="rect">
              <a:avLst/>
            </a:prstGeom>
          </p:spPr>
        </p:pic>
      </p:grpSp>
      <p:sp>
        <p:nvSpPr>
          <p:cNvPr id="40" name="TextBox 7">
            <a:extLst>
              <a:ext uri="{FF2B5EF4-FFF2-40B4-BE49-F238E27FC236}">
                <a16:creationId xmlns:a16="http://schemas.microsoft.com/office/drawing/2014/main" id="{91C44F78-E92D-4CED-9B3F-F4119D762AD4}"/>
              </a:ext>
            </a:extLst>
          </p:cNvPr>
          <p:cNvSpPr txBox="1"/>
          <p:nvPr/>
        </p:nvSpPr>
        <p:spPr>
          <a:xfrm>
            <a:off x="209550" y="1593049"/>
            <a:ext cx="8724900" cy="2179571"/>
          </a:xfrm>
          <a:custGeom>
            <a:avLst/>
            <a:gdLst>
              <a:gd name="connsiteX0" fmla="*/ 0 w 11616544"/>
              <a:gd name="connsiteY0" fmla="*/ 0 h 3539430"/>
              <a:gd name="connsiteX1" fmla="*/ 464662 w 11616544"/>
              <a:gd name="connsiteY1" fmla="*/ 0 h 3539430"/>
              <a:gd name="connsiteX2" fmla="*/ 1277820 w 11616544"/>
              <a:gd name="connsiteY2" fmla="*/ 0 h 3539430"/>
              <a:gd name="connsiteX3" fmla="*/ 1858647 w 11616544"/>
              <a:gd name="connsiteY3" fmla="*/ 0 h 3539430"/>
              <a:gd name="connsiteX4" fmla="*/ 2671805 w 11616544"/>
              <a:gd name="connsiteY4" fmla="*/ 0 h 3539430"/>
              <a:gd name="connsiteX5" fmla="*/ 3368798 w 11616544"/>
              <a:gd name="connsiteY5" fmla="*/ 0 h 3539430"/>
              <a:gd name="connsiteX6" fmla="*/ 3949625 w 11616544"/>
              <a:gd name="connsiteY6" fmla="*/ 0 h 3539430"/>
              <a:gd name="connsiteX7" fmla="*/ 4530452 w 11616544"/>
              <a:gd name="connsiteY7" fmla="*/ 0 h 3539430"/>
              <a:gd name="connsiteX8" fmla="*/ 5343610 w 11616544"/>
              <a:gd name="connsiteY8" fmla="*/ 0 h 3539430"/>
              <a:gd name="connsiteX9" fmla="*/ 6156768 w 11616544"/>
              <a:gd name="connsiteY9" fmla="*/ 0 h 3539430"/>
              <a:gd name="connsiteX10" fmla="*/ 6621430 w 11616544"/>
              <a:gd name="connsiteY10" fmla="*/ 0 h 3539430"/>
              <a:gd name="connsiteX11" fmla="*/ 7318423 w 11616544"/>
              <a:gd name="connsiteY11" fmla="*/ 0 h 3539430"/>
              <a:gd name="connsiteX12" fmla="*/ 8131581 w 11616544"/>
              <a:gd name="connsiteY12" fmla="*/ 0 h 3539430"/>
              <a:gd name="connsiteX13" fmla="*/ 8944739 w 11616544"/>
              <a:gd name="connsiteY13" fmla="*/ 0 h 3539430"/>
              <a:gd name="connsiteX14" fmla="*/ 9757897 w 11616544"/>
              <a:gd name="connsiteY14" fmla="*/ 0 h 3539430"/>
              <a:gd name="connsiteX15" fmla="*/ 10338724 w 11616544"/>
              <a:gd name="connsiteY15" fmla="*/ 0 h 3539430"/>
              <a:gd name="connsiteX16" fmla="*/ 11035717 w 11616544"/>
              <a:gd name="connsiteY16" fmla="*/ 0 h 3539430"/>
              <a:gd name="connsiteX17" fmla="*/ 11616544 w 11616544"/>
              <a:gd name="connsiteY17" fmla="*/ 0 h 3539430"/>
              <a:gd name="connsiteX18" fmla="*/ 11616544 w 11616544"/>
              <a:gd name="connsiteY18" fmla="*/ 625299 h 3539430"/>
              <a:gd name="connsiteX19" fmla="*/ 11616544 w 11616544"/>
              <a:gd name="connsiteY19" fmla="*/ 1250599 h 3539430"/>
              <a:gd name="connsiteX20" fmla="*/ 11616544 w 11616544"/>
              <a:gd name="connsiteY20" fmla="*/ 1911292 h 3539430"/>
              <a:gd name="connsiteX21" fmla="*/ 11616544 w 11616544"/>
              <a:gd name="connsiteY21" fmla="*/ 2501197 h 3539430"/>
              <a:gd name="connsiteX22" fmla="*/ 11616544 w 11616544"/>
              <a:gd name="connsiteY22" fmla="*/ 3020314 h 3539430"/>
              <a:gd name="connsiteX23" fmla="*/ 11616544 w 11616544"/>
              <a:gd name="connsiteY23" fmla="*/ 3539430 h 3539430"/>
              <a:gd name="connsiteX24" fmla="*/ 11151882 w 11616544"/>
              <a:gd name="connsiteY24" fmla="*/ 3539430 h 3539430"/>
              <a:gd name="connsiteX25" fmla="*/ 10919551 w 11616544"/>
              <a:gd name="connsiteY25" fmla="*/ 3539430 h 3539430"/>
              <a:gd name="connsiteX26" fmla="*/ 10338724 w 11616544"/>
              <a:gd name="connsiteY26" fmla="*/ 3539430 h 3539430"/>
              <a:gd name="connsiteX27" fmla="*/ 9874062 w 11616544"/>
              <a:gd name="connsiteY27" fmla="*/ 3539430 h 3539430"/>
              <a:gd name="connsiteX28" fmla="*/ 9177070 w 11616544"/>
              <a:gd name="connsiteY28" fmla="*/ 3539430 h 3539430"/>
              <a:gd name="connsiteX29" fmla="*/ 8944739 w 11616544"/>
              <a:gd name="connsiteY29" fmla="*/ 3539430 h 3539430"/>
              <a:gd name="connsiteX30" fmla="*/ 8596243 w 11616544"/>
              <a:gd name="connsiteY30" fmla="*/ 3539430 h 3539430"/>
              <a:gd name="connsiteX31" fmla="*/ 8247746 w 11616544"/>
              <a:gd name="connsiteY31" fmla="*/ 3539430 h 3539430"/>
              <a:gd name="connsiteX32" fmla="*/ 7899250 w 11616544"/>
              <a:gd name="connsiteY32" fmla="*/ 3539430 h 3539430"/>
              <a:gd name="connsiteX33" fmla="*/ 7550754 w 11616544"/>
              <a:gd name="connsiteY33" fmla="*/ 3539430 h 3539430"/>
              <a:gd name="connsiteX34" fmla="*/ 6969926 w 11616544"/>
              <a:gd name="connsiteY34" fmla="*/ 3539430 h 3539430"/>
              <a:gd name="connsiteX35" fmla="*/ 6389099 w 11616544"/>
              <a:gd name="connsiteY35" fmla="*/ 3539430 h 3539430"/>
              <a:gd name="connsiteX36" fmla="*/ 5924437 w 11616544"/>
              <a:gd name="connsiteY36" fmla="*/ 3539430 h 3539430"/>
              <a:gd name="connsiteX37" fmla="*/ 5575941 w 11616544"/>
              <a:gd name="connsiteY37" fmla="*/ 3539430 h 3539430"/>
              <a:gd name="connsiteX38" fmla="*/ 5227445 w 11616544"/>
              <a:gd name="connsiteY38" fmla="*/ 3539430 h 3539430"/>
              <a:gd name="connsiteX39" fmla="*/ 4995114 w 11616544"/>
              <a:gd name="connsiteY39" fmla="*/ 3539430 h 3539430"/>
              <a:gd name="connsiteX40" fmla="*/ 4414287 w 11616544"/>
              <a:gd name="connsiteY40" fmla="*/ 3539430 h 3539430"/>
              <a:gd name="connsiteX41" fmla="*/ 3833460 w 11616544"/>
              <a:gd name="connsiteY41" fmla="*/ 3539430 h 3539430"/>
              <a:gd name="connsiteX42" fmla="*/ 3020301 w 11616544"/>
              <a:gd name="connsiteY42" fmla="*/ 3539430 h 3539430"/>
              <a:gd name="connsiteX43" fmla="*/ 2207143 w 11616544"/>
              <a:gd name="connsiteY43" fmla="*/ 3539430 h 3539430"/>
              <a:gd name="connsiteX44" fmla="*/ 1742482 w 11616544"/>
              <a:gd name="connsiteY44" fmla="*/ 3539430 h 3539430"/>
              <a:gd name="connsiteX45" fmla="*/ 1045489 w 11616544"/>
              <a:gd name="connsiteY45" fmla="*/ 3539430 h 3539430"/>
              <a:gd name="connsiteX46" fmla="*/ 813158 w 11616544"/>
              <a:gd name="connsiteY46" fmla="*/ 3539430 h 3539430"/>
              <a:gd name="connsiteX47" fmla="*/ 0 w 11616544"/>
              <a:gd name="connsiteY47" fmla="*/ 3539430 h 3539430"/>
              <a:gd name="connsiteX48" fmla="*/ 0 w 11616544"/>
              <a:gd name="connsiteY48" fmla="*/ 3020314 h 3539430"/>
              <a:gd name="connsiteX49" fmla="*/ 0 w 11616544"/>
              <a:gd name="connsiteY49" fmla="*/ 2359620 h 3539430"/>
              <a:gd name="connsiteX50" fmla="*/ 0 w 11616544"/>
              <a:gd name="connsiteY50" fmla="*/ 1769715 h 3539430"/>
              <a:gd name="connsiteX51" fmla="*/ 0 w 11616544"/>
              <a:gd name="connsiteY51" fmla="*/ 1250599 h 3539430"/>
              <a:gd name="connsiteX52" fmla="*/ 0 w 11616544"/>
              <a:gd name="connsiteY52" fmla="*/ 696088 h 3539430"/>
              <a:gd name="connsiteX53" fmla="*/ 0 w 11616544"/>
              <a:gd name="connsiteY53" fmla="*/ 0 h 3539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1616544" h="3539430" extrusionOk="0">
                <a:moveTo>
                  <a:pt x="0" y="0"/>
                </a:moveTo>
                <a:cubicBezTo>
                  <a:pt x="232224" y="-26628"/>
                  <a:pt x="307117" y="10910"/>
                  <a:pt x="464662" y="0"/>
                </a:cubicBezTo>
                <a:cubicBezTo>
                  <a:pt x="622207" y="-10910"/>
                  <a:pt x="903547" y="30091"/>
                  <a:pt x="1277820" y="0"/>
                </a:cubicBezTo>
                <a:cubicBezTo>
                  <a:pt x="1652093" y="-30091"/>
                  <a:pt x="1736767" y="24909"/>
                  <a:pt x="1858647" y="0"/>
                </a:cubicBezTo>
                <a:cubicBezTo>
                  <a:pt x="1980527" y="-24909"/>
                  <a:pt x="2266475" y="24102"/>
                  <a:pt x="2671805" y="0"/>
                </a:cubicBezTo>
                <a:cubicBezTo>
                  <a:pt x="3077135" y="-24102"/>
                  <a:pt x="3091287" y="11024"/>
                  <a:pt x="3368798" y="0"/>
                </a:cubicBezTo>
                <a:cubicBezTo>
                  <a:pt x="3646309" y="-11024"/>
                  <a:pt x="3671350" y="48558"/>
                  <a:pt x="3949625" y="0"/>
                </a:cubicBezTo>
                <a:cubicBezTo>
                  <a:pt x="4227900" y="-48558"/>
                  <a:pt x="4368118" y="28794"/>
                  <a:pt x="4530452" y="0"/>
                </a:cubicBezTo>
                <a:cubicBezTo>
                  <a:pt x="4692786" y="-28794"/>
                  <a:pt x="4955150" y="39878"/>
                  <a:pt x="5343610" y="0"/>
                </a:cubicBezTo>
                <a:cubicBezTo>
                  <a:pt x="5732070" y="-39878"/>
                  <a:pt x="5765575" y="10239"/>
                  <a:pt x="6156768" y="0"/>
                </a:cubicBezTo>
                <a:cubicBezTo>
                  <a:pt x="6547961" y="-10239"/>
                  <a:pt x="6522096" y="7810"/>
                  <a:pt x="6621430" y="0"/>
                </a:cubicBezTo>
                <a:cubicBezTo>
                  <a:pt x="6720764" y="-7810"/>
                  <a:pt x="7013778" y="41213"/>
                  <a:pt x="7318423" y="0"/>
                </a:cubicBezTo>
                <a:cubicBezTo>
                  <a:pt x="7623068" y="-41213"/>
                  <a:pt x="7844287" y="65569"/>
                  <a:pt x="8131581" y="0"/>
                </a:cubicBezTo>
                <a:cubicBezTo>
                  <a:pt x="8418875" y="-65569"/>
                  <a:pt x="8563314" y="63067"/>
                  <a:pt x="8944739" y="0"/>
                </a:cubicBezTo>
                <a:cubicBezTo>
                  <a:pt x="9326164" y="-63067"/>
                  <a:pt x="9455129" y="86350"/>
                  <a:pt x="9757897" y="0"/>
                </a:cubicBezTo>
                <a:cubicBezTo>
                  <a:pt x="10060665" y="-86350"/>
                  <a:pt x="10105667" y="68039"/>
                  <a:pt x="10338724" y="0"/>
                </a:cubicBezTo>
                <a:cubicBezTo>
                  <a:pt x="10571781" y="-68039"/>
                  <a:pt x="10700438" y="6239"/>
                  <a:pt x="11035717" y="0"/>
                </a:cubicBezTo>
                <a:cubicBezTo>
                  <a:pt x="11370996" y="-6239"/>
                  <a:pt x="11455605" y="37776"/>
                  <a:pt x="11616544" y="0"/>
                </a:cubicBezTo>
                <a:cubicBezTo>
                  <a:pt x="11677158" y="151100"/>
                  <a:pt x="11600280" y="415104"/>
                  <a:pt x="11616544" y="625299"/>
                </a:cubicBezTo>
                <a:cubicBezTo>
                  <a:pt x="11632808" y="835494"/>
                  <a:pt x="11573245" y="1079574"/>
                  <a:pt x="11616544" y="1250599"/>
                </a:cubicBezTo>
                <a:cubicBezTo>
                  <a:pt x="11659843" y="1421624"/>
                  <a:pt x="11571517" y="1591878"/>
                  <a:pt x="11616544" y="1911292"/>
                </a:cubicBezTo>
                <a:cubicBezTo>
                  <a:pt x="11661571" y="2230706"/>
                  <a:pt x="11610550" y="2211759"/>
                  <a:pt x="11616544" y="2501197"/>
                </a:cubicBezTo>
                <a:cubicBezTo>
                  <a:pt x="11622538" y="2790635"/>
                  <a:pt x="11560327" y="2831653"/>
                  <a:pt x="11616544" y="3020314"/>
                </a:cubicBezTo>
                <a:cubicBezTo>
                  <a:pt x="11672761" y="3208975"/>
                  <a:pt x="11562991" y="3408861"/>
                  <a:pt x="11616544" y="3539430"/>
                </a:cubicBezTo>
                <a:cubicBezTo>
                  <a:pt x="11445092" y="3549370"/>
                  <a:pt x="11294975" y="3502128"/>
                  <a:pt x="11151882" y="3539430"/>
                </a:cubicBezTo>
                <a:cubicBezTo>
                  <a:pt x="11008789" y="3576732"/>
                  <a:pt x="10995769" y="3516222"/>
                  <a:pt x="10919551" y="3539430"/>
                </a:cubicBezTo>
                <a:cubicBezTo>
                  <a:pt x="10843333" y="3562638"/>
                  <a:pt x="10456906" y="3469930"/>
                  <a:pt x="10338724" y="3539430"/>
                </a:cubicBezTo>
                <a:cubicBezTo>
                  <a:pt x="10220542" y="3608930"/>
                  <a:pt x="10075105" y="3516606"/>
                  <a:pt x="9874062" y="3539430"/>
                </a:cubicBezTo>
                <a:cubicBezTo>
                  <a:pt x="9673019" y="3562254"/>
                  <a:pt x="9459988" y="3499074"/>
                  <a:pt x="9177070" y="3539430"/>
                </a:cubicBezTo>
                <a:cubicBezTo>
                  <a:pt x="8894152" y="3579786"/>
                  <a:pt x="9034617" y="3517595"/>
                  <a:pt x="8944739" y="3539430"/>
                </a:cubicBezTo>
                <a:cubicBezTo>
                  <a:pt x="8854861" y="3561265"/>
                  <a:pt x="8718652" y="3522902"/>
                  <a:pt x="8596243" y="3539430"/>
                </a:cubicBezTo>
                <a:cubicBezTo>
                  <a:pt x="8473834" y="3555958"/>
                  <a:pt x="8405020" y="3538226"/>
                  <a:pt x="8247746" y="3539430"/>
                </a:cubicBezTo>
                <a:cubicBezTo>
                  <a:pt x="8090472" y="3540634"/>
                  <a:pt x="8022976" y="3526699"/>
                  <a:pt x="7899250" y="3539430"/>
                </a:cubicBezTo>
                <a:cubicBezTo>
                  <a:pt x="7775524" y="3552161"/>
                  <a:pt x="7701858" y="3533690"/>
                  <a:pt x="7550754" y="3539430"/>
                </a:cubicBezTo>
                <a:cubicBezTo>
                  <a:pt x="7399650" y="3545170"/>
                  <a:pt x="7207756" y="3476370"/>
                  <a:pt x="6969926" y="3539430"/>
                </a:cubicBezTo>
                <a:cubicBezTo>
                  <a:pt x="6732096" y="3602490"/>
                  <a:pt x="6607569" y="3503462"/>
                  <a:pt x="6389099" y="3539430"/>
                </a:cubicBezTo>
                <a:cubicBezTo>
                  <a:pt x="6170629" y="3575398"/>
                  <a:pt x="6077601" y="3506006"/>
                  <a:pt x="5924437" y="3539430"/>
                </a:cubicBezTo>
                <a:cubicBezTo>
                  <a:pt x="5771273" y="3572854"/>
                  <a:pt x="5704828" y="3519633"/>
                  <a:pt x="5575941" y="3539430"/>
                </a:cubicBezTo>
                <a:cubicBezTo>
                  <a:pt x="5447054" y="3559227"/>
                  <a:pt x="5394796" y="3508255"/>
                  <a:pt x="5227445" y="3539430"/>
                </a:cubicBezTo>
                <a:cubicBezTo>
                  <a:pt x="5060094" y="3570605"/>
                  <a:pt x="5110283" y="3515812"/>
                  <a:pt x="4995114" y="3539430"/>
                </a:cubicBezTo>
                <a:cubicBezTo>
                  <a:pt x="4879945" y="3563048"/>
                  <a:pt x="4683158" y="3508834"/>
                  <a:pt x="4414287" y="3539430"/>
                </a:cubicBezTo>
                <a:cubicBezTo>
                  <a:pt x="4145416" y="3570026"/>
                  <a:pt x="4068449" y="3481692"/>
                  <a:pt x="3833460" y="3539430"/>
                </a:cubicBezTo>
                <a:cubicBezTo>
                  <a:pt x="3598471" y="3597168"/>
                  <a:pt x="3189226" y="3519562"/>
                  <a:pt x="3020301" y="3539430"/>
                </a:cubicBezTo>
                <a:cubicBezTo>
                  <a:pt x="2851376" y="3559298"/>
                  <a:pt x="2400944" y="3515384"/>
                  <a:pt x="2207143" y="3539430"/>
                </a:cubicBezTo>
                <a:cubicBezTo>
                  <a:pt x="2013342" y="3563476"/>
                  <a:pt x="1923437" y="3518991"/>
                  <a:pt x="1742482" y="3539430"/>
                </a:cubicBezTo>
                <a:cubicBezTo>
                  <a:pt x="1561527" y="3559869"/>
                  <a:pt x="1375484" y="3473951"/>
                  <a:pt x="1045489" y="3539430"/>
                </a:cubicBezTo>
                <a:cubicBezTo>
                  <a:pt x="715494" y="3604909"/>
                  <a:pt x="911137" y="3525691"/>
                  <a:pt x="813158" y="3539430"/>
                </a:cubicBezTo>
                <a:cubicBezTo>
                  <a:pt x="715179" y="3553169"/>
                  <a:pt x="168847" y="3472078"/>
                  <a:pt x="0" y="3539430"/>
                </a:cubicBezTo>
                <a:cubicBezTo>
                  <a:pt x="-42906" y="3322513"/>
                  <a:pt x="23297" y="3210351"/>
                  <a:pt x="0" y="3020314"/>
                </a:cubicBezTo>
                <a:cubicBezTo>
                  <a:pt x="-23297" y="2830277"/>
                  <a:pt x="33120" y="2567747"/>
                  <a:pt x="0" y="2359620"/>
                </a:cubicBezTo>
                <a:cubicBezTo>
                  <a:pt x="-33120" y="2151493"/>
                  <a:pt x="29007" y="2024978"/>
                  <a:pt x="0" y="1769715"/>
                </a:cubicBezTo>
                <a:cubicBezTo>
                  <a:pt x="-29007" y="1514452"/>
                  <a:pt x="9728" y="1499845"/>
                  <a:pt x="0" y="1250599"/>
                </a:cubicBezTo>
                <a:cubicBezTo>
                  <a:pt x="-9728" y="1001353"/>
                  <a:pt x="22281" y="948164"/>
                  <a:pt x="0" y="696088"/>
                </a:cubicBezTo>
                <a:cubicBezTo>
                  <a:pt x="-22281" y="444012"/>
                  <a:pt x="68130" y="295046"/>
                  <a:pt x="0" y="0"/>
                </a:cubicBezTo>
                <a:close/>
              </a:path>
            </a:pathLst>
          </a:custGeom>
          <a:noFill/>
          <a:ln>
            <a:noFill/>
          </a:ln>
          <a:effectLst>
            <a:outerShdw blurRad="50800" dist="38100" dir="13500000" algn="br" rotWithShape="0">
              <a:prstClr val="black">
                <a:alpha val="40000"/>
              </a:prstClr>
            </a:outerShdw>
          </a:effectLst>
        </p:spPr>
        <p:txBody>
          <a:bodyPr wrap="square">
            <a:spAutoFit/>
          </a:bodyPr>
          <a:lstStyle/>
          <a:p>
            <a:pPr marL="457200" lvl="0" indent="-457200" algn="just">
              <a:lnSpc>
                <a:spcPct val="130000"/>
              </a:lnSpc>
              <a:buFont typeface="Wingdings" panose="05000000000000000000" charset="0"/>
              <a:buChar char=""/>
              <a:defRPr/>
            </a:pPr>
            <a:r>
              <a:rPr lang="en-US" altLang="en-US" sz="1800" i="1" kern="1200" dirty="0">
                <a:ln/>
                <a:solidFill>
                  <a:schemeClr val="tx1"/>
                </a:solidFill>
                <a:latin typeface="Arial" panose="020B0604020202090204" pitchFamily="34" charset="0"/>
              </a:rPr>
              <a:t>La gestion </a:t>
            </a:r>
            <a:r>
              <a:rPr lang="en-US" altLang="en-US" sz="1800" i="1" kern="1200" dirty="0" err="1">
                <a:ln/>
                <a:solidFill>
                  <a:schemeClr val="tx1"/>
                </a:solidFill>
                <a:latin typeface="Arial" panose="020B0604020202090204" pitchFamily="34" charset="0"/>
              </a:rPr>
              <a:t>manuscrite</a:t>
            </a:r>
            <a:r>
              <a:rPr lang="en-US" altLang="en-US" sz="1800" i="1" kern="1200" dirty="0">
                <a:ln/>
                <a:solidFill>
                  <a:schemeClr val="tx1"/>
                </a:solidFill>
                <a:latin typeface="Arial" panose="020B0604020202090204" pitchFamily="34" charset="0"/>
              </a:rPr>
              <a:t> </a:t>
            </a:r>
            <a:r>
              <a:rPr lang="en-US" altLang="en-US" sz="1800" i="1" kern="1200" dirty="0" err="1">
                <a:ln/>
                <a:solidFill>
                  <a:schemeClr val="tx1"/>
                </a:solidFill>
                <a:latin typeface="Arial" panose="020B0604020202090204" pitchFamily="34" charset="0"/>
              </a:rPr>
              <a:t>peu</a:t>
            </a:r>
            <a:r>
              <a:rPr lang="en-US" altLang="en-US" sz="1800" i="1" kern="1200" dirty="0">
                <a:ln/>
                <a:solidFill>
                  <a:schemeClr val="tx1"/>
                </a:solidFill>
                <a:latin typeface="Arial" panose="020B0604020202090204" pitchFamily="34" charset="0"/>
              </a:rPr>
              <a:t> </a:t>
            </a:r>
            <a:r>
              <a:rPr lang="en-US" altLang="en-US" sz="1800" i="1" kern="1200" dirty="0" err="1">
                <a:ln/>
                <a:solidFill>
                  <a:schemeClr val="tx1"/>
                </a:solidFill>
                <a:latin typeface="Arial" panose="020B0604020202090204" pitchFamily="34" charset="0"/>
              </a:rPr>
              <a:t>sécurisée</a:t>
            </a:r>
            <a:r>
              <a:rPr lang="en-US" altLang="en-US" sz="1800" i="1" kern="1200" dirty="0">
                <a:ln/>
                <a:solidFill>
                  <a:schemeClr val="tx1"/>
                </a:solidFill>
                <a:latin typeface="Arial" panose="020B0604020202090204" pitchFamily="34" charset="0"/>
              </a:rPr>
              <a:t> des archives et dossiers de </a:t>
            </a:r>
            <a:r>
              <a:rPr lang="en-US" altLang="en-US" sz="1800" i="1" kern="1200" dirty="0" err="1">
                <a:ln/>
                <a:solidFill>
                  <a:schemeClr val="tx1"/>
                </a:solidFill>
                <a:latin typeface="Arial" panose="020B0604020202090204" pitchFamily="34" charset="0"/>
              </a:rPr>
              <a:t>campagne</a:t>
            </a:r>
            <a:r>
              <a:rPr lang="en-US" altLang="en-US" sz="1800" i="1" kern="1200" dirty="0">
                <a:ln/>
                <a:solidFill>
                  <a:schemeClr val="tx1"/>
                </a:solidFill>
                <a:latin typeface="Arial" panose="020B0604020202090204" pitchFamily="34" charset="0"/>
              </a:rPr>
              <a:t>, </a:t>
            </a:r>
            <a:r>
              <a:rPr lang="en-US" altLang="en-US" sz="1800" i="1" kern="1200" dirty="0" err="1">
                <a:ln/>
                <a:solidFill>
                  <a:schemeClr val="tx1"/>
                </a:solidFill>
                <a:latin typeface="Arial" panose="020B0604020202090204" pitchFamily="34" charset="0"/>
              </a:rPr>
              <a:t>inadaptée</a:t>
            </a:r>
            <a:r>
              <a:rPr lang="en-US" altLang="en-US" sz="1800" i="1" kern="1200" dirty="0">
                <a:ln/>
                <a:solidFill>
                  <a:schemeClr val="tx1"/>
                </a:solidFill>
                <a:latin typeface="Arial" panose="020B0604020202090204" pitchFamily="34" charset="0"/>
              </a:rPr>
              <a:t> aux exigences </a:t>
            </a:r>
            <a:r>
              <a:rPr lang="en-US" altLang="en-US" sz="1800" i="1" kern="1200" dirty="0" err="1">
                <a:ln/>
                <a:solidFill>
                  <a:schemeClr val="tx1"/>
                </a:solidFill>
                <a:latin typeface="Arial" panose="020B0604020202090204" pitchFamily="34" charset="0"/>
              </a:rPr>
              <a:t>administratives</a:t>
            </a:r>
            <a:r>
              <a:rPr lang="en-US" altLang="en-US" sz="1800" i="1" kern="1200" dirty="0">
                <a:ln/>
                <a:solidFill>
                  <a:schemeClr val="tx1"/>
                </a:solidFill>
                <a:latin typeface="Arial" panose="020B0604020202090204" pitchFamily="34" charset="0"/>
              </a:rPr>
              <a:t> </a:t>
            </a:r>
            <a:r>
              <a:rPr lang="en-US" altLang="en-US" sz="1800" i="1" kern="1200" dirty="0" err="1">
                <a:ln/>
                <a:solidFill>
                  <a:schemeClr val="tx1"/>
                </a:solidFill>
                <a:latin typeface="Arial" panose="020B0604020202090204" pitchFamily="34" charset="0"/>
              </a:rPr>
              <a:t>modernes</a:t>
            </a:r>
            <a:r>
              <a:rPr lang="en-US" altLang="en-US" sz="1800" i="1" kern="1200" dirty="0">
                <a:ln/>
                <a:solidFill>
                  <a:schemeClr val="tx1"/>
                </a:solidFill>
                <a:latin typeface="Arial" panose="020B0604020202090204" pitchFamily="34" charset="0"/>
              </a:rPr>
              <a:t> </a:t>
            </a:r>
            <a:r>
              <a:rPr kumimoji="0" lang="fr-FR" altLang="en-US" sz="1800" b="0" i="1" u="none" strike="noStrike" kern="1200" cap="none" spc="0" normalizeH="0" baseline="0" noProof="0" dirty="0">
                <a:ln/>
                <a:solidFill>
                  <a:schemeClr val="tx1"/>
                </a:solidFill>
                <a:effectLst/>
                <a:uLnTx/>
                <a:uFillTx/>
                <a:latin typeface="Arial" panose="020B0604020202090204" pitchFamily="34" charset="0"/>
              </a:rPr>
              <a:t>;</a:t>
            </a:r>
          </a:p>
          <a:p>
            <a:pPr marL="457200" lvl="0" indent="-457200" algn="just">
              <a:lnSpc>
                <a:spcPct val="130000"/>
              </a:lnSpc>
              <a:buFont typeface="Wingdings" panose="05000000000000000000" charset="0"/>
              <a:buChar char=""/>
              <a:defRPr/>
            </a:pPr>
            <a:r>
              <a:rPr lang="fr-FR" altLang="en-US" sz="1800" i="1" kern="1200" dirty="0">
                <a:ln/>
                <a:solidFill>
                  <a:schemeClr val="tx1"/>
                </a:solidFill>
                <a:latin typeface="Arial" panose="020B0604020202090204" pitchFamily="34" charset="0"/>
              </a:rPr>
              <a:t>La conception manuscrite des cartes d’identités militaires peu sécurisé ;</a:t>
            </a:r>
          </a:p>
          <a:p>
            <a:pPr marL="457200" lvl="0" indent="-457200" algn="just">
              <a:lnSpc>
                <a:spcPct val="130000"/>
              </a:lnSpc>
              <a:buFont typeface="Wingdings" panose="05000000000000000000" charset="0"/>
              <a:buChar char=""/>
              <a:defRPr/>
            </a:pPr>
            <a:r>
              <a:rPr kumimoji="0" lang="fr-FR" altLang="en-US" sz="1800" b="0" i="1" u="none" strike="noStrike" kern="1200" cap="none" spc="0" normalizeH="0" baseline="0" noProof="0" dirty="0">
                <a:ln/>
                <a:solidFill>
                  <a:schemeClr val="tx1"/>
                </a:solidFill>
                <a:effectLst/>
                <a:uLnTx/>
                <a:uFillTx/>
                <a:latin typeface="Arial" panose="020B0604020202090204" pitchFamily="34" charset="0"/>
              </a:rPr>
              <a:t>Les</a:t>
            </a:r>
            <a:r>
              <a:rPr kumimoji="0" lang="fr-FR" altLang="en-US" sz="1800" b="0" i="1" u="none" strike="noStrike" kern="1200" cap="none" spc="0" normalizeH="0" noProof="0" dirty="0">
                <a:ln/>
                <a:solidFill>
                  <a:schemeClr val="tx1"/>
                </a:solidFill>
                <a:effectLst/>
                <a:uLnTx/>
                <a:uFillTx/>
                <a:latin typeface="Arial" panose="020B0604020202090204" pitchFamily="34" charset="0"/>
              </a:rPr>
              <a:t> processus de gestion RH lente et manuscrite</a:t>
            </a:r>
            <a:r>
              <a:rPr kumimoji="0" lang="fr-FR" altLang="en-US" sz="1800" b="0" i="1" u="none" strike="noStrike" kern="1200" cap="none" spc="0" normalizeH="0" baseline="0" noProof="0" dirty="0">
                <a:ln/>
                <a:solidFill>
                  <a:schemeClr val="tx1"/>
                </a:solidFill>
                <a:effectLst/>
                <a:uLnTx/>
                <a:uFillTx/>
                <a:latin typeface="Arial" panose="020B0604020202090204" pitchFamily="34" charset="0"/>
              </a:rPr>
              <a:t> </a:t>
            </a:r>
          </a:p>
          <a:p>
            <a:pPr marL="457200" lvl="0" indent="-457200" algn="just">
              <a:lnSpc>
                <a:spcPct val="130000"/>
              </a:lnSpc>
              <a:buFont typeface="Wingdings" panose="05000000000000000000" charset="0"/>
              <a:buChar char=""/>
              <a:defRPr/>
            </a:pPr>
            <a:r>
              <a:rPr lang="fr-FR" altLang="en-US" sz="1800" i="1" kern="1200" dirty="0">
                <a:ln/>
                <a:solidFill>
                  <a:schemeClr val="tx1"/>
                </a:solidFill>
                <a:latin typeface="Arial" panose="020B0604020202090204" pitchFamily="34" charset="0"/>
              </a:rPr>
              <a:t>La tenue des hommes et control des effectifs </a:t>
            </a:r>
            <a:r>
              <a:rPr lang="fr-FR" altLang="en-US" sz="1800" i="1" kern="1200" dirty="0" err="1">
                <a:ln/>
                <a:solidFill>
                  <a:schemeClr val="tx1"/>
                </a:solidFill>
                <a:latin typeface="Arial" panose="020B0604020202090204" pitchFamily="34" charset="0"/>
              </a:rPr>
              <a:t>difficiile</a:t>
            </a:r>
            <a:r>
              <a:rPr lang="fr-FR" altLang="en-US" sz="1800" i="1" kern="1200" dirty="0">
                <a:ln/>
                <a:solidFill>
                  <a:schemeClr val="tx1"/>
                </a:solidFill>
                <a:latin typeface="Arial" panose="020B0604020202090204" pitchFamily="34" charset="0"/>
              </a:rPr>
              <a:t> et non optimal</a:t>
            </a:r>
            <a:endParaRPr kumimoji="0" lang="fr-FR" altLang="en-US" sz="1800" b="0" i="1" u="none" strike="noStrike" kern="1200" cap="none" spc="0" normalizeH="0" baseline="0" noProof="0" dirty="0">
              <a:ln/>
              <a:solidFill>
                <a:schemeClr val="tx1"/>
              </a:solidFill>
              <a:effectLst/>
              <a:uLnTx/>
              <a:uFillTx/>
              <a:latin typeface="Arial" panose="020B0604020202090204" pitchFamily="34" charset="0"/>
            </a:endParaRPr>
          </a:p>
          <a:p>
            <a:pPr marL="457200" lvl="0" indent="-457200" algn="just">
              <a:lnSpc>
                <a:spcPct val="130000"/>
              </a:lnSpc>
              <a:buFont typeface="Wingdings" panose="05000000000000000000" charset="0"/>
              <a:buChar char=""/>
              <a:defRPr/>
            </a:pPr>
            <a:endParaRPr kumimoji="0" lang="fr-FR" altLang="en-US" sz="1600" b="0" i="1" u="none" strike="noStrike" kern="1200" cap="none" spc="0" normalizeH="0" baseline="0" noProof="0" dirty="0">
              <a:ln/>
              <a:solidFill>
                <a:schemeClr val="tx1"/>
              </a:solidFill>
              <a:effectLst/>
              <a:uLnTx/>
              <a:uFillTx/>
              <a:latin typeface="Arial" panose="020B0604020202090204" pitchFamily="34" charset="0"/>
            </a:endParaRPr>
          </a:p>
        </p:txBody>
      </p:sp>
    </p:spTree>
    <p:extLst>
      <p:ext uri="{BB962C8B-B14F-4D97-AF65-F5344CB8AC3E}">
        <p14:creationId xmlns:p14="http://schemas.microsoft.com/office/powerpoint/2010/main" val="2120401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8"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wheel(8)">
                                      <p:cBhvr>
                                        <p:cTn id="7" dur="75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bldLvl="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1"/>
        <p:cNvGrpSpPr/>
        <p:nvPr/>
      </p:nvGrpSpPr>
      <p:grpSpPr>
        <a:xfrm>
          <a:off x="0" y="0"/>
          <a:ext cx="0" cy="0"/>
          <a:chOff x="0" y="0"/>
          <a:chExt cx="0" cy="0"/>
        </a:xfrm>
      </p:grpSpPr>
      <p:sp>
        <p:nvSpPr>
          <p:cNvPr id="32" name="Google Shape;32;p4"/>
          <p:cNvSpPr/>
          <p:nvPr/>
        </p:nvSpPr>
        <p:spPr>
          <a:xfrm>
            <a:off x="0" y="0"/>
            <a:ext cx="9144000" cy="914400"/>
          </a:xfrm>
          <a:prstGeom prst="rect">
            <a:avLst/>
          </a:prstGeom>
          <a:solidFill>
            <a:srgbClr val="C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4"/>
          <p:cNvSpPr/>
          <p:nvPr/>
        </p:nvSpPr>
        <p:spPr>
          <a:xfrm>
            <a:off x="457200" y="137160"/>
            <a:ext cx="8229600" cy="6400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2200"/>
              <a:buFont typeface="Calibri"/>
              <a:buNone/>
            </a:pPr>
            <a:r>
              <a:rPr lang="en-US" sz="2200" b="1" i="0" u="none" strike="noStrike" cap="none" dirty="0">
                <a:solidFill>
                  <a:srgbClr val="FFFFFF"/>
                </a:solidFill>
                <a:latin typeface="Calibri"/>
                <a:ea typeface="Calibri"/>
                <a:cs typeface="Calibri"/>
                <a:sym typeface="Calibri"/>
              </a:rPr>
              <a:t>CONTEXTE ET ENJEUX</a:t>
            </a:r>
            <a:endParaRPr sz="2200" b="0" i="0" u="none" strike="noStrike" cap="none" dirty="0">
              <a:solidFill>
                <a:schemeClr val="dk1"/>
              </a:solidFill>
              <a:latin typeface="Calibri"/>
              <a:ea typeface="Calibri"/>
              <a:cs typeface="Calibri"/>
              <a:sym typeface="Calibri"/>
            </a:endParaRPr>
          </a:p>
        </p:txBody>
      </p:sp>
      <p:sp>
        <p:nvSpPr>
          <p:cNvPr id="34" name="Google Shape;34;p4"/>
          <p:cNvSpPr/>
          <p:nvPr/>
        </p:nvSpPr>
        <p:spPr>
          <a:xfrm>
            <a:off x="0" y="4663440"/>
            <a:ext cx="9144000" cy="480060"/>
          </a:xfrm>
          <a:prstGeom prst="rect">
            <a:avLst/>
          </a:prstGeom>
          <a:solidFill>
            <a:srgbClr val="C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4"/>
          <p:cNvSpPr/>
          <p:nvPr/>
        </p:nvSpPr>
        <p:spPr>
          <a:xfrm>
            <a:off x="457200" y="4709160"/>
            <a:ext cx="640080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ADCFC"/>
              </a:buClr>
              <a:buSzPts val="900"/>
              <a:buFont typeface="Calibri"/>
              <a:buNone/>
            </a:pPr>
            <a:r>
              <a:rPr lang="en-US" sz="900" b="0" i="0" u="none" strike="noStrike" cap="none">
                <a:solidFill>
                  <a:srgbClr val="CADCFC"/>
                </a:solidFill>
                <a:latin typeface="Calibri"/>
                <a:ea typeface="Calibri"/>
                <a:cs typeface="Calibri"/>
                <a:sym typeface="Calibri"/>
              </a:rPr>
              <a:t>MINDEF - Direction des Ressources Humaines</a:t>
            </a:r>
            <a:endParaRPr sz="900" b="0" i="0" u="none" strike="noStrike" cap="none">
              <a:solidFill>
                <a:schemeClr val="dk1"/>
              </a:solidFill>
              <a:latin typeface="Calibri"/>
              <a:ea typeface="Calibri"/>
              <a:cs typeface="Calibri"/>
              <a:sym typeface="Calibri"/>
            </a:endParaRPr>
          </a:p>
        </p:txBody>
      </p:sp>
      <p:sp>
        <p:nvSpPr>
          <p:cNvPr id="36" name="Google Shape;36;p4"/>
          <p:cNvSpPr/>
          <p:nvPr/>
        </p:nvSpPr>
        <p:spPr>
          <a:xfrm>
            <a:off x="7772400" y="4709160"/>
            <a:ext cx="914400" cy="365760"/>
          </a:xfrm>
          <a:prstGeom prst="rect">
            <a:avLst/>
          </a:prstGeom>
          <a:noFill/>
          <a:ln>
            <a:noFill/>
          </a:ln>
        </p:spPr>
        <p:txBody>
          <a:bodyPr spcFirstLastPara="1" wrap="square" lIns="91425" tIns="45700" rIns="91425" bIns="45700" anchor="ctr" anchorCtr="0">
            <a:noAutofit/>
          </a:bodyPr>
          <a:lstStyle/>
          <a:p>
            <a:pPr lvl="0" algn="r">
              <a:buClr>
                <a:srgbClr val="CADCFC"/>
              </a:buClr>
              <a:buSzPts val="900"/>
            </a:pPr>
            <a:r>
              <a:rPr lang="en-US" sz="900" b="0" i="0" u="none" strike="noStrike" cap="none" dirty="0">
                <a:solidFill>
                  <a:srgbClr val="CADCFC"/>
                </a:solidFill>
                <a:latin typeface="Calibri"/>
                <a:ea typeface="Calibri"/>
                <a:cs typeface="Calibri"/>
                <a:sym typeface="Calibri"/>
              </a:rPr>
              <a:t>2 / </a:t>
            </a:r>
            <a:r>
              <a:rPr lang="en-US" sz="900" dirty="0">
                <a:solidFill>
                  <a:srgbClr val="CADCFC"/>
                </a:solidFill>
                <a:latin typeface="Calibri"/>
                <a:ea typeface="Calibri"/>
                <a:cs typeface="Calibri"/>
                <a:sym typeface="Calibri"/>
              </a:rPr>
              <a:t>27</a:t>
            </a:r>
            <a:endParaRPr lang="en-US" sz="900" dirty="0">
              <a:solidFill>
                <a:schemeClr val="dk1"/>
              </a:solidFill>
              <a:latin typeface="Calibri"/>
              <a:ea typeface="Calibri"/>
              <a:cs typeface="Calibri"/>
              <a:sym typeface="Calibri"/>
            </a:endParaRPr>
          </a:p>
        </p:txBody>
      </p:sp>
      <p:sp>
        <p:nvSpPr>
          <p:cNvPr id="37" name="Google Shape;37;p4"/>
          <p:cNvSpPr/>
          <p:nvPr/>
        </p:nvSpPr>
        <p:spPr>
          <a:xfrm>
            <a:off x="298961" y="1291230"/>
            <a:ext cx="8229600" cy="3200400"/>
          </a:xfrm>
          <a:prstGeom prst="rect">
            <a:avLst/>
          </a:prstGeom>
          <a:solidFill>
            <a:srgbClr val="F0F4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 name="ZoneTexte 21"/>
          <p:cNvSpPr txBox="1"/>
          <p:nvPr/>
        </p:nvSpPr>
        <p:spPr>
          <a:xfrm>
            <a:off x="5011200" y="4286610"/>
            <a:ext cx="45719" cy="307777"/>
          </a:xfrm>
          <a:prstGeom prst="rect">
            <a:avLst/>
          </a:prstGeom>
          <a:noFill/>
        </p:spPr>
        <p:txBody>
          <a:bodyPr wrap="square" rtlCol="0">
            <a:spAutoFit/>
          </a:bodyPr>
          <a:lstStyle/>
          <a:p>
            <a:endParaRPr lang="fr-FR" dirty="0"/>
          </a:p>
        </p:txBody>
      </p:sp>
      <p:grpSp>
        <p:nvGrpSpPr>
          <p:cNvPr id="4" name="Groupe 3"/>
          <p:cNvGrpSpPr/>
          <p:nvPr/>
        </p:nvGrpSpPr>
        <p:grpSpPr>
          <a:xfrm>
            <a:off x="731520" y="1280160"/>
            <a:ext cx="7651735" cy="3072439"/>
            <a:chOff x="731520" y="1280160"/>
            <a:chExt cx="7651735" cy="3072439"/>
          </a:xfrm>
        </p:grpSpPr>
        <p:sp>
          <p:nvSpPr>
            <p:cNvPr id="38" name="Google Shape;38;p4"/>
            <p:cNvSpPr/>
            <p:nvPr/>
          </p:nvSpPr>
          <p:spPr>
            <a:xfrm>
              <a:off x="731520" y="1280160"/>
              <a:ext cx="73152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E2761"/>
                </a:buClr>
                <a:buSzPts val="1600"/>
                <a:buFont typeface="Calibri"/>
                <a:buNone/>
              </a:pPr>
              <a:endParaRPr sz="1600" b="0" i="0" u="none" strike="noStrike" cap="none" dirty="0">
                <a:solidFill>
                  <a:schemeClr val="dk1"/>
                </a:solidFill>
                <a:latin typeface="Calibri"/>
                <a:ea typeface="Calibri"/>
                <a:cs typeface="Calibri"/>
                <a:sym typeface="Calibri"/>
              </a:endParaRPr>
            </a:p>
          </p:txBody>
        </p:sp>
        <p:pic>
          <p:nvPicPr>
            <p:cNvPr id="2" name="Imag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4645" y="1325880"/>
              <a:ext cx="1190880" cy="119088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cxnSp>
          <p:nvCxnSpPr>
            <p:cNvPr id="7" name="Connecteur en arc 6"/>
            <p:cNvCxnSpPr/>
            <p:nvPr/>
          </p:nvCxnSpPr>
          <p:spPr>
            <a:xfrm>
              <a:off x="2085525" y="1889640"/>
              <a:ext cx="1932075" cy="685800"/>
            </a:xfrm>
            <a:prstGeom prst="curvedConnector3">
              <a:avLst>
                <a:gd name="adj1" fmla="val 50000"/>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1" name="Connecteur en arc 20"/>
            <p:cNvCxnSpPr>
              <a:cxnSpLocks/>
            </p:cNvCxnSpPr>
            <p:nvPr/>
          </p:nvCxnSpPr>
          <p:spPr>
            <a:xfrm flipV="1">
              <a:off x="2115855" y="2849760"/>
              <a:ext cx="1901745" cy="826245"/>
            </a:xfrm>
            <a:prstGeom prst="curved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6" name="Image 1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66340" y="1975344"/>
              <a:ext cx="1316915" cy="1466256"/>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cxnSp>
          <p:nvCxnSpPr>
            <p:cNvPr id="18" name="Connecteur droit avec flèche 17"/>
            <p:cNvCxnSpPr/>
            <p:nvPr/>
          </p:nvCxnSpPr>
          <p:spPr>
            <a:xfrm>
              <a:off x="5659641" y="2716922"/>
              <a:ext cx="1350846" cy="1272"/>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grpSp>
          <p:nvGrpSpPr>
            <p:cNvPr id="42" name="Google Shape;23690;p67"/>
            <p:cNvGrpSpPr/>
            <p:nvPr/>
          </p:nvGrpSpPr>
          <p:grpSpPr>
            <a:xfrm>
              <a:off x="4251797" y="1975344"/>
              <a:ext cx="1663867" cy="1995480"/>
              <a:chOff x="6093907" y="2461832"/>
              <a:chExt cx="364441" cy="339091"/>
            </a:xfrm>
          </p:grpSpPr>
          <p:sp>
            <p:nvSpPr>
              <p:cNvPr id="43" name="Google Shape;23691;p67"/>
              <p:cNvSpPr/>
              <p:nvPr/>
            </p:nvSpPr>
            <p:spPr>
              <a:xfrm>
                <a:off x="6094668" y="2515573"/>
                <a:ext cx="283070" cy="233890"/>
              </a:xfrm>
              <a:custGeom>
                <a:avLst/>
                <a:gdLst/>
                <a:ahLst/>
                <a:cxnLst/>
                <a:rect l="l" t="t" r="r" b="b"/>
                <a:pathLst>
                  <a:path w="10798" h="8922" extrusionOk="0">
                    <a:moveTo>
                      <a:pt x="0" y="1"/>
                    </a:moveTo>
                    <a:lnTo>
                      <a:pt x="0" y="6857"/>
                    </a:lnTo>
                    <a:cubicBezTo>
                      <a:pt x="0" y="7998"/>
                      <a:pt x="2411" y="8922"/>
                      <a:pt x="5399" y="8922"/>
                    </a:cubicBezTo>
                    <a:lnTo>
                      <a:pt x="5875" y="8922"/>
                    </a:lnTo>
                    <a:cubicBezTo>
                      <a:pt x="8633" y="8821"/>
                      <a:pt x="10798" y="7940"/>
                      <a:pt x="10798" y="6872"/>
                    </a:cubicBezTo>
                    <a:lnTo>
                      <a:pt x="10798" y="1"/>
                    </a:lnTo>
                    <a:close/>
                  </a:path>
                </a:pathLst>
              </a:custGeom>
              <a:ln w="28575">
                <a:solidFill>
                  <a:schemeClr val="bg1"/>
                </a:solidFill>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23692;p67"/>
              <p:cNvSpPr/>
              <p:nvPr/>
            </p:nvSpPr>
            <p:spPr>
              <a:xfrm>
                <a:off x="6234682" y="2576497"/>
                <a:ext cx="143055" cy="172967"/>
              </a:xfrm>
              <a:custGeom>
                <a:avLst/>
                <a:gdLst/>
                <a:ahLst/>
                <a:cxnLst/>
                <a:rect l="l" t="t" r="r" b="b"/>
                <a:pathLst>
                  <a:path w="5457" h="6598" extrusionOk="0">
                    <a:moveTo>
                      <a:pt x="3580" y="1"/>
                    </a:moveTo>
                    <a:cubicBezTo>
                      <a:pt x="3248" y="1"/>
                      <a:pt x="2974" y="275"/>
                      <a:pt x="2974" y="621"/>
                    </a:cubicBezTo>
                    <a:lnTo>
                      <a:pt x="2974" y="1127"/>
                    </a:lnTo>
                    <a:cubicBezTo>
                      <a:pt x="2757" y="1228"/>
                      <a:pt x="2555" y="1358"/>
                      <a:pt x="2353" y="1487"/>
                    </a:cubicBezTo>
                    <a:lnTo>
                      <a:pt x="1906" y="1228"/>
                    </a:lnTo>
                    <a:cubicBezTo>
                      <a:pt x="1809" y="1177"/>
                      <a:pt x="1706" y="1153"/>
                      <a:pt x="1605" y="1153"/>
                    </a:cubicBezTo>
                    <a:cubicBezTo>
                      <a:pt x="1391" y="1153"/>
                      <a:pt x="1186" y="1262"/>
                      <a:pt x="1069" y="1459"/>
                    </a:cubicBezTo>
                    <a:lnTo>
                      <a:pt x="159" y="3032"/>
                    </a:lnTo>
                    <a:cubicBezTo>
                      <a:pt x="0" y="3321"/>
                      <a:pt x="101" y="3696"/>
                      <a:pt x="390" y="3869"/>
                    </a:cubicBezTo>
                    <a:lnTo>
                      <a:pt x="852" y="4129"/>
                    </a:lnTo>
                    <a:cubicBezTo>
                      <a:pt x="823" y="4245"/>
                      <a:pt x="823" y="4375"/>
                      <a:pt x="823" y="4490"/>
                    </a:cubicBezTo>
                    <a:cubicBezTo>
                      <a:pt x="823" y="4606"/>
                      <a:pt x="838" y="4735"/>
                      <a:pt x="852" y="4851"/>
                    </a:cubicBezTo>
                    <a:lnTo>
                      <a:pt x="390" y="5111"/>
                    </a:lnTo>
                    <a:cubicBezTo>
                      <a:pt x="101" y="5284"/>
                      <a:pt x="0" y="5659"/>
                      <a:pt x="159" y="5948"/>
                    </a:cubicBezTo>
                    <a:lnTo>
                      <a:pt x="534" y="6598"/>
                    </a:lnTo>
                    <a:cubicBezTo>
                      <a:pt x="3292" y="6497"/>
                      <a:pt x="5457" y="5616"/>
                      <a:pt x="5457" y="4548"/>
                    </a:cubicBezTo>
                    <a:lnTo>
                      <a:pt x="5457" y="15"/>
                    </a:lnTo>
                    <a:lnTo>
                      <a:pt x="5442" y="1"/>
                    </a:lnTo>
                    <a:close/>
                  </a:path>
                </a:pathLst>
              </a:custGeom>
              <a:ln w="28575">
                <a:solidFill>
                  <a:schemeClr val="bg1"/>
                </a:solidFill>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23693;p67"/>
              <p:cNvSpPr/>
              <p:nvPr/>
            </p:nvSpPr>
            <p:spPr>
              <a:xfrm>
                <a:off x="6094274" y="2515573"/>
                <a:ext cx="283463" cy="65118"/>
              </a:xfrm>
              <a:custGeom>
                <a:avLst/>
                <a:gdLst/>
                <a:ahLst/>
                <a:cxnLst/>
                <a:rect l="l" t="t" r="r" b="b"/>
                <a:pathLst>
                  <a:path w="10813" h="2484" extrusionOk="0">
                    <a:moveTo>
                      <a:pt x="1" y="1"/>
                    </a:moveTo>
                    <a:lnTo>
                      <a:pt x="1" y="982"/>
                    </a:lnTo>
                    <a:cubicBezTo>
                      <a:pt x="419" y="1372"/>
                      <a:pt x="896" y="1675"/>
                      <a:pt x="1444" y="1863"/>
                    </a:cubicBezTo>
                    <a:cubicBezTo>
                      <a:pt x="2513" y="2267"/>
                      <a:pt x="3913" y="2483"/>
                      <a:pt x="5414" y="2483"/>
                    </a:cubicBezTo>
                    <a:cubicBezTo>
                      <a:pt x="6901" y="2483"/>
                      <a:pt x="8316" y="2267"/>
                      <a:pt x="9384" y="1863"/>
                    </a:cubicBezTo>
                    <a:cubicBezTo>
                      <a:pt x="9918" y="1675"/>
                      <a:pt x="10409" y="1372"/>
                      <a:pt x="10813" y="982"/>
                    </a:cubicBezTo>
                    <a:lnTo>
                      <a:pt x="10813" y="1"/>
                    </a:lnTo>
                    <a:close/>
                  </a:path>
                </a:pathLst>
              </a:custGeom>
              <a:ln w="28575">
                <a:solidFill>
                  <a:schemeClr val="bg1"/>
                </a:solidFill>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23694;p67"/>
              <p:cNvSpPr/>
              <p:nvPr/>
            </p:nvSpPr>
            <p:spPr>
              <a:xfrm>
                <a:off x="6094668" y="2612070"/>
                <a:ext cx="283070" cy="137393"/>
              </a:xfrm>
              <a:custGeom>
                <a:avLst/>
                <a:gdLst/>
                <a:ahLst/>
                <a:cxnLst/>
                <a:rect l="l" t="t" r="r" b="b"/>
                <a:pathLst>
                  <a:path w="10798" h="5241" extrusionOk="0">
                    <a:moveTo>
                      <a:pt x="0" y="1"/>
                    </a:moveTo>
                    <a:lnTo>
                      <a:pt x="0" y="3176"/>
                    </a:lnTo>
                    <a:cubicBezTo>
                      <a:pt x="0" y="4317"/>
                      <a:pt x="2411" y="5241"/>
                      <a:pt x="5399" y="5241"/>
                    </a:cubicBezTo>
                    <a:lnTo>
                      <a:pt x="5875" y="5241"/>
                    </a:lnTo>
                    <a:cubicBezTo>
                      <a:pt x="8633" y="5140"/>
                      <a:pt x="10798" y="4259"/>
                      <a:pt x="10798" y="3191"/>
                    </a:cubicBezTo>
                    <a:lnTo>
                      <a:pt x="10798" y="1"/>
                    </a:lnTo>
                    <a:cubicBezTo>
                      <a:pt x="10798" y="1127"/>
                      <a:pt x="8402" y="2050"/>
                      <a:pt x="5428" y="2050"/>
                    </a:cubicBezTo>
                    <a:lnTo>
                      <a:pt x="5399" y="2050"/>
                    </a:lnTo>
                    <a:cubicBezTo>
                      <a:pt x="2411" y="2050"/>
                      <a:pt x="0" y="1141"/>
                      <a:pt x="0" y="1"/>
                    </a:cubicBezTo>
                    <a:close/>
                  </a:path>
                </a:pathLst>
              </a:custGeom>
              <a:ln w="28575">
                <a:solidFill>
                  <a:schemeClr val="bg1"/>
                </a:solidFill>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23695;p67"/>
              <p:cNvSpPr/>
              <p:nvPr/>
            </p:nvSpPr>
            <p:spPr>
              <a:xfrm>
                <a:off x="6234682" y="2612070"/>
                <a:ext cx="143055" cy="137393"/>
              </a:xfrm>
              <a:custGeom>
                <a:avLst/>
                <a:gdLst/>
                <a:ahLst/>
                <a:cxnLst/>
                <a:rect l="l" t="t" r="r" b="b"/>
                <a:pathLst>
                  <a:path w="5457" h="5241" extrusionOk="0">
                    <a:moveTo>
                      <a:pt x="5457" y="1"/>
                    </a:moveTo>
                    <a:cubicBezTo>
                      <a:pt x="5457" y="1127"/>
                      <a:pt x="3061" y="2050"/>
                      <a:pt x="87" y="2050"/>
                    </a:cubicBezTo>
                    <a:cubicBezTo>
                      <a:pt x="116" y="2238"/>
                      <a:pt x="217" y="2411"/>
                      <a:pt x="390" y="2512"/>
                    </a:cubicBezTo>
                    <a:lnTo>
                      <a:pt x="852" y="2772"/>
                    </a:lnTo>
                    <a:cubicBezTo>
                      <a:pt x="823" y="2888"/>
                      <a:pt x="823" y="3003"/>
                      <a:pt x="823" y="3133"/>
                    </a:cubicBezTo>
                    <a:cubicBezTo>
                      <a:pt x="823" y="3249"/>
                      <a:pt x="838" y="3378"/>
                      <a:pt x="852" y="3494"/>
                    </a:cubicBezTo>
                    <a:lnTo>
                      <a:pt x="390" y="3754"/>
                    </a:lnTo>
                    <a:cubicBezTo>
                      <a:pt x="101" y="3927"/>
                      <a:pt x="0" y="4302"/>
                      <a:pt x="159" y="4591"/>
                    </a:cubicBezTo>
                    <a:lnTo>
                      <a:pt x="534" y="5241"/>
                    </a:lnTo>
                    <a:cubicBezTo>
                      <a:pt x="3292" y="5140"/>
                      <a:pt x="5457" y="4259"/>
                      <a:pt x="5457" y="3191"/>
                    </a:cubicBezTo>
                    <a:lnTo>
                      <a:pt x="5457" y="1"/>
                    </a:lnTo>
                    <a:close/>
                  </a:path>
                </a:pathLst>
              </a:custGeom>
              <a:ln w="28575">
                <a:solidFill>
                  <a:schemeClr val="bg1"/>
                </a:solidFill>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23696;p67"/>
              <p:cNvSpPr/>
              <p:nvPr/>
            </p:nvSpPr>
            <p:spPr>
              <a:xfrm>
                <a:off x="6093907" y="2612070"/>
                <a:ext cx="283830" cy="66245"/>
              </a:xfrm>
              <a:custGeom>
                <a:avLst/>
                <a:gdLst/>
                <a:ahLst/>
                <a:cxnLst/>
                <a:rect l="l" t="t" r="r" b="b"/>
                <a:pathLst>
                  <a:path w="10827" h="2527" extrusionOk="0">
                    <a:moveTo>
                      <a:pt x="0" y="1"/>
                    </a:moveTo>
                    <a:lnTo>
                      <a:pt x="0" y="1011"/>
                    </a:lnTo>
                    <a:cubicBezTo>
                      <a:pt x="405" y="1415"/>
                      <a:pt x="895" y="1718"/>
                      <a:pt x="1444" y="1892"/>
                    </a:cubicBezTo>
                    <a:cubicBezTo>
                      <a:pt x="2512" y="2296"/>
                      <a:pt x="3912" y="2527"/>
                      <a:pt x="5414" y="2527"/>
                    </a:cubicBezTo>
                    <a:cubicBezTo>
                      <a:pt x="6900" y="2527"/>
                      <a:pt x="8315" y="2296"/>
                      <a:pt x="9383" y="1892"/>
                    </a:cubicBezTo>
                    <a:cubicBezTo>
                      <a:pt x="9917" y="1718"/>
                      <a:pt x="10408" y="1415"/>
                      <a:pt x="10827" y="1011"/>
                    </a:cubicBezTo>
                    <a:lnTo>
                      <a:pt x="10827" y="1"/>
                    </a:lnTo>
                    <a:cubicBezTo>
                      <a:pt x="10827" y="1141"/>
                      <a:pt x="8373" y="2050"/>
                      <a:pt x="5399" y="2050"/>
                    </a:cubicBezTo>
                    <a:cubicBezTo>
                      <a:pt x="2411" y="2050"/>
                      <a:pt x="0" y="1141"/>
                      <a:pt x="0" y="1"/>
                    </a:cubicBezTo>
                    <a:close/>
                  </a:path>
                </a:pathLst>
              </a:custGeom>
              <a:ln w="28575">
                <a:solidFill>
                  <a:schemeClr val="bg1"/>
                </a:solidFill>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23697;p67"/>
              <p:cNvSpPr/>
              <p:nvPr/>
            </p:nvSpPr>
            <p:spPr>
              <a:xfrm>
                <a:off x="6094668" y="2461832"/>
                <a:ext cx="283070" cy="107875"/>
              </a:xfrm>
              <a:custGeom>
                <a:avLst/>
                <a:gdLst/>
                <a:ahLst/>
                <a:cxnLst/>
                <a:rect l="l" t="t" r="r" b="b"/>
                <a:pathLst>
                  <a:path w="10798" h="4115" extrusionOk="0">
                    <a:moveTo>
                      <a:pt x="5399" y="1"/>
                    </a:moveTo>
                    <a:cubicBezTo>
                      <a:pt x="2411" y="1"/>
                      <a:pt x="0" y="925"/>
                      <a:pt x="0" y="2051"/>
                    </a:cubicBezTo>
                    <a:cubicBezTo>
                      <a:pt x="0" y="3191"/>
                      <a:pt x="2411" y="4115"/>
                      <a:pt x="5399" y="4115"/>
                    </a:cubicBezTo>
                    <a:cubicBezTo>
                      <a:pt x="8373" y="4115"/>
                      <a:pt x="10798" y="3191"/>
                      <a:pt x="10798" y="2051"/>
                    </a:cubicBezTo>
                    <a:cubicBezTo>
                      <a:pt x="10798" y="925"/>
                      <a:pt x="8373" y="1"/>
                      <a:pt x="5399" y="1"/>
                    </a:cubicBezTo>
                    <a:close/>
                  </a:path>
                </a:pathLst>
              </a:custGeom>
              <a:ln w="28575">
                <a:solidFill>
                  <a:schemeClr val="bg1"/>
                </a:solidFill>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23698;p67"/>
              <p:cNvSpPr/>
              <p:nvPr/>
            </p:nvSpPr>
            <p:spPr>
              <a:xfrm>
                <a:off x="6247160" y="2587848"/>
                <a:ext cx="211188" cy="213076"/>
              </a:xfrm>
              <a:custGeom>
                <a:avLst/>
                <a:gdLst/>
                <a:ahLst/>
                <a:cxnLst/>
                <a:rect l="l" t="t" r="r" b="b"/>
                <a:pathLst>
                  <a:path w="8056" h="8128" extrusionOk="0">
                    <a:moveTo>
                      <a:pt x="3119" y="1"/>
                    </a:moveTo>
                    <a:cubicBezTo>
                      <a:pt x="3018" y="1"/>
                      <a:pt x="2946" y="87"/>
                      <a:pt x="2946" y="188"/>
                    </a:cubicBezTo>
                    <a:lnTo>
                      <a:pt x="2946" y="997"/>
                    </a:lnTo>
                    <a:cubicBezTo>
                      <a:pt x="2570" y="1127"/>
                      <a:pt x="2224" y="1314"/>
                      <a:pt x="1935" y="1574"/>
                    </a:cubicBezTo>
                    <a:lnTo>
                      <a:pt x="1228" y="1170"/>
                    </a:lnTo>
                    <a:cubicBezTo>
                      <a:pt x="1198" y="1150"/>
                      <a:pt x="1165" y="1141"/>
                      <a:pt x="1132" y="1141"/>
                    </a:cubicBezTo>
                    <a:cubicBezTo>
                      <a:pt x="1069" y="1141"/>
                      <a:pt x="1006" y="1176"/>
                      <a:pt x="968" y="1242"/>
                    </a:cubicBezTo>
                    <a:lnTo>
                      <a:pt x="73" y="2816"/>
                    </a:lnTo>
                    <a:cubicBezTo>
                      <a:pt x="15" y="2902"/>
                      <a:pt x="44" y="3018"/>
                      <a:pt x="145" y="3061"/>
                    </a:cubicBezTo>
                    <a:lnTo>
                      <a:pt x="838" y="3465"/>
                    </a:lnTo>
                    <a:cubicBezTo>
                      <a:pt x="766" y="3855"/>
                      <a:pt x="766" y="4259"/>
                      <a:pt x="838" y="4634"/>
                    </a:cubicBezTo>
                    <a:lnTo>
                      <a:pt x="131" y="5053"/>
                    </a:lnTo>
                    <a:cubicBezTo>
                      <a:pt x="30" y="5096"/>
                      <a:pt x="1" y="5212"/>
                      <a:pt x="58" y="5313"/>
                    </a:cubicBezTo>
                    <a:lnTo>
                      <a:pt x="953" y="6886"/>
                    </a:lnTo>
                    <a:cubicBezTo>
                      <a:pt x="993" y="6946"/>
                      <a:pt x="1061" y="6978"/>
                      <a:pt x="1127" y="6978"/>
                    </a:cubicBezTo>
                    <a:cubicBezTo>
                      <a:pt x="1157" y="6978"/>
                      <a:pt x="1186" y="6972"/>
                      <a:pt x="1213" y="6959"/>
                    </a:cubicBezTo>
                    <a:lnTo>
                      <a:pt x="1921" y="6540"/>
                    </a:lnTo>
                    <a:cubicBezTo>
                      <a:pt x="2209" y="6800"/>
                      <a:pt x="2556" y="7002"/>
                      <a:pt x="2931" y="7132"/>
                    </a:cubicBezTo>
                    <a:lnTo>
                      <a:pt x="2931" y="7940"/>
                    </a:lnTo>
                    <a:cubicBezTo>
                      <a:pt x="2931" y="8041"/>
                      <a:pt x="3003" y="8128"/>
                      <a:pt x="3104" y="8128"/>
                    </a:cubicBezTo>
                    <a:lnTo>
                      <a:pt x="4923" y="8128"/>
                    </a:lnTo>
                    <a:cubicBezTo>
                      <a:pt x="5024" y="8128"/>
                      <a:pt x="5111" y="8041"/>
                      <a:pt x="5111" y="7940"/>
                    </a:cubicBezTo>
                    <a:lnTo>
                      <a:pt x="5111" y="7132"/>
                    </a:lnTo>
                    <a:cubicBezTo>
                      <a:pt x="5472" y="7002"/>
                      <a:pt x="5818" y="6800"/>
                      <a:pt x="6107" y="6540"/>
                    </a:cubicBezTo>
                    <a:lnTo>
                      <a:pt x="6814" y="6959"/>
                    </a:lnTo>
                    <a:cubicBezTo>
                      <a:pt x="6841" y="6972"/>
                      <a:pt x="6871" y="6978"/>
                      <a:pt x="6900" y="6978"/>
                    </a:cubicBezTo>
                    <a:cubicBezTo>
                      <a:pt x="6967" y="6978"/>
                      <a:pt x="7034" y="6946"/>
                      <a:pt x="7074" y="6886"/>
                    </a:cubicBezTo>
                    <a:lnTo>
                      <a:pt x="7969" y="5313"/>
                    </a:lnTo>
                    <a:cubicBezTo>
                      <a:pt x="8027" y="5226"/>
                      <a:pt x="7998" y="5111"/>
                      <a:pt x="7911" y="5053"/>
                    </a:cubicBezTo>
                    <a:lnTo>
                      <a:pt x="7204" y="4649"/>
                    </a:lnTo>
                    <a:cubicBezTo>
                      <a:pt x="7247" y="4461"/>
                      <a:pt x="7276" y="4259"/>
                      <a:pt x="7276" y="4057"/>
                    </a:cubicBezTo>
                    <a:cubicBezTo>
                      <a:pt x="7276" y="3869"/>
                      <a:pt x="7262" y="3667"/>
                      <a:pt x="7233" y="3480"/>
                    </a:cubicBezTo>
                    <a:lnTo>
                      <a:pt x="7926" y="3075"/>
                    </a:lnTo>
                    <a:cubicBezTo>
                      <a:pt x="8027" y="3018"/>
                      <a:pt x="8056" y="2902"/>
                      <a:pt x="7998" y="2816"/>
                    </a:cubicBezTo>
                    <a:lnTo>
                      <a:pt x="7103" y="1242"/>
                    </a:lnTo>
                    <a:cubicBezTo>
                      <a:pt x="7065" y="1176"/>
                      <a:pt x="7002" y="1141"/>
                      <a:pt x="6939" y="1141"/>
                    </a:cubicBezTo>
                    <a:cubicBezTo>
                      <a:pt x="6906" y="1141"/>
                      <a:pt x="6873" y="1150"/>
                      <a:pt x="6843" y="1170"/>
                    </a:cubicBezTo>
                    <a:lnTo>
                      <a:pt x="6136" y="1574"/>
                    </a:lnTo>
                    <a:cubicBezTo>
                      <a:pt x="5847" y="1329"/>
                      <a:pt x="5501" y="1127"/>
                      <a:pt x="5125" y="997"/>
                    </a:cubicBezTo>
                    <a:lnTo>
                      <a:pt x="5125" y="188"/>
                    </a:lnTo>
                    <a:cubicBezTo>
                      <a:pt x="5125" y="87"/>
                      <a:pt x="5053" y="1"/>
                      <a:pt x="4952" y="1"/>
                    </a:cubicBezTo>
                    <a:close/>
                  </a:path>
                </a:pathLst>
              </a:custGeom>
              <a:ln w="28575">
                <a:solidFill>
                  <a:schemeClr val="bg1"/>
                </a:solidFill>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23699;p67"/>
              <p:cNvSpPr/>
              <p:nvPr/>
            </p:nvSpPr>
            <p:spPr>
              <a:xfrm>
                <a:off x="6300141" y="2654670"/>
                <a:ext cx="91988" cy="78907"/>
              </a:xfrm>
              <a:custGeom>
                <a:avLst/>
                <a:gdLst/>
                <a:ahLst/>
                <a:cxnLst/>
                <a:rect l="l" t="t" r="r" b="b"/>
                <a:pathLst>
                  <a:path w="3509" h="3010" extrusionOk="0">
                    <a:moveTo>
                      <a:pt x="1993" y="1"/>
                    </a:moveTo>
                    <a:cubicBezTo>
                      <a:pt x="1623" y="1"/>
                      <a:pt x="1247" y="137"/>
                      <a:pt x="939" y="440"/>
                    </a:cubicBezTo>
                    <a:cubicBezTo>
                      <a:pt x="1" y="1393"/>
                      <a:pt x="665" y="3009"/>
                      <a:pt x="2007" y="3009"/>
                    </a:cubicBezTo>
                    <a:cubicBezTo>
                      <a:pt x="2844" y="3009"/>
                      <a:pt x="3508" y="2345"/>
                      <a:pt x="3508" y="1508"/>
                    </a:cubicBezTo>
                    <a:cubicBezTo>
                      <a:pt x="3508" y="599"/>
                      <a:pt x="2767" y="1"/>
                      <a:pt x="1993" y="1"/>
                    </a:cubicBezTo>
                    <a:close/>
                  </a:path>
                </a:pathLst>
              </a:custGeom>
              <a:ln w="28575">
                <a:solidFill>
                  <a:schemeClr val="bg1"/>
                </a:solidFill>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23700;p67"/>
              <p:cNvSpPr/>
              <p:nvPr/>
            </p:nvSpPr>
            <p:spPr>
              <a:xfrm>
                <a:off x="6324730" y="2666571"/>
                <a:ext cx="55654" cy="55654"/>
              </a:xfrm>
              <a:custGeom>
                <a:avLst/>
                <a:gdLst/>
                <a:ahLst/>
                <a:cxnLst/>
                <a:rect l="l" t="t" r="r" b="b"/>
                <a:pathLst>
                  <a:path w="2123" h="2123" extrusionOk="0">
                    <a:moveTo>
                      <a:pt x="1069" y="0"/>
                    </a:moveTo>
                    <a:cubicBezTo>
                      <a:pt x="477" y="0"/>
                      <a:pt x="1" y="477"/>
                      <a:pt x="1" y="1054"/>
                    </a:cubicBezTo>
                    <a:cubicBezTo>
                      <a:pt x="1" y="1646"/>
                      <a:pt x="477" y="2122"/>
                      <a:pt x="1069" y="2122"/>
                    </a:cubicBezTo>
                    <a:cubicBezTo>
                      <a:pt x="1661" y="2122"/>
                      <a:pt x="2123" y="1646"/>
                      <a:pt x="2123" y="1054"/>
                    </a:cubicBezTo>
                    <a:cubicBezTo>
                      <a:pt x="2123" y="477"/>
                      <a:pt x="1661" y="0"/>
                      <a:pt x="1069" y="0"/>
                    </a:cubicBezTo>
                    <a:close/>
                  </a:path>
                </a:pathLst>
              </a:custGeom>
              <a:ln w="28575">
                <a:solidFill>
                  <a:schemeClr val="bg1"/>
                </a:solidFill>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 name="ZoneTexte 22"/>
            <p:cNvSpPr txBox="1"/>
            <p:nvPr/>
          </p:nvSpPr>
          <p:spPr>
            <a:xfrm>
              <a:off x="4131719" y="4044822"/>
              <a:ext cx="1850400" cy="307777"/>
            </a:xfrm>
            <a:prstGeom prst="rect">
              <a:avLst/>
            </a:prstGeom>
            <a:noFill/>
          </p:spPr>
          <p:txBody>
            <a:bodyPr wrap="square" rtlCol="0">
              <a:spAutoFit/>
            </a:bodyPr>
            <a:lstStyle/>
            <a:p>
              <a:pPr algn="ctr"/>
              <a:r>
                <a:rPr lang="fr-FR" b="1" dirty="0">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GESMIL 2.0</a:t>
              </a:r>
            </a:p>
          </p:txBody>
        </p:sp>
      </p:grpSp>
      <p:grpSp>
        <p:nvGrpSpPr>
          <p:cNvPr id="30" name="Group 32"/>
          <p:cNvGrpSpPr/>
          <p:nvPr/>
        </p:nvGrpSpPr>
        <p:grpSpPr>
          <a:xfrm>
            <a:off x="175260" y="86033"/>
            <a:ext cx="9022080" cy="778837"/>
            <a:chOff x="330" y="182"/>
            <a:chExt cx="18543" cy="1604"/>
          </a:xfrm>
        </p:grpSpPr>
        <p:sp>
          <p:nvSpPr>
            <p:cNvPr id="31" name="Freeform 3"/>
            <p:cNvSpPr/>
            <p:nvPr/>
          </p:nvSpPr>
          <p:spPr>
            <a:xfrm>
              <a:off x="330" y="182"/>
              <a:ext cx="1640" cy="1604"/>
            </a:xfrm>
            <a:custGeom>
              <a:avLst/>
              <a:gdLst/>
              <a:ahLst/>
              <a:cxnLst/>
              <a:rect l="l" t="t" r="r" b="b"/>
              <a:pathLst>
                <a:path w="6263628" h="7097595">
                  <a:moveTo>
                    <a:pt x="0" y="0"/>
                  </a:moveTo>
                  <a:lnTo>
                    <a:pt x="6263628" y="0"/>
                  </a:lnTo>
                  <a:lnTo>
                    <a:pt x="6263628" y="7097595"/>
                  </a:lnTo>
                  <a:lnTo>
                    <a:pt x="0" y="7097595"/>
                  </a:lnTo>
                  <a:lnTo>
                    <a:pt x="0" y="0"/>
                  </a:lnTo>
                  <a:close/>
                </a:path>
              </a:pathLst>
            </a:custGeom>
            <a:blipFill>
              <a:blip r:embed="rId5"/>
              <a:stretch>
                <a:fillRect/>
              </a:stretch>
            </a:blipFill>
          </p:spPr>
        </p:sp>
        <p:pic>
          <p:nvPicPr>
            <p:cNvPr id="39" name="Picture 3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6953" y="182"/>
              <a:ext cx="1920" cy="1604"/>
            </a:xfrm>
            <a:prstGeom prst="rect">
              <a:avLst/>
            </a:prstGeom>
          </p:spPr>
        </p:pic>
      </p:grpSp>
    </p:spTree>
    <p:extLst>
      <p:ext uri="{BB962C8B-B14F-4D97-AF65-F5344CB8AC3E}">
        <p14:creationId xmlns:p14="http://schemas.microsoft.com/office/powerpoint/2010/main" val="41496425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1"/>
        <p:cNvGrpSpPr/>
        <p:nvPr/>
      </p:nvGrpSpPr>
      <p:grpSpPr>
        <a:xfrm>
          <a:off x="0" y="0"/>
          <a:ext cx="0" cy="0"/>
          <a:chOff x="0" y="0"/>
          <a:chExt cx="0" cy="0"/>
        </a:xfrm>
      </p:grpSpPr>
      <p:sp>
        <p:nvSpPr>
          <p:cNvPr id="33" name="Google Shape;33;p4"/>
          <p:cNvSpPr/>
          <p:nvPr/>
        </p:nvSpPr>
        <p:spPr>
          <a:xfrm>
            <a:off x="457200" y="137160"/>
            <a:ext cx="8229600" cy="6400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2200"/>
              <a:buFont typeface="Calibri"/>
              <a:buNone/>
            </a:pPr>
            <a:endParaRPr sz="2200" b="0" i="0" u="none" strike="noStrike" cap="none" dirty="0">
              <a:solidFill>
                <a:schemeClr val="dk1"/>
              </a:solidFill>
              <a:latin typeface="Calibri"/>
              <a:ea typeface="Calibri"/>
              <a:cs typeface="Calibri"/>
              <a:sym typeface="Calibri"/>
            </a:endParaRPr>
          </a:p>
        </p:txBody>
      </p:sp>
      <p:sp>
        <p:nvSpPr>
          <p:cNvPr id="36" name="Google Shape;36;p4"/>
          <p:cNvSpPr/>
          <p:nvPr/>
        </p:nvSpPr>
        <p:spPr>
          <a:xfrm>
            <a:off x="7772400" y="4709160"/>
            <a:ext cx="914400" cy="365760"/>
          </a:xfrm>
          <a:prstGeom prst="rect">
            <a:avLst/>
          </a:prstGeom>
          <a:noFill/>
          <a:ln>
            <a:noFill/>
          </a:ln>
        </p:spPr>
        <p:txBody>
          <a:bodyPr spcFirstLastPara="1" wrap="square" lIns="91425" tIns="45700" rIns="91425" bIns="45700" anchor="ctr" anchorCtr="0">
            <a:noAutofit/>
          </a:bodyPr>
          <a:lstStyle/>
          <a:p>
            <a:pPr lvl="0" algn="r">
              <a:buClr>
                <a:srgbClr val="CADCFC"/>
              </a:buClr>
              <a:buSzPts val="900"/>
            </a:pPr>
            <a:r>
              <a:rPr lang="en-US" sz="900" b="0" i="0" u="none" strike="noStrike" cap="none" dirty="0">
                <a:solidFill>
                  <a:srgbClr val="CADCFC"/>
                </a:solidFill>
                <a:latin typeface="Calibri"/>
                <a:ea typeface="Calibri"/>
                <a:cs typeface="Calibri"/>
                <a:sym typeface="Calibri"/>
              </a:rPr>
              <a:t>2 / </a:t>
            </a:r>
            <a:r>
              <a:rPr lang="en-US" sz="900" dirty="0">
                <a:solidFill>
                  <a:srgbClr val="CADCFC"/>
                </a:solidFill>
                <a:latin typeface="Calibri"/>
                <a:ea typeface="Calibri"/>
                <a:cs typeface="Calibri"/>
                <a:sym typeface="Calibri"/>
              </a:rPr>
              <a:t>27</a:t>
            </a:r>
            <a:endParaRPr lang="en-US" sz="900" dirty="0">
              <a:solidFill>
                <a:schemeClr val="dk1"/>
              </a:solidFill>
              <a:latin typeface="Calibri"/>
              <a:ea typeface="Calibri"/>
              <a:cs typeface="Calibri"/>
              <a:sym typeface="Calibri"/>
            </a:endParaRPr>
          </a:p>
        </p:txBody>
      </p:sp>
      <p:sp>
        <p:nvSpPr>
          <p:cNvPr id="22" name="ZoneTexte 21"/>
          <p:cNvSpPr txBox="1"/>
          <p:nvPr/>
        </p:nvSpPr>
        <p:spPr>
          <a:xfrm>
            <a:off x="5011200" y="4286610"/>
            <a:ext cx="45719" cy="307777"/>
          </a:xfrm>
          <a:prstGeom prst="rect">
            <a:avLst/>
          </a:prstGeom>
          <a:noFill/>
        </p:spPr>
        <p:txBody>
          <a:bodyPr wrap="square" rtlCol="0">
            <a:spAutoFit/>
          </a:bodyPr>
          <a:lstStyle/>
          <a:p>
            <a:endParaRPr lang="fr-FR" dirty="0"/>
          </a:p>
        </p:txBody>
      </p:sp>
      <p:grpSp>
        <p:nvGrpSpPr>
          <p:cNvPr id="30" name="Group 32"/>
          <p:cNvGrpSpPr/>
          <p:nvPr/>
        </p:nvGrpSpPr>
        <p:grpSpPr>
          <a:xfrm>
            <a:off x="175260" y="86033"/>
            <a:ext cx="9022080" cy="778837"/>
            <a:chOff x="330" y="182"/>
            <a:chExt cx="18543" cy="1604"/>
          </a:xfrm>
        </p:grpSpPr>
        <p:sp>
          <p:nvSpPr>
            <p:cNvPr id="31" name="Freeform 3"/>
            <p:cNvSpPr/>
            <p:nvPr/>
          </p:nvSpPr>
          <p:spPr>
            <a:xfrm>
              <a:off x="330" y="182"/>
              <a:ext cx="1640" cy="1604"/>
            </a:xfrm>
            <a:custGeom>
              <a:avLst/>
              <a:gdLst/>
              <a:ahLst/>
              <a:cxnLst/>
              <a:rect l="l" t="t" r="r" b="b"/>
              <a:pathLst>
                <a:path w="6263628" h="7097595">
                  <a:moveTo>
                    <a:pt x="0" y="0"/>
                  </a:moveTo>
                  <a:lnTo>
                    <a:pt x="6263628" y="0"/>
                  </a:lnTo>
                  <a:lnTo>
                    <a:pt x="6263628" y="7097595"/>
                  </a:lnTo>
                  <a:lnTo>
                    <a:pt x="0" y="7097595"/>
                  </a:lnTo>
                  <a:lnTo>
                    <a:pt x="0" y="0"/>
                  </a:lnTo>
                  <a:close/>
                </a:path>
              </a:pathLst>
            </a:custGeom>
            <a:blipFill>
              <a:blip r:embed="rId3"/>
              <a:stretch>
                <a:fillRect/>
              </a:stretch>
            </a:blipFill>
          </p:spPr>
        </p:sp>
        <p:pic>
          <p:nvPicPr>
            <p:cNvPr id="39" name="Picture 3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953" y="182"/>
              <a:ext cx="1920" cy="1604"/>
            </a:xfrm>
            <a:prstGeom prst="rect">
              <a:avLst/>
            </a:prstGeom>
          </p:spPr>
        </p:pic>
      </p:grpSp>
      <p:sp>
        <p:nvSpPr>
          <p:cNvPr id="40" name="Rectangle 39">
            <a:extLst>
              <a:ext uri="{FF2B5EF4-FFF2-40B4-BE49-F238E27FC236}">
                <a16:creationId xmlns:a16="http://schemas.microsoft.com/office/drawing/2014/main" id="{B45DE706-DB84-4E55-9A1E-E0019AB008E3}"/>
              </a:ext>
            </a:extLst>
          </p:cNvPr>
          <p:cNvSpPr/>
          <p:nvPr/>
        </p:nvSpPr>
        <p:spPr>
          <a:xfrm>
            <a:off x="727302" y="1036680"/>
            <a:ext cx="7689396" cy="3349350"/>
          </a:xfrm>
          <a:prstGeom prst="rect">
            <a:avLst/>
          </a:prstGeom>
          <a:noFill/>
          <a:ln w="263525" cmpd="tri">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fr-FR" sz="4400" b="1" i="0" u="none" strike="noStrike" kern="1200" cap="none" spc="0" normalizeH="0" baseline="0" noProof="0" dirty="0">
                <a:ln>
                  <a:noFill/>
                </a:ln>
                <a:solidFill>
                  <a:prstClr val="black"/>
                </a:solidFill>
                <a:effectLst/>
                <a:uLnTx/>
                <a:uFillTx/>
                <a:latin typeface="Verdana" panose="020B0804030504040204" pitchFamily="34" charset="0"/>
                <a:ea typeface="Verdana" panose="020B0804030504040204" pitchFamily="34" charset="0"/>
              </a:rPr>
              <a:t>PRESENTATION DES LOGICIELS</a:t>
            </a:r>
          </a:p>
        </p:txBody>
      </p:sp>
    </p:spTree>
    <p:extLst>
      <p:ext uri="{BB962C8B-B14F-4D97-AF65-F5344CB8AC3E}">
        <p14:creationId xmlns:p14="http://schemas.microsoft.com/office/powerpoint/2010/main" val="25300608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1"/>
        <p:cNvGrpSpPr/>
        <p:nvPr/>
      </p:nvGrpSpPr>
      <p:grpSpPr>
        <a:xfrm>
          <a:off x="0" y="0"/>
          <a:ext cx="0" cy="0"/>
          <a:chOff x="0" y="0"/>
          <a:chExt cx="0" cy="0"/>
        </a:xfrm>
      </p:grpSpPr>
      <p:sp>
        <p:nvSpPr>
          <p:cNvPr id="32" name="Google Shape;32;p4"/>
          <p:cNvSpPr/>
          <p:nvPr/>
        </p:nvSpPr>
        <p:spPr>
          <a:xfrm>
            <a:off x="0" y="0"/>
            <a:ext cx="9144000" cy="914400"/>
          </a:xfrm>
          <a:prstGeom prst="rect">
            <a:avLst/>
          </a:prstGeom>
          <a:solidFill>
            <a:srgbClr val="FCD11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4"/>
          <p:cNvSpPr/>
          <p:nvPr/>
        </p:nvSpPr>
        <p:spPr>
          <a:xfrm>
            <a:off x="175260" y="337751"/>
            <a:ext cx="8229600" cy="2754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2200"/>
              <a:buFont typeface="Calibri"/>
              <a:buNone/>
            </a:pPr>
            <a:r>
              <a:rPr lang="en-US" sz="6000" b="1" i="0" u="none" strike="noStrike" cap="none" dirty="0">
                <a:solidFill>
                  <a:srgbClr val="FFFFFF"/>
                </a:solidFill>
                <a:latin typeface="Calibri"/>
                <a:ea typeface="Calibri"/>
                <a:cs typeface="Calibri"/>
                <a:sym typeface="Calibri"/>
              </a:rPr>
              <a:t>CIMIS</a:t>
            </a:r>
            <a:endParaRPr sz="6000" b="0" i="0" u="none" strike="noStrike" cap="none" dirty="0">
              <a:solidFill>
                <a:schemeClr val="dk1"/>
              </a:solidFill>
              <a:latin typeface="Calibri"/>
              <a:ea typeface="Calibri"/>
              <a:cs typeface="Calibri"/>
              <a:sym typeface="Calibri"/>
            </a:endParaRPr>
          </a:p>
        </p:txBody>
      </p:sp>
      <p:sp>
        <p:nvSpPr>
          <p:cNvPr id="34" name="Google Shape;34;p4"/>
          <p:cNvSpPr/>
          <p:nvPr/>
        </p:nvSpPr>
        <p:spPr>
          <a:xfrm>
            <a:off x="0" y="4685220"/>
            <a:ext cx="9144000" cy="480060"/>
          </a:xfrm>
          <a:prstGeom prst="rect">
            <a:avLst/>
          </a:prstGeom>
          <a:solidFill>
            <a:srgbClr val="FCD11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4"/>
          <p:cNvSpPr/>
          <p:nvPr/>
        </p:nvSpPr>
        <p:spPr>
          <a:xfrm>
            <a:off x="457200" y="4709160"/>
            <a:ext cx="640080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ADCFC"/>
              </a:buClr>
              <a:buSzPts val="900"/>
              <a:buFont typeface="Calibri"/>
              <a:buNone/>
            </a:pPr>
            <a:r>
              <a:rPr lang="en-US" sz="900" b="0" i="0" u="none" strike="noStrike" cap="none" dirty="0">
                <a:solidFill>
                  <a:srgbClr val="CADCFC"/>
                </a:solidFill>
                <a:latin typeface="Calibri"/>
                <a:ea typeface="Calibri"/>
                <a:cs typeface="Calibri"/>
                <a:sym typeface="Calibri"/>
              </a:rPr>
              <a:t>MINDEF - Direction des </a:t>
            </a:r>
            <a:r>
              <a:rPr lang="en-US" sz="900" b="0" i="0" u="none" strike="noStrike" cap="none" dirty="0" err="1">
                <a:solidFill>
                  <a:srgbClr val="CADCFC"/>
                </a:solidFill>
                <a:latin typeface="Calibri"/>
                <a:ea typeface="Calibri"/>
                <a:cs typeface="Calibri"/>
                <a:sym typeface="Calibri"/>
              </a:rPr>
              <a:t>Ressources</a:t>
            </a:r>
            <a:r>
              <a:rPr lang="en-US" sz="900" b="0" i="0" u="none" strike="noStrike" cap="none" dirty="0">
                <a:solidFill>
                  <a:srgbClr val="CADCFC"/>
                </a:solidFill>
                <a:latin typeface="Calibri"/>
                <a:ea typeface="Calibri"/>
                <a:cs typeface="Calibri"/>
                <a:sym typeface="Calibri"/>
              </a:rPr>
              <a:t> </a:t>
            </a:r>
            <a:r>
              <a:rPr lang="en-US" sz="900" b="0" i="0" u="none" strike="noStrike" cap="none" dirty="0" err="1">
                <a:solidFill>
                  <a:srgbClr val="CADCFC"/>
                </a:solidFill>
                <a:latin typeface="Calibri"/>
                <a:ea typeface="Calibri"/>
                <a:cs typeface="Calibri"/>
                <a:sym typeface="Calibri"/>
              </a:rPr>
              <a:t>Humaines</a:t>
            </a:r>
            <a:endParaRPr sz="900" b="0" i="0" u="none" strike="noStrike" cap="none" dirty="0">
              <a:solidFill>
                <a:schemeClr val="dk1"/>
              </a:solidFill>
              <a:latin typeface="Calibri"/>
              <a:ea typeface="Calibri"/>
              <a:cs typeface="Calibri"/>
              <a:sym typeface="Calibri"/>
            </a:endParaRPr>
          </a:p>
        </p:txBody>
      </p:sp>
      <p:sp>
        <p:nvSpPr>
          <p:cNvPr id="36" name="Google Shape;36;p4"/>
          <p:cNvSpPr/>
          <p:nvPr/>
        </p:nvSpPr>
        <p:spPr>
          <a:xfrm>
            <a:off x="7772400" y="4709160"/>
            <a:ext cx="914400" cy="365760"/>
          </a:xfrm>
          <a:prstGeom prst="rect">
            <a:avLst/>
          </a:prstGeom>
          <a:noFill/>
          <a:ln>
            <a:noFill/>
          </a:ln>
        </p:spPr>
        <p:txBody>
          <a:bodyPr spcFirstLastPara="1" wrap="square" lIns="91425" tIns="45700" rIns="91425" bIns="45700" anchor="ctr" anchorCtr="0">
            <a:noAutofit/>
          </a:bodyPr>
          <a:lstStyle/>
          <a:p>
            <a:pPr lvl="0" algn="r">
              <a:buClr>
                <a:srgbClr val="CADCFC"/>
              </a:buClr>
              <a:buSzPts val="900"/>
            </a:pPr>
            <a:r>
              <a:rPr lang="en-US" sz="900" dirty="0">
                <a:solidFill>
                  <a:srgbClr val="CADCFC"/>
                </a:solidFill>
                <a:latin typeface="Calibri"/>
                <a:ea typeface="Calibri"/>
                <a:cs typeface="Calibri"/>
                <a:sym typeface="Calibri"/>
              </a:rPr>
              <a:t>3</a:t>
            </a:r>
            <a:r>
              <a:rPr lang="en-US" sz="900" b="0" i="0" u="none" strike="noStrike" cap="none" dirty="0">
                <a:solidFill>
                  <a:srgbClr val="CADCFC"/>
                </a:solidFill>
                <a:latin typeface="Calibri"/>
                <a:ea typeface="Calibri"/>
                <a:cs typeface="Calibri"/>
                <a:sym typeface="Calibri"/>
              </a:rPr>
              <a:t> / </a:t>
            </a:r>
            <a:r>
              <a:rPr lang="en-US" sz="900" dirty="0">
                <a:solidFill>
                  <a:srgbClr val="CADCFC"/>
                </a:solidFill>
                <a:latin typeface="Calibri"/>
                <a:ea typeface="Calibri"/>
                <a:cs typeface="Calibri"/>
                <a:sym typeface="Calibri"/>
              </a:rPr>
              <a:t>27</a:t>
            </a:r>
            <a:endParaRPr lang="en-US" sz="900" dirty="0">
              <a:solidFill>
                <a:schemeClr val="dk1"/>
              </a:solidFill>
              <a:latin typeface="Calibri"/>
              <a:ea typeface="Calibri"/>
              <a:cs typeface="Calibri"/>
              <a:sym typeface="Calibri"/>
            </a:endParaRPr>
          </a:p>
        </p:txBody>
      </p:sp>
      <p:sp>
        <p:nvSpPr>
          <p:cNvPr id="37" name="Google Shape;37;p4"/>
          <p:cNvSpPr/>
          <p:nvPr/>
        </p:nvSpPr>
        <p:spPr>
          <a:xfrm>
            <a:off x="457200" y="1188720"/>
            <a:ext cx="8229600" cy="3200400"/>
          </a:xfrm>
          <a:prstGeom prst="rect">
            <a:avLst/>
          </a:prstGeom>
          <a:solidFill>
            <a:srgbClr val="F0F4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4"/>
          <p:cNvSpPr/>
          <p:nvPr/>
        </p:nvSpPr>
        <p:spPr>
          <a:xfrm>
            <a:off x="731520" y="1280160"/>
            <a:ext cx="73152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E2761"/>
              </a:buClr>
              <a:buSzPts val="1600"/>
              <a:buFont typeface="Calibri"/>
              <a:buNone/>
            </a:pPr>
            <a:r>
              <a:rPr lang="en-US" sz="1600" b="1" i="0" u="none" strike="noStrike" cap="none" dirty="0">
                <a:solidFill>
                  <a:srgbClr val="1E2761"/>
                </a:solidFill>
                <a:latin typeface="Calibri"/>
                <a:ea typeface="Calibri"/>
                <a:cs typeface="Calibri"/>
                <a:sym typeface="Calibri"/>
              </a:rPr>
              <a:t>Description</a:t>
            </a:r>
            <a:endParaRPr sz="1600" b="0" i="0" u="none" strike="noStrike" cap="none" dirty="0">
              <a:solidFill>
                <a:schemeClr val="dk1"/>
              </a:solidFill>
              <a:latin typeface="Calibri"/>
              <a:ea typeface="Calibri"/>
              <a:cs typeface="Calibri"/>
              <a:sym typeface="Calibri"/>
            </a:endParaRPr>
          </a:p>
        </p:txBody>
      </p:sp>
      <p:sp>
        <p:nvSpPr>
          <p:cNvPr id="39" name="Google Shape;39;p4"/>
          <p:cNvSpPr/>
          <p:nvPr/>
        </p:nvSpPr>
        <p:spPr>
          <a:xfrm>
            <a:off x="731520" y="1737360"/>
            <a:ext cx="7680960" cy="914400"/>
          </a:xfrm>
          <a:prstGeom prst="rect">
            <a:avLst/>
          </a:prstGeom>
          <a:noFill/>
          <a:ln>
            <a:noFill/>
          </a:ln>
        </p:spPr>
        <p:txBody>
          <a:bodyPr spcFirstLastPara="1" wrap="square" lIns="91425" tIns="45700" rIns="91425" bIns="45700" anchor="ctr" anchorCtr="0">
            <a:noAutofit/>
          </a:bodyPr>
          <a:lstStyle/>
          <a:p>
            <a:pPr marL="342900" marR="0" lvl="0" indent="-342900" algn="l" rtl="0">
              <a:lnSpc>
                <a:spcPct val="150000"/>
              </a:lnSpc>
              <a:spcBef>
                <a:spcPts val="0"/>
              </a:spcBef>
              <a:spcAft>
                <a:spcPts val="0"/>
              </a:spcAft>
              <a:buClr>
                <a:srgbClr val="1A1A2E"/>
              </a:buClr>
              <a:buSzPts val="1300"/>
              <a:buFont typeface="Calibri"/>
              <a:buChar char="•"/>
            </a:pPr>
            <a:r>
              <a:rPr lang="fr-FR" sz="1300" b="0" i="0" u="none" strike="noStrike" cap="none" dirty="0">
                <a:solidFill>
                  <a:srgbClr val="1A1A2E"/>
                </a:solidFill>
                <a:latin typeface="Calibri"/>
                <a:ea typeface="Calibri"/>
                <a:cs typeface="Calibri"/>
                <a:sym typeface="Calibri"/>
              </a:rPr>
              <a:t>Source d’informations primordiales chez le militaire (</a:t>
            </a:r>
            <a:r>
              <a:rPr lang="fr-FR" sz="1300" dirty="0">
                <a:solidFill>
                  <a:srgbClr val="1A1A2E"/>
                </a:solidFill>
                <a:latin typeface="Calibri"/>
                <a:ea typeface="Calibri"/>
                <a:cs typeface="Calibri"/>
                <a:sym typeface="Calibri"/>
              </a:rPr>
              <a:t>noms, corps, grade, </a:t>
            </a:r>
            <a:r>
              <a:rPr lang="fr-FR" sz="1300" b="0" i="0" u="none" strike="noStrike" cap="none" dirty="0">
                <a:solidFill>
                  <a:srgbClr val="1A1A2E"/>
                </a:solidFill>
                <a:latin typeface="Calibri"/>
                <a:ea typeface="Calibri"/>
                <a:cs typeface="Calibri"/>
                <a:sym typeface="Calibri"/>
              </a:rPr>
              <a:t>taille, poids, groupe sanguin, empreintes digitales, …)</a:t>
            </a:r>
          </a:p>
          <a:p>
            <a:pPr marL="342900" marR="0" lvl="0" indent="-342900" algn="l" rtl="0">
              <a:lnSpc>
                <a:spcPct val="150000"/>
              </a:lnSpc>
              <a:spcBef>
                <a:spcPts val="0"/>
              </a:spcBef>
              <a:spcAft>
                <a:spcPts val="0"/>
              </a:spcAft>
              <a:buClr>
                <a:srgbClr val="1A1A2E"/>
              </a:buClr>
              <a:buSzPts val="1300"/>
              <a:buFont typeface="Calibri"/>
              <a:buChar char="•"/>
            </a:pPr>
            <a:r>
              <a:rPr lang="fr-FR" sz="1300" dirty="0">
                <a:solidFill>
                  <a:srgbClr val="1A1A2E"/>
                </a:solidFill>
                <a:latin typeface="Calibri"/>
                <a:ea typeface="Calibri"/>
                <a:cs typeface="Calibri"/>
                <a:sym typeface="Calibri"/>
              </a:rPr>
              <a:t>Génération des cartes numériques, par la suite physiques</a:t>
            </a:r>
            <a:endParaRPr sz="1300" b="0" i="0" u="none" strike="noStrike" cap="none" dirty="0">
              <a:solidFill>
                <a:schemeClr val="dk1"/>
              </a:solidFill>
              <a:latin typeface="Calibri"/>
              <a:ea typeface="Calibri"/>
              <a:cs typeface="Calibri"/>
              <a:sym typeface="Calibri"/>
            </a:endParaRPr>
          </a:p>
        </p:txBody>
      </p:sp>
      <p:sp>
        <p:nvSpPr>
          <p:cNvPr id="40" name="Google Shape;40;p4"/>
          <p:cNvSpPr/>
          <p:nvPr/>
        </p:nvSpPr>
        <p:spPr>
          <a:xfrm>
            <a:off x="457200" y="3657600"/>
            <a:ext cx="54864" cy="731520"/>
          </a:xfrm>
          <a:prstGeom prst="rect">
            <a:avLst/>
          </a:prstGeom>
          <a:solidFill>
            <a:srgbClr val="3A8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4"/>
          <p:cNvSpPr/>
          <p:nvPr/>
        </p:nvSpPr>
        <p:spPr>
          <a:xfrm>
            <a:off x="640080" y="3611880"/>
            <a:ext cx="7772400" cy="731520"/>
          </a:xfrm>
          <a:prstGeom prst="rect">
            <a:avLst/>
          </a:prstGeom>
          <a:noFill/>
          <a:ln>
            <a:noFill/>
          </a:ln>
        </p:spPr>
        <p:txBody>
          <a:bodyPr spcFirstLastPara="1" wrap="square" lIns="91425" tIns="45700" rIns="91425" bIns="45700" anchor="ctr" anchorCtr="0">
            <a:noAutofit/>
          </a:bodyPr>
          <a:lstStyle/>
          <a:p>
            <a:pPr marL="0" marR="0" lvl="0" indent="0" algn="just" rtl="0">
              <a:spcBef>
                <a:spcPts val="0"/>
              </a:spcBef>
              <a:spcAft>
                <a:spcPts val="0"/>
              </a:spcAft>
              <a:buClr>
                <a:srgbClr val="1E2761"/>
              </a:buClr>
              <a:buSzPts val="1300"/>
              <a:buFont typeface="Calibri"/>
              <a:buNone/>
            </a:pPr>
            <a:r>
              <a:rPr lang="en-US" sz="1300" b="1" i="1" u="none" strike="noStrike" cap="none" dirty="0">
                <a:solidFill>
                  <a:srgbClr val="1E2761"/>
                </a:solidFill>
                <a:latin typeface="Calibri"/>
                <a:ea typeface="Calibri"/>
                <a:cs typeface="Calibri"/>
                <a:sym typeface="Calibri"/>
              </a:rPr>
              <a:t>Il </a:t>
            </a:r>
            <a:r>
              <a:rPr lang="en-US" sz="1300" b="1" i="1" u="none" strike="noStrike" cap="none" dirty="0" err="1">
                <a:solidFill>
                  <a:srgbClr val="1E2761"/>
                </a:solidFill>
                <a:latin typeface="Calibri"/>
                <a:ea typeface="Calibri"/>
                <a:cs typeface="Calibri"/>
                <a:sym typeface="Calibri"/>
              </a:rPr>
              <a:t>est</a:t>
            </a:r>
            <a:r>
              <a:rPr lang="en-US" sz="1300" b="1" i="1" u="none" strike="noStrike" cap="none" dirty="0">
                <a:solidFill>
                  <a:srgbClr val="1E2761"/>
                </a:solidFill>
                <a:latin typeface="Calibri"/>
                <a:ea typeface="Calibri"/>
                <a:cs typeface="Calibri"/>
                <a:sym typeface="Calibri"/>
              </a:rPr>
              <a:t> </a:t>
            </a:r>
            <a:r>
              <a:rPr lang="en-US" sz="1300" b="1" i="1" u="none" strike="noStrike" cap="none" dirty="0" err="1">
                <a:solidFill>
                  <a:srgbClr val="1E2761"/>
                </a:solidFill>
                <a:latin typeface="Calibri"/>
                <a:ea typeface="Calibri"/>
                <a:cs typeface="Calibri"/>
                <a:sym typeface="Calibri"/>
              </a:rPr>
              <a:t>impératif</a:t>
            </a:r>
            <a:r>
              <a:rPr lang="en-US" sz="1300" b="1" i="1" u="none" strike="noStrike" cap="none" dirty="0">
                <a:solidFill>
                  <a:srgbClr val="1E2761"/>
                </a:solidFill>
                <a:latin typeface="Calibri"/>
                <a:ea typeface="Calibri"/>
                <a:cs typeface="Calibri"/>
                <a:sym typeface="Calibri"/>
              </a:rPr>
              <a:t> </a:t>
            </a:r>
            <a:r>
              <a:rPr lang="en-US" sz="1300" b="1" i="1" u="none" strike="noStrike" cap="none" dirty="0" err="1">
                <a:solidFill>
                  <a:srgbClr val="1E2761"/>
                </a:solidFill>
                <a:latin typeface="Calibri"/>
                <a:ea typeface="Calibri"/>
                <a:cs typeface="Calibri"/>
                <a:sym typeface="Calibri"/>
              </a:rPr>
              <a:t>d'acquérir</a:t>
            </a:r>
            <a:r>
              <a:rPr lang="en-US" sz="1300" b="1" i="1" u="none" strike="noStrike" cap="none" dirty="0">
                <a:solidFill>
                  <a:srgbClr val="1E2761"/>
                </a:solidFill>
                <a:latin typeface="Calibri"/>
                <a:ea typeface="Calibri"/>
                <a:cs typeface="Calibri"/>
                <a:sym typeface="Calibri"/>
              </a:rPr>
              <a:t> un </a:t>
            </a:r>
            <a:r>
              <a:rPr lang="en-US" sz="1300" b="1" i="1" u="none" strike="noStrike" cap="none" dirty="0" err="1">
                <a:solidFill>
                  <a:srgbClr val="1E2761"/>
                </a:solidFill>
                <a:latin typeface="Calibri"/>
                <a:ea typeface="Calibri"/>
                <a:cs typeface="Calibri"/>
                <a:sym typeface="Calibri"/>
              </a:rPr>
              <a:t>système</a:t>
            </a:r>
            <a:r>
              <a:rPr lang="en-US" sz="1300" b="1" i="1" u="none" strike="noStrike" cap="none" dirty="0">
                <a:solidFill>
                  <a:srgbClr val="1E2761"/>
                </a:solidFill>
                <a:latin typeface="Calibri"/>
                <a:ea typeface="Calibri"/>
                <a:cs typeface="Calibri"/>
                <a:sym typeface="Calibri"/>
              </a:rPr>
              <a:t> </a:t>
            </a:r>
            <a:r>
              <a:rPr lang="en-US" sz="1300" b="1" i="1" u="none" strike="noStrike" cap="none" dirty="0" err="1">
                <a:solidFill>
                  <a:srgbClr val="1E2761"/>
                </a:solidFill>
                <a:latin typeface="Calibri"/>
                <a:ea typeface="Calibri"/>
                <a:cs typeface="Calibri"/>
                <a:sym typeface="Calibri"/>
              </a:rPr>
              <a:t>informatisé</a:t>
            </a:r>
            <a:r>
              <a:rPr lang="en-US" sz="1300" b="1" i="1" u="none" strike="noStrike" cap="none" dirty="0">
                <a:solidFill>
                  <a:srgbClr val="1E2761"/>
                </a:solidFill>
                <a:latin typeface="Calibri"/>
                <a:ea typeface="Calibri"/>
                <a:cs typeface="Calibri"/>
                <a:sym typeface="Calibri"/>
              </a:rPr>
              <a:t>, </a:t>
            </a:r>
            <a:r>
              <a:rPr lang="en-US" sz="1300" b="1" i="1" u="none" strike="noStrike" cap="none" dirty="0" err="1">
                <a:solidFill>
                  <a:srgbClr val="1E2761"/>
                </a:solidFill>
                <a:latin typeface="Calibri"/>
                <a:ea typeface="Calibri"/>
                <a:cs typeface="Calibri"/>
                <a:sym typeface="Calibri"/>
              </a:rPr>
              <a:t>sécurisé</a:t>
            </a:r>
            <a:r>
              <a:rPr lang="en-US" sz="1300" b="1" i="1" u="none" strike="noStrike" cap="none" dirty="0">
                <a:solidFill>
                  <a:srgbClr val="1E2761"/>
                </a:solidFill>
                <a:latin typeface="Calibri"/>
                <a:ea typeface="Calibri"/>
                <a:cs typeface="Calibri"/>
                <a:sym typeface="Calibri"/>
              </a:rPr>
              <a:t> et </a:t>
            </a:r>
            <a:r>
              <a:rPr lang="en-US" sz="1300" b="1" i="1" u="none" strike="noStrike" cap="none" dirty="0" err="1">
                <a:solidFill>
                  <a:srgbClr val="1E2761"/>
                </a:solidFill>
                <a:latin typeface="Calibri"/>
                <a:ea typeface="Calibri"/>
                <a:cs typeface="Calibri"/>
                <a:sym typeface="Calibri"/>
              </a:rPr>
              <a:t>centralisé</a:t>
            </a:r>
            <a:r>
              <a:rPr lang="en-US" sz="1300" b="1" i="1" u="none" strike="noStrike" cap="none" dirty="0">
                <a:solidFill>
                  <a:srgbClr val="1E2761"/>
                </a:solidFill>
                <a:latin typeface="Calibri"/>
                <a:ea typeface="Calibri"/>
                <a:cs typeface="Calibri"/>
                <a:sym typeface="Calibri"/>
              </a:rPr>
              <a:t> pour </a:t>
            </a:r>
            <a:r>
              <a:rPr lang="en-US" sz="1300" b="1" i="1" u="none" strike="noStrike" cap="none" dirty="0" err="1">
                <a:solidFill>
                  <a:srgbClr val="1E2761"/>
                </a:solidFill>
                <a:latin typeface="Calibri"/>
                <a:ea typeface="Calibri"/>
                <a:cs typeface="Calibri"/>
                <a:sym typeface="Calibri"/>
              </a:rPr>
              <a:t>améliorer</a:t>
            </a:r>
            <a:r>
              <a:rPr lang="en-US" sz="1300" b="1" i="1" u="none" strike="noStrike" cap="none" dirty="0">
                <a:solidFill>
                  <a:srgbClr val="1E2761"/>
                </a:solidFill>
                <a:latin typeface="Calibri"/>
                <a:ea typeface="Calibri"/>
                <a:cs typeface="Calibri"/>
                <a:sym typeface="Calibri"/>
              </a:rPr>
              <a:t> la </a:t>
            </a:r>
            <a:r>
              <a:rPr lang="en-US" sz="1300" b="1" i="1" u="none" strike="noStrike" cap="none" dirty="0" err="1">
                <a:solidFill>
                  <a:srgbClr val="1E2761"/>
                </a:solidFill>
                <a:latin typeface="Calibri"/>
                <a:ea typeface="Calibri"/>
                <a:cs typeface="Calibri"/>
                <a:sym typeface="Calibri"/>
              </a:rPr>
              <a:t>gestion</a:t>
            </a:r>
            <a:r>
              <a:rPr lang="en-US" sz="1300" b="1" i="1" u="none" strike="noStrike" cap="none" dirty="0">
                <a:solidFill>
                  <a:srgbClr val="1E2761"/>
                </a:solidFill>
                <a:latin typeface="Calibri"/>
                <a:ea typeface="Calibri"/>
                <a:cs typeface="Calibri"/>
                <a:sym typeface="Calibri"/>
              </a:rPr>
              <a:t> des </a:t>
            </a:r>
            <a:r>
              <a:rPr lang="en-US" sz="1300" b="1" i="1" u="none" strike="noStrike" cap="none" dirty="0" err="1">
                <a:solidFill>
                  <a:srgbClr val="1E2761"/>
                </a:solidFill>
                <a:latin typeface="Calibri"/>
                <a:ea typeface="Calibri"/>
                <a:cs typeface="Calibri"/>
                <a:sym typeface="Calibri"/>
              </a:rPr>
              <a:t>cartes</a:t>
            </a:r>
            <a:r>
              <a:rPr lang="en-US" sz="1300" b="1" i="1" u="none" strike="noStrike" cap="none" dirty="0">
                <a:solidFill>
                  <a:srgbClr val="1E2761"/>
                </a:solidFill>
                <a:latin typeface="Calibri"/>
                <a:ea typeface="Calibri"/>
                <a:cs typeface="Calibri"/>
                <a:sym typeface="Calibri"/>
              </a:rPr>
              <a:t> </a:t>
            </a:r>
            <a:r>
              <a:rPr lang="en-US" sz="1300" b="1" i="1" u="none" strike="noStrike" cap="none" dirty="0" err="1">
                <a:solidFill>
                  <a:srgbClr val="1E2761"/>
                </a:solidFill>
                <a:latin typeface="Calibri"/>
                <a:ea typeface="Calibri"/>
                <a:cs typeface="Calibri"/>
                <a:sym typeface="Calibri"/>
              </a:rPr>
              <a:t>numériques</a:t>
            </a:r>
            <a:r>
              <a:rPr lang="en-US" sz="1300" b="1" i="1" u="none" strike="noStrike" cap="none" dirty="0">
                <a:solidFill>
                  <a:srgbClr val="1E2761"/>
                </a:solidFill>
                <a:latin typeface="Calibri"/>
                <a:ea typeface="Calibri"/>
                <a:cs typeface="Calibri"/>
                <a:sym typeface="Calibri"/>
              </a:rPr>
              <a:t>.</a:t>
            </a:r>
            <a:endParaRPr sz="1300" b="0" i="0" u="none" strike="noStrike" cap="none" dirty="0">
              <a:solidFill>
                <a:schemeClr val="dk1"/>
              </a:solidFill>
              <a:latin typeface="Calibri"/>
              <a:ea typeface="Calibri"/>
              <a:cs typeface="Calibri"/>
              <a:sym typeface="Calibri"/>
            </a:endParaRPr>
          </a:p>
        </p:txBody>
      </p:sp>
      <p:sp>
        <p:nvSpPr>
          <p:cNvPr id="12" name="Google Shape;38;p4"/>
          <p:cNvSpPr/>
          <p:nvPr/>
        </p:nvSpPr>
        <p:spPr>
          <a:xfrm>
            <a:off x="731520" y="2513520"/>
            <a:ext cx="73152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E2761"/>
              </a:buClr>
              <a:buSzPts val="1600"/>
              <a:buFont typeface="Calibri"/>
              <a:buNone/>
            </a:pPr>
            <a:r>
              <a:rPr lang="en-US" sz="1600" b="1" i="0" u="none" strike="noStrike" cap="none" dirty="0">
                <a:solidFill>
                  <a:srgbClr val="1E2761"/>
                </a:solidFill>
                <a:latin typeface="Calibri"/>
                <a:ea typeface="Calibri"/>
                <a:cs typeface="Calibri"/>
                <a:sym typeface="Calibri"/>
              </a:rPr>
              <a:t>Plus value</a:t>
            </a:r>
            <a:endParaRPr sz="1600" b="0" i="0" u="none" strike="noStrike" cap="none" dirty="0">
              <a:solidFill>
                <a:schemeClr val="dk1"/>
              </a:solidFill>
              <a:latin typeface="Calibri"/>
              <a:ea typeface="Calibri"/>
              <a:cs typeface="Calibri"/>
              <a:sym typeface="Calibri"/>
            </a:endParaRPr>
          </a:p>
        </p:txBody>
      </p:sp>
      <p:sp>
        <p:nvSpPr>
          <p:cNvPr id="13" name="Google Shape;39;p4"/>
          <p:cNvSpPr/>
          <p:nvPr/>
        </p:nvSpPr>
        <p:spPr>
          <a:xfrm>
            <a:off x="731520" y="2880360"/>
            <a:ext cx="7680960" cy="685800"/>
          </a:xfrm>
          <a:prstGeom prst="rect">
            <a:avLst/>
          </a:prstGeom>
          <a:noFill/>
          <a:ln>
            <a:noFill/>
          </a:ln>
        </p:spPr>
        <p:txBody>
          <a:bodyPr spcFirstLastPara="1" wrap="square" lIns="91425" tIns="45700" rIns="91425" bIns="45700" anchor="ctr" anchorCtr="0">
            <a:noAutofit/>
          </a:bodyPr>
          <a:lstStyle/>
          <a:p>
            <a:pPr marL="342900" marR="0" lvl="0" indent="-342900" algn="l" rtl="0">
              <a:lnSpc>
                <a:spcPct val="150000"/>
              </a:lnSpc>
              <a:spcBef>
                <a:spcPts val="0"/>
              </a:spcBef>
              <a:spcAft>
                <a:spcPts val="0"/>
              </a:spcAft>
              <a:buClr>
                <a:srgbClr val="1A1A2E"/>
              </a:buClr>
              <a:buSzPts val="1300"/>
              <a:buFont typeface="Calibri"/>
              <a:buChar char="•"/>
            </a:pPr>
            <a:r>
              <a:rPr lang="fr-FR" sz="1300" b="0" i="0" u="none" strike="noStrike" cap="none" dirty="0">
                <a:solidFill>
                  <a:srgbClr val="1A1A2E"/>
                </a:solidFill>
                <a:latin typeface="Calibri"/>
                <a:ea typeface="Calibri"/>
                <a:cs typeface="Calibri"/>
                <a:sym typeface="Calibri"/>
              </a:rPr>
              <a:t>Disparition des doublons identitaires</a:t>
            </a:r>
          </a:p>
          <a:p>
            <a:pPr marL="342900" marR="0" lvl="0" indent="-342900" algn="l" rtl="0">
              <a:lnSpc>
                <a:spcPct val="150000"/>
              </a:lnSpc>
              <a:spcBef>
                <a:spcPts val="0"/>
              </a:spcBef>
              <a:spcAft>
                <a:spcPts val="0"/>
              </a:spcAft>
              <a:buClr>
                <a:srgbClr val="1A1A2E"/>
              </a:buClr>
              <a:buSzPts val="1300"/>
              <a:buFont typeface="Calibri"/>
              <a:buChar char="•"/>
            </a:pPr>
            <a:r>
              <a:rPr lang="fr-FR" sz="1300" dirty="0">
                <a:solidFill>
                  <a:srgbClr val="1A1A2E"/>
                </a:solidFill>
                <a:latin typeface="Calibri"/>
                <a:ea typeface="Calibri"/>
                <a:cs typeface="Calibri"/>
                <a:sym typeface="Calibri"/>
              </a:rPr>
              <a:t>Gain du temps</a:t>
            </a:r>
          </a:p>
          <a:p>
            <a:pPr marL="342900" marR="0" lvl="0" indent="-342900" algn="l" rtl="0">
              <a:lnSpc>
                <a:spcPct val="150000"/>
              </a:lnSpc>
              <a:spcBef>
                <a:spcPts val="0"/>
              </a:spcBef>
              <a:spcAft>
                <a:spcPts val="0"/>
              </a:spcAft>
              <a:buClr>
                <a:srgbClr val="1A1A2E"/>
              </a:buClr>
              <a:buSzPts val="1300"/>
              <a:buFont typeface="Calibri"/>
              <a:buChar char="•"/>
            </a:pPr>
            <a:r>
              <a:rPr lang="fr-FR" sz="1300" b="0" i="0" u="none" strike="noStrike" cap="none" dirty="0">
                <a:solidFill>
                  <a:srgbClr val="1A1A2E"/>
                </a:solidFill>
                <a:latin typeface="Calibri"/>
                <a:ea typeface="Calibri"/>
                <a:cs typeface="Calibri"/>
                <a:sym typeface="Calibri"/>
              </a:rPr>
              <a:t>Important dans les zones d’opération</a:t>
            </a:r>
            <a:endParaRPr sz="1300" b="0" i="0" u="none" strike="noStrike" cap="none" dirty="0">
              <a:solidFill>
                <a:schemeClr val="dk1"/>
              </a:solidFill>
              <a:latin typeface="Calibri"/>
              <a:ea typeface="Calibri"/>
              <a:cs typeface="Calibri"/>
              <a:sym typeface="Calibri"/>
            </a:endParaRPr>
          </a:p>
        </p:txBody>
      </p:sp>
      <p:pic>
        <p:nvPicPr>
          <p:cNvPr id="14" name="Image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69820" y="183960"/>
            <a:ext cx="640080" cy="64008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nvGrpSpPr>
          <p:cNvPr id="15" name="Group 32"/>
          <p:cNvGrpSpPr/>
          <p:nvPr/>
        </p:nvGrpSpPr>
        <p:grpSpPr>
          <a:xfrm>
            <a:off x="175260" y="86033"/>
            <a:ext cx="9022080" cy="778837"/>
            <a:chOff x="330" y="182"/>
            <a:chExt cx="18543" cy="1604"/>
          </a:xfrm>
        </p:grpSpPr>
        <p:sp>
          <p:nvSpPr>
            <p:cNvPr id="16" name="Freeform 3"/>
            <p:cNvSpPr/>
            <p:nvPr/>
          </p:nvSpPr>
          <p:spPr>
            <a:xfrm>
              <a:off x="330" y="182"/>
              <a:ext cx="1640" cy="1604"/>
            </a:xfrm>
            <a:custGeom>
              <a:avLst/>
              <a:gdLst/>
              <a:ahLst/>
              <a:cxnLst/>
              <a:rect l="l" t="t" r="r" b="b"/>
              <a:pathLst>
                <a:path w="6263628" h="7097595">
                  <a:moveTo>
                    <a:pt x="0" y="0"/>
                  </a:moveTo>
                  <a:lnTo>
                    <a:pt x="6263628" y="0"/>
                  </a:lnTo>
                  <a:lnTo>
                    <a:pt x="6263628" y="7097595"/>
                  </a:lnTo>
                  <a:lnTo>
                    <a:pt x="0" y="7097595"/>
                  </a:lnTo>
                  <a:lnTo>
                    <a:pt x="0" y="0"/>
                  </a:lnTo>
                  <a:close/>
                </a:path>
              </a:pathLst>
            </a:custGeom>
            <a:blipFill>
              <a:blip r:embed="rId4"/>
              <a:stretch>
                <a:fillRect/>
              </a:stretch>
            </a:blipFill>
          </p:spPr>
        </p:sp>
        <p:pic>
          <p:nvPicPr>
            <p:cNvPr id="17" name="Picture 3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953" y="182"/>
              <a:ext cx="1920" cy="1604"/>
            </a:xfrm>
            <a:prstGeom prst="rect">
              <a:avLst/>
            </a:prstGeom>
          </p:spPr>
        </p:pic>
      </p:grpSp>
    </p:spTree>
    <p:extLst>
      <p:ext uri="{BB962C8B-B14F-4D97-AF65-F5344CB8AC3E}">
        <p14:creationId xmlns:p14="http://schemas.microsoft.com/office/powerpoint/2010/main" val="18729438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1"/>
        <p:cNvGrpSpPr/>
        <p:nvPr/>
      </p:nvGrpSpPr>
      <p:grpSpPr>
        <a:xfrm>
          <a:off x="0" y="0"/>
          <a:ext cx="0" cy="0"/>
          <a:chOff x="0" y="0"/>
          <a:chExt cx="0" cy="0"/>
        </a:xfrm>
      </p:grpSpPr>
      <p:sp>
        <p:nvSpPr>
          <p:cNvPr id="32" name="Google Shape;32;p4"/>
          <p:cNvSpPr/>
          <p:nvPr/>
        </p:nvSpPr>
        <p:spPr>
          <a:xfrm>
            <a:off x="0" y="0"/>
            <a:ext cx="9144000" cy="914400"/>
          </a:xfrm>
          <a:prstGeom prst="rect">
            <a:avLst/>
          </a:prstGeom>
          <a:solidFill>
            <a:srgbClr val="1384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4"/>
          <p:cNvSpPr/>
          <p:nvPr/>
        </p:nvSpPr>
        <p:spPr>
          <a:xfrm>
            <a:off x="457200" y="137160"/>
            <a:ext cx="8229600" cy="6400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2200"/>
              <a:buFont typeface="Calibri"/>
              <a:buNone/>
            </a:pPr>
            <a:r>
              <a:rPr lang="en-US" sz="2200" b="1" i="0" u="none" strike="noStrike" cap="none" dirty="0">
                <a:solidFill>
                  <a:srgbClr val="FFFFFF"/>
                </a:solidFill>
                <a:latin typeface="Calibri"/>
                <a:ea typeface="Calibri"/>
                <a:cs typeface="Calibri"/>
                <a:sym typeface="Calibri"/>
              </a:rPr>
              <a:t>MECANISME DE FONCTIONNEMENT GENERAL DE CIMIS</a:t>
            </a:r>
            <a:endParaRPr sz="2200" b="0" i="0" u="none" strike="noStrike" cap="none" dirty="0">
              <a:solidFill>
                <a:schemeClr val="dk1"/>
              </a:solidFill>
              <a:latin typeface="Calibri"/>
              <a:ea typeface="Calibri"/>
              <a:cs typeface="Calibri"/>
              <a:sym typeface="Calibri"/>
            </a:endParaRPr>
          </a:p>
        </p:txBody>
      </p:sp>
      <p:sp>
        <p:nvSpPr>
          <p:cNvPr id="34" name="Google Shape;34;p4"/>
          <p:cNvSpPr/>
          <p:nvPr/>
        </p:nvSpPr>
        <p:spPr>
          <a:xfrm>
            <a:off x="0" y="4800600"/>
            <a:ext cx="9144000" cy="480060"/>
          </a:xfrm>
          <a:prstGeom prst="rect">
            <a:avLst/>
          </a:prstGeom>
          <a:solidFill>
            <a:srgbClr val="1384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4"/>
          <p:cNvSpPr/>
          <p:nvPr/>
        </p:nvSpPr>
        <p:spPr>
          <a:xfrm>
            <a:off x="457200" y="4709160"/>
            <a:ext cx="640080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ADCFC"/>
              </a:buClr>
              <a:buSzPts val="900"/>
              <a:buFont typeface="Calibri"/>
              <a:buNone/>
            </a:pPr>
            <a:r>
              <a:rPr lang="en-US" sz="900" b="0" i="0" u="none" strike="noStrike" cap="none">
                <a:solidFill>
                  <a:srgbClr val="CADCFC"/>
                </a:solidFill>
                <a:latin typeface="Calibri"/>
                <a:ea typeface="Calibri"/>
                <a:cs typeface="Calibri"/>
                <a:sym typeface="Calibri"/>
              </a:rPr>
              <a:t>MINDEF - Direction des Ressources Humaines</a:t>
            </a:r>
            <a:endParaRPr sz="900" b="0" i="0" u="none" strike="noStrike" cap="none">
              <a:solidFill>
                <a:schemeClr val="dk1"/>
              </a:solidFill>
              <a:latin typeface="Calibri"/>
              <a:ea typeface="Calibri"/>
              <a:cs typeface="Calibri"/>
              <a:sym typeface="Calibri"/>
            </a:endParaRPr>
          </a:p>
        </p:txBody>
      </p:sp>
      <p:sp>
        <p:nvSpPr>
          <p:cNvPr id="36" name="Google Shape;36;p4"/>
          <p:cNvSpPr/>
          <p:nvPr/>
        </p:nvSpPr>
        <p:spPr>
          <a:xfrm>
            <a:off x="7772400" y="4709160"/>
            <a:ext cx="914400" cy="365760"/>
          </a:xfrm>
          <a:prstGeom prst="rect">
            <a:avLst/>
          </a:prstGeom>
          <a:noFill/>
          <a:ln>
            <a:noFill/>
          </a:ln>
        </p:spPr>
        <p:txBody>
          <a:bodyPr spcFirstLastPara="1" wrap="square" lIns="91425" tIns="45700" rIns="91425" bIns="45700" anchor="ctr" anchorCtr="0">
            <a:noAutofit/>
          </a:bodyPr>
          <a:lstStyle/>
          <a:p>
            <a:pPr lvl="0" algn="r">
              <a:buClr>
                <a:srgbClr val="CADCFC"/>
              </a:buClr>
              <a:buSzPts val="900"/>
            </a:pPr>
            <a:r>
              <a:rPr lang="en-US" sz="900" dirty="0">
                <a:solidFill>
                  <a:srgbClr val="CADCFC"/>
                </a:solidFill>
                <a:latin typeface="Calibri"/>
                <a:ea typeface="Calibri"/>
                <a:cs typeface="Calibri"/>
                <a:sym typeface="Calibri"/>
              </a:rPr>
              <a:t>4</a:t>
            </a:r>
            <a:r>
              <a:rPr lang="en-US" sz="900" b="0" i="0" u="none" strike="noStrike" cap="none" dirty="0">
                <a:solidFill>
                  <a:srgbClr val="CADCFC"/>
                </a:solidFill>
                <a:latin typeface="Calibri"/>
                <a:ea typeface="Calibri"/>
                <a:cs typeface="Calibri"/>
                <a:sym typeface="Calibri"/>
              </a:rPr>
              <a:t> / </a:t>
            </a:r>
            <a:r>
              <a:rPr lang="en-US" sz="900" dirty="0">
                <a:solidFill>
                  <a:srgbClr val="CADCFC"/>
                </a:solidFill>
                <a:latin typeface="Calibri"/>
                <a:ea typeface="Calibri"/>
                <a:cs typeface="Calibri"/>
                <a:sym typeface="Calibri"/>
              </a:rPr>
              <a:t>27</a:t>
            </a:r>
            <a:endParaRPr lang="en-US" sz="900" dirty="0">
              <a:solidFill>
                <a:schemeClr val="dk1"/>
              </a:solidFill>
              <a:latin typeface="Calibri"/>
              <a:ea typeface="Calibri"/>
              <a:cs typeface="Calibri"/>
              <a:sym typeface="Calibri"/>
            </a:endParaRPr>
          </a:p>
        </p:txBody>
      </p:sp>
      <p:sp>
        <p:nvSpPr>
          <p:cNvPr id="37" name="Google Shape;37;p4"/>
          <p:cNvSpPr/>
          <p:nvPr/>
        </p:nvSpPr>
        <p:spPr>
          <a:xfrm>
            <a:off x="457200" y="1188720"/>
            <a:ext cx="8229600" cy="3200400"/>
          </a:xfrm>
          <a:prstGeom prst="rect">
            <a:avLst/>
          </a:prstGeom>
          <a:solidFill>
            <a:srgbClr val="F0F4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4"/>
          <p:cNvSpPr/>
          <p:nvPr/>
        </p:nvSpPr>
        <p:spPr>
          <a:xfrm>
            <a:off x="731520" y="3383280"/>
            <a:ext cx="7772400" cy="731520"/>
          </a:xfrm>
          <a:prstGeom prst="rect">
            <a:avLst/>
          </a:prstGeom>
          <a:noFill/>
          <a:ln>
            <a:noFill/>
          </a:ln>
        </p:spPr>
        <p:txBody>
          <a:bodyPr spcFirstLastPara="1" wrap="square" lIns="91425" tIns="45700" rIns="91425" bIns="45700" anchor="ctr" anchorCtr="0">
            <a:noAutofit/>
          </a:bodyPr>
          <a:lstStyle/>
          <a:p>
            <a:pPr marL="0" marR="0" lvl="0" indent="0" algn="just" rtl="0">
              <a:spcBef>
                <a:spcPts val="0"/>
              </a:spcBef>
              <a:spcAft>
                <a:spcPts val="0"/>
              </a:spcAft>
              <a:buClr>
                <a:srgbClr val="1E2761"/>
              </a:buClr>
              <a:buSzPts val="1300"/>
              <a:buFont typeface="Calibri"/>
              <a:buNone/>
            </a:pPr>
            <a:endParaRPr sz="1300" b="0" i="0" u="none" strike="noStrike" cap="none" dirty="0">
              <a:solidFill>
                <a:schemeClr val="dk1"/>
              </a:solidFill>
              <a:latin typeface="Calibri"/>
              <a:ea typeface="Calibri"/>
              <a:cs typeface="Calibri"/>
              <a:sym typeface="Calibri"/>
            </a:endParaRPr>
          </a:p>
        </p:txBody>
      </p:sp>
      <p:grpSp>
        <p:nvGrpSpPr>
          <p:cNvPr id="12" name="Group 32"/>
          <p:cNvGrpSpPr/>
          <p:nvPr/>
        </p:nvGrpSpPr>
        <p:grpSpPr>
          <a:xfrm>
            <a:off x="175260" y="86033"/>
            <a:ext cx="9022080" cy="778837"/>
            <a:chOff x="330" y="182"/>
            <a:chExt cx="18543" cy="1604"/>
          </a:xfrm>
        </p:grpSpPr>
        <p:sp>
          <p:nvSpPr>
            <p:cNvPr id="13" name="Freeform 3"/>
            <p:cNvSpPr/>
            <p:nvPr/>
          </p:nvSpPr>
          <p:spPr>
            <a:xfrm>
              <a:off x="330" y="182"/>
              <a:ext cx="1640" cy="1604"/>
            </a:xfrm>
            <a:custGeom>
              <a:avLst/>
              <a:gdLst/>
              <a:ahLst/>
              <a:cxnLst/>
              <a:rect l="l" t="t" r="r" b="b"/>
              <a:pathLst>
                <a:path w="6263628" h="7097595">
                  <a:moveTo>
                    <a:pt x="0" y="0"/>
                  </a:moveTo>
                  <a:lnTo>
                    <a:pt x="6263628" y="0"/>
                  </a:lnTo>
                  <a:lnTo>
                    <a:pt x="6263628" y="7097595"/>
                  </a:lnTo>
                  <a:lnTo>
                    <a:pt x="0" y="7097595"/>
                  </a:lnTo>
                  <a:lnTo>
                    <a:pt x="0" y="0"/>
                  </a:lnTo>
                  <a:close/>
                </a:path>
              </a:pathLst>
            </a:custGeom>
            <a:blipFill>
              <a:blip r:embed="rId3"/>
              <a:stretch>
                <a:fillRect/>
              </a:stretch>
            </a:blipFill>
          </p:spPr>
        </p:sp>
        <p:pic>
          <p:nvPicPr>
            <p:cNvPr id="15" name="Picture 3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953" y="182"/>
              <a:ext cx="1920" cy="1604"/>
            </a:xfrm>
            <a:prstGeom prst="rect">
              <a:avLst/>
            </a:prstGeom>
          </p:spPr>
        </p:pic>
      </p:grpSp>
      <p:graphicFrame>
        <p:nvGraphicFramePr>
          <p:cNvPr id="16" name="Diagramme 15"/>
          <p:cNvGraphicFramePr/>
          <p:nvPr>
            <p:extLst>
              <p:ext uri="{D42A27DB-BD31-4B8C-83A1-F6EECF244321}">
                <p14:modId xmlns:p14="http://schemas.microsoft.com/office/powerpoint/2010/main" val="1141173907"/>
              </p:ext>
            </p:extLst>
          </p:nvPr>
        </p:nvGraphicFramePr>
        <p:xfrm>
          <a:off x="552240" y="777240"/>
          <a:ext cx="7955280" cy="402552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9905085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1"/>
        <p:cNvGrpSpPr/>
        <p:nvPr/>
      </p:nvGrpSpPr>
      <p:grpSpPr>
        <a:xfrm>
          <a:off x="0" y="0"/>
          <a:ext cx="0" cy="0"/>
          <a:chOff x="0" y="0"/>
          <a:chExt cx="0" cy="0"/>
        </a:xfrm>
      </p:grpSpPr>
      <p:sp>
        <p:nvSpPr>
          <p:cNvPr id="32" name="Google Shape;32;p4"/>
          <p:cNvSpPr/>
          <p:nvPr/>
        </p:nvSpPr>
        <p:spPr>
          <a:xfrm>
            <a:off x="0" y="0"/>
            <a:ext cx="9144000" cy="914400"/>
          </a:xfrm>
          <a:prstGeom prst="rect">
            <a:avLst/>
          </a:prstGeom>
          <a:solidFill>
            <a:srgbClr val="C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4"/>
          <p:cNvSpPr/>
          <p:nvPr/>
        </p:nvSpPr>
        <p:spPr>
          <a:xfrm>
            <a:off x="457200" y="137160"/>
            <a:ext cx="8229600" cy="6400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2200"/>
              <a:buFont typeface="Calibri"/>
              <a:buNone/>
            </a:pPr>
            <a:r>
              <a:rPr lang="en-US" sz="2200" b="1" i="0" u="none" strike="noStrike" cap="none" dirty="0">
                <a:solidFill>
                  <a:srgbClr val="FFFFFF"/>
                </a:solidFill>
                <a:latin typeface="Calibri"/>
                <a:ea typeface="Calibri"/>
                <a:cs typeface="Calibri"/>
                <a:sym typeface="Calibri"/>
              </a:rPr>
              <a:t>En entrée (Double </a:t>
            </a:r>
            <a:r>
              <a:rPr lang="en-US" sz="2200" b="1" i="0" u="none" strike="noStrike" cap="none" dirty="0" err="1">
                <a:solidFill>
                  <a:srgbClr val="FFFFFF"/>
                </a:solidFill>
                <a:latin typeface="Calibri"/>
                <a:ea typeface="Calibri"/>
                <a:cs typeface="Calibri"/>
                <a:sym typeface="Calibri"/>
              </a:rPr>
              <a:t>authentification</a:t>
            </a:r>
            <a:r>
              <a:rPr lang="en-US" sz="2200" b="1" i="0" u="none" strike="noStrike" cap="none" dirty="0">
                <a:solidFill>
                  <a:srgbClr val="FFFFFF"/>
                </a:solidFill>
                <a:latin typeface="Calibri"/>
                <a:ea typeface="Calibri"/>
                <a:cs typeface="Calibri"/>
                <a:sym typeface="Calibri"/>
              </a:rPr>
              <a:t>)</a:t>
            </a:r>
            <a:endParaRPr sz="2200" b="0" i="0" u="none" strike="noStrike" cap="none" dirty="0">
              <a:solidFill>
                <a:schemeClr val="dk1"/>
              </a:solidFill>
              <a:latin typeface="Calibri"/>
              <a:ea typeface="Calibri"/>
              <a:cs typeface="Calibri"/>
              <a:sym typeface="Calibri"/>
            </a:endParaRPr>
          </a:p>
        </p:txBody>
      </p:sp>
      <p:sp>
        <p:nvSpPr>
          <p:cNvPr id="34" name="Google Shape;34;p4"/>
          <p:cNvSpPr/>
          <p:nvPr/>
        </p:nvSpPr>
        <p:spPr>
          <a:xfrm>
            <a:off x="0" y="4663440"/>
            <a:ext cx="9144000" cy="480060"/>
          </a:xfrm>
          <a:prstGeom prst="rect">
            <a:avLst/>
          </a:prstGeom>
          <a:solidFill>
            <a:srgbClr val="C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4"/>
          <p:cNvSpPr/>
          <p:nvPr/>
        </p:nvSpPr>
        <p:spPr>
          <a:xfrm>
            <a:off x="457200" y="4709160"/>
            <a:ext cx="640080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ADCFC"/>
              </a:buClr>
              <a:buSzPts val="900"/>
              <a:buFont typeface="Calibri"/>
              <a:buNone/>
            </a:pPr>
            <a:r>
              <a:rPr lang="en-US" sz="900" b="0" i="0" u="none" strike="noStrike" cap="none">
                <a:solidFill>
                  <a:srgbClr val="CADCFC"/>
                </a:solidFill>
                <a:latin typeface="Calibri"/>
                <a:ea typeface="Calibri"/>
                <a:cs typeface="Calibri"/>
                <a:sym typeface="Calibri"/>
              </a:rPr>
              <a:t>MINDEF - Direction des Ressources Humaines</a:t>
            </a:r>
            <a:endParaRPr sz="900" b="0" i="0" u="none" strike="noStrike" cap="none">
              <a:solidFill>
                <a:schemeClr val="dk1"/>
              </a:solidFill>
              <a:latin typeface="Calibri"/>
              <a:ea typeface="Calibri"/>
              <a:cs typeface="Calibri"/>
              <a:sym typeface="Calibri"/>
            </a:endParaRPr>
          </a:p>
        </p:txBody>
      </p:sp>
      <p:sp>
        <p:nvSpPr>
          <p:cNvPr id="36" name="Google Shape;36;p4"/>
          <p:cNvSpPr/>
          <p:nvPr/>
        </p:nvSpPr>
        <p:spPr>
          <a:xfrm>
            <a:off x="7772400" y="4709160"/>
            <a:ext cx="914400" cy="365760"/>
          </a:xfrm>
          <a:prstGeom prst="rect">
            <a:avLst/>
          </a:prstGeom>
          <a:noFill/>
          <a:ln>
            <a:noFill/>
          </a:ln>
        </p:spPr>
        <p:txBody>
          <a:bodyPr spcFirstLastPara="1" wrap="square" lIns="91425" tIns="45700" rIns="91425" bIns="45700" anchor="ctr" anchorCtr="0">
            <a:noAutofit/>
          </a:bodyPr>
          <a:lstStyle/>
          <a:p>
            <a:pPr lvl="0" algn="r">
              <a:buClr>
                <a:srgbClr val="CADCFC"/>
              </a:buClr>
              <a:buSzPts val="900"/>
            </a:pPr>
            <a:r>
              <a:rPr lang="en-US" sz="900" dirty="0">
                <a:solidFill>
                  <a:srgbClr val="CADCFC"/>
                </a:solidFill>
                <a:latin typeface="Calibri"/>
                <a:ea typeface="Calibri"/>
                <a:cs typeface="Calibri"/>
                <a:sym typeface="Calibri"/>
              </a:rPr>
              <a:t>5</a:t>
            </a:r>
            <a:r>
              <a:rPr lang="en-US" sz="900" b="0" i="0" u="none" strike="noStrike" cap="none" dirty="0">
                <a:solidFill>
                  <a:srgbClr val="CADCFC"/>
                </a:solidFill>
                <a:latin typeface="Calibri"/>
                <a:ea typeface="Calibri"/>
                <a:cs typeface="Calibri"/>
                <a:sym typeface="Calibri"/>
              </a:rPr>
              <a:t> / </a:t>
            </a:r>
            <a:r>
              <a:rPr lang="en-US" sz="900" dirty="0">
                <a:solidFill>
                  <a:srgbClr val="CADCFC"/>
                </a:solidFill>
                <a:latin typeface="Calibri"/>
                <a:ea typeface="Calibri"/>
                <a:cs typeface="Calibri"/>
                <a:sym typeface="Calibri"/>
              </a:rPr>
              <a:t>27</a:t>
            </a:r>
            <a:endParaRPr lang="en-US" sz="900" dirty="0">
              <a:solidFill>
                <a:schemeClr val="dk1"/>
              </a:solidFill>
              <a:latin typeface="Calibri"/>
              <a:ea typeface="Calibri"/>
              <a:cs typeface="Calibri"/>
              <a:sym typeface="Calibri"/>
            </a:endParaRPr>
          </a:p>
        </p:txBody>
      </p:sp>
      <p:sp>
        <p:nvSpPr>
          <p:cNvPr id="37" name="Google Shape;37;p4"/>
          <p:cNvSpPr/>
          <p:nvPr/>
        </p:nvSpPr>
        <p:spPr>
          <a:xfrm>
            <a:off x="457200" y="1188720"/>
            <a:ext cx="8229600" cy="3200400"/>
          </a:xfrm>
          <a:prstGeom prst="rect">
            <a:avLst/>
          </a:prstGeom>
          <a:solidFill>
            <a:srgbClr val="F0F4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4"/>
          <p:cNvSpPr/>
          <p:nvPr/>
        </p:nvSpPr>
        <p:spPr>
          <a:xfrm>
            <a:off x="429768" y="3657600"/>
            <a:ext cx="54864" cy="731520"/>
          </a:xfrm>
          <a:prstGeom prst="rect">
            <a:avLst/>
          </a:prstGeom>
          <a:solidFill>
            <a:srgbClr val="3A8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4"/>
          <p:cNvSpPr/>
          <p:nvPr/>
        </p:nvSpPr>
        <p:spPr>
          <a:xfrm>
            <a:off x="713232" y="3657600"/>
            <a:ext cx="7772400" cy="731520"/>
          </a:xfrm>
          <a:prstGeom prst="rect">
            <a:avLst/>
          </a:prstGeom>
          <a:noFill/>
          <a:ln>
            <a:noFill/>
          </a:ln>
        </p:spPr>
        <p:txBody>
          <a:bodyPr spcFirstLastPara="1" wrap="square" lIns="91425" tIns="45700" rIns="91425" bIns="45700" anchor="ctr" anchorCtr="0">
            <a:noAutofit/>
          </a:bodyPr>
          <a:lstStyle/>
          <a:p>
            <a:pPr marL="0" marR="0" lvl="0" indent="0" algn="just" rtl="0">
              <a:spcBef>
                <a:spcPts val="0"/>
              </a:spcBef>
              <a:spcAft>
                <a:spcPts val="0"/>
              </a:spcAft>
              <a:buClr>
                <a:srgbClr val="1E2761"/>
              </a:buClr>
              <a:buSzPts val="1300"/>
              <a:buFont typeface="Calibri"/>
              <a:buNone/>
            </a:pPr>
            <a:r>
              <a:rPr lang="en-US" sz="1300" b="1" i="1" u="none" strike="noStrike" cap="none" dirty="0" err="1">
                <a:solidFill>
                  <a:srgbClr val="1E2761"/>
                </a:solidFill>
                <a:latin typeface="Calibri"/>
                <a:ea typeface="Calibri"/>
                <a:cs typeface="Calibri"/>
                <a:sym typeface="Calibri"/>
              </a:rPr>
              <a:t>Ce</a:t>
            </a:r>
            <a:r>
              <a:rPr lang="en-US" sz="1300" b="1" i="1" u="none" strike="noStrike" cap="none" dirty="0">
                <a:solidFill>
                  <a:srgbClr val="1E2761"/>
                </a:solidFill>
                <a:latin typeface="Calibri"/>
                <a:ea typeface="Calibri"/>
                <a:cs typeface="Calibri"/>
                <a:sym typeface="Calibri"/>
              </a:rPr>
              <a:t> </a:t>
            </a:r>
            <a:r>
              <a:rPr lang="en-US" sz="1300" b="1" i="1" u="none" strike="noStrike" cap="none" dirty="0" err="1">
                <a:solidFill>
                  <a:srgbClr val="1E2761"/>
                </a:solidFill>
                <a:latin typeface="Calibri"/>
                <a:ea typeface="Calibri"/>
                <a:cs typeface="Calibri"/>
                <a:sym typeface="Calibri"/>
              </a:rPr>
              <a:t>portail</a:t>
            </a:r>
            <a:r>
              <a:rPr lang="en-US" sz="1300" b="1" i="1" u="none" strike="noStrike" cap="none" dirty="0">
                <a:solidFill>
                  <a:srgbClr val="1E2761"/>
                </a:solidFill>
                <a:latin typeface="Calibri"/>
                <a:ea typeface="Calibri"/>
                <a:cs typeface="Calibri"/>
                <a:sym typeface="Calibri"/>
              </a:rPr>
              <a:t> </a:t>
            </a:r>
            <a:r>
              <a:rPr lang="en-US" sz="1300" b="1" i="1" u="none" strike="noStrike" cap="none" dirty="0" err="1">
                <a:solidFill>
                  <a:srgbClr val="1E2761"/>
                </a:solidFill>
                <a:latin typeface="Calibri"/>
                <a:ea typeface="Calibri"/>
                <a:cs typeface="Calibri"/>
                <a:sym typeface="Calibri"/>
              </a:rPr>
              <a:t>sécurisé</a:t>
            </a:r>
            <a:r>
              <a:rPr lang="en-US" sz="1300" b="1" i="1" u="none" strike="noStrike" cap="none" dirty="0">
                <a:solidFill>
                  <a:srgbClr val="1E2761"/>
                </a:solidFill>
                <a:latin typeface="Calibri"/>
                <a:ea typeface="Calibri"/>
                <a:cs typeface="Calibri"/>
                <a:sym typeface="Calibri"/>
              </a:rPr>
              <a:t> fait </a:t>
            </a:r>
            <a:r>
              <a:rPr lang="en-US" sz="1300" b="1" i="1" u="none" strike="noStrike" cap="none" dirty="0" err="1">
                <a:solidFill>
                  <a:srgbClr val="1E2761"/>
                </a:solidFill>
                <a:latin typeface="Calibri"/>
                <a:ea typeface="Calibri"/>
                <a:cs typeface="Calibri"/>
                <a:sym typeface="Calibri"/>
              </a:rPr>
              <a:t>partie</a:t>
            </a:r>
            <a:r>
              <a:rPr lang="en-US" sz="1300" b="1" i="1" u="none" strike="noStrike" cap="none" dirty="0">
                <a:solidFill>
                  <a:srgbClr val="1E2761"/>
                </a:solidFill>
                <a:latin typeface="Calibri"/>
                <a:ea typeface="Calibri"/>
                <a:cs typeface="Calibri"/>
                <a:sym typeface="Calibri"/>
              </a:rPr>
              <a:t> </a:t>
            </a:r>
            <a:r>
              <a:rPr lang="en-US" sz="1300" b="1" i="1" u="none" strike="noStrike" cap="none" dirty="0" err="1">
                <a:solidFill>
                  <a:srgbClr val="1E2761"/>
                </a:solidFill>
                <a:latin typeface="Calibri"/>
                <a:ea typeface="Calibri"/>
                <a:cs typeface="Calibri"/>
                <a:sym typeface="Calibri"/>
              </a:rPr>
              <a:t>intégrante</a:t>
            </a:r>
            <a:r>
              <a:rPr lang="en-US" sz="1300" b="1" i="1" u="none" strike="noStrike" cap="none" dirty="0">
                <a:solidFill>
                  <a:srgbClr val="1E2761"/>
                </a:solidFill>
                <a:latin typeface="Calibri"/>
                <a:ea typeface="Calibri"/>
                <a:cs typeface="Calibri"/>
                <a:sym typeface="Calibri"/>
              </a:rPr>
              <a:t> des </a:t>
            </a:r>
            <a:r>
              <a:rPr lang="en-US" sz="1300" b="1" i="1" u="none" strike="noStrike" cap="none" dirty="0" err="1">
                <a:solidFill>
                  <a:srgbClr val="1E2761"/>
                </a:solidFill>
                <a:latin typeface="Calibri"/>
                <a:ea typeface="Calibri"/>
                <a:cs typeface="Calibri"/>
                <a:sym typeface="Calibri"/>
              </a:rPr>
              <a:t>principes</a:t>
            </a:r>
            <a:r>
              <a:rPr lang="en-US" sz="1300" b="1" i="1" u="none" strike="noStrike" cap="none" dirty="0">
                <a:solidFill>
                  <a:srgbClr val="1E2761"/>
                </a:solidFill>
                <a:latin typeface="Calibri"/>
                <a:ea typeface="Calibri"/>
                <a:cs typeface="Calibri"/>
                <a:sym typeface="Calibri"/>
              </a:rPr>
              <a:t> de </a:t>
            </a:r>
            <a:r>
              <a:rPr lang="en-US" sz="1300" b="1" i="1" u="none" strike="noStrike" cap="none" dirty="0" err="1">
                <a:solidFill>
                  <a:srgbClr val="1E2761"/>
                </a:solidFill>
                <a:latin typeface="Calibri"/>
                <a:ea typeface="Calibri"/>
                <a:cs typeface="Calibri"/>
                <a:sym typeface="Calibri"/>
              </a:rPr>
              <a:t>sécurité</a:t>
            </a:r>
            <a:r>
              <a:rPr lang="en-US" sz="1300" b="1" i="1" u="none" strike="noStrike" cap="none" dirty="0">
                <a:solidFill>
                  <a:srgbClr val="1E2761"/>
                </a:solidFill>
                <a:latin typeface="Calibri"/>
                <a:ea typeface="Calibri"/>
                <a:cs typeface="Calibri"/>
                <a:sym typeface="Calibri"/>
              </a:rPr>
              <a:t> </a:t>
            </a:r>
            <a:r>
              <a:rPr lang="en-US" sz="1300" b="1" i="1" u="none" strike="noStrike" cap="none" dirty="0" err="1">
                <a:solidFill>
                  <a:srgbClr val="1E2761"/>
                </a:solidFill>
                <a:latin typeface="Calibri"/>
                <a:ea typeface="Calibri"/>
                <a:cs typeface="Calibri"/>
                <a:sym typeface="Calibri"/>
              </a:rPr>
              <a:t>établis</a:t>
            </a:r>
            <a:r>
              <a:rPr lang="en-US" sz="1300" b="1" i="1" u="none" strike="noStrike" cap="none" dirty="0">
                <a:solidFill>
                  <a:srgbClr val="1E2761"/>
                </a:solidFill>
                <a:latin typeface="Calibri"/>
                <a:ea typeface="Calibri"/>
                <a:cs typeface="Calibri"/>
                <a:sym typeface="Calibri"/>
              </a:rPr>
              <a:t> </a:t>
            </a:r>
            <a:r>
              <a:rPr lang="en-US" sz="1300" b="1" i="1" u="none" strike="noStrike" cap="none" dirty="0" err="1">
                <a:solidFill>
                  <a:srgbClr val="1E2761"/>
                </a:solidFill>
                <a:latin typeface="Calibri"/>
                <a:ea typeface="Calibri"/>
                <a:cs typeface="Calibri"/>
                <a:sym typeface="Calibri"/>
              </a:rPr>
              <a:t>dans</a:t>
            </a:r>
            <a:r>
              <a:rPr lang="en-US" sz="1300" b="1" i="1" u="none" strike="noStrike" cap="none" dirty="0">
                <a:solidFill>
                  <a:srgbClr val="1E2761"/>
                </a:solidFill>
                <a:latin typeface="Calibri"/>
                <a:ea typeface="Calibri"/>
                <a:cs typeface="Calibri"/>
                <a:sym typeface="Calibri"/>
              </a:rPr>
              <a:t> </a:t>
            </a:r>
            <a:r>
              <a:rPr lang="en-US" sz="1300" b="1" i="1" u="none" strike="noStrike" cap="none" dirty="0" err="1">
                <a:solidFill>
                  <a:srgbClr val="1E2761"/>
                </a:solidFill>
                <a:latin typeface="Calibri"/>
                <a:ea typeface="Calibri"/>
                <a:cs typeface="Calibri"/>
                <a:sym typeface="Calibri"/>
              </a:rPr>
              <a:t>l’application</a:t>
            </a:r>
            <a:r>
              <a:rPr lang="en-US" sz="1300" b="1" i="1" u="none" strike="noStrike" cap="none" dirty="0">
                <a:solidFill>
                  <a:srgbClr val="1E2761"/>
                </a:solidFill>
                <a:latin typeface="Calibri"/>
                <a:ea typeface="Calibri"/>
                <a:cs typeface="Calibri"/>
                <a:sym typeface="Calibri"/>
              </a:rPr>
              <a:t>.</a:t>
            </a:r>
            <a:endParaRPr sz="1300" b="0" i="0" u="none" strike="noStrike" cap="none" dirty="0">
              <a:solidFill>
                <a:schemeClr val="dk1"/>
              </a:solidFill>
              <a:latin typeface="Calibri"/>
              <a:ea typeface="Calibri"/>
              <a:cs typeface="Calibri"/>
              <a:sym typeface="Calibri"/>
            </a:endParaRPr>
          </a:p>
        </p:txBody>
      </p:sp>
      <p:pic>
        <p:nvPicPr>
          <p:cNvPr id="2" name="Imag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2064" y="1514954"/>
            <a:ext cx="3696924" cy="1952438"/>
          </a:xfrm>
          <a:prstGeom prst="rect">
            <a:avLst/>
          </a:prstGeom>
        </p:spPr>
      </p:pic>
      <p:pic>
        <p:nvPicPr>
          <p:cNvPr id="4" name="Imag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61253" y="1514954"/>
            <a:ext cx="4392127" cy="1952438"/>
          </a:xfrm>
          <a:prstGeom prst="rect">
            <a:avLst/>
          </a:prstGeom>
        </p:spPr>
      </p:pic>
      <p:pic>
        <p:nvPicPr>
          <p:cNvPr id="13" name="Image 12">
            <a:extLst>
              <a:ext uri="{FF2B5EF4-FFF2-40B4-BE49-F238E27FC236}">
                <a16:creationId xmlns:a16="http://schemas.microsoft.com/office/drawing/2014/main" id="{2E15D5BF-F589-0348-B3D3-A02FDA596A9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18691" y="3490653"/>
            <a:ext cx="1166941" cy="875206"/>
          </a:xfrm>
          <a:prstGeom prst="rect">
            <a:avLst/>
          </a:prstGeom>
          <a:ln>
            <a:noFill/>
          </a:ln>
          <a:effectLst>
            <a:softEdge rad="112500"/>
          </a:effectLst>
        </p:spPr>
      </p:pic>
      <p:grpSp>
        <p:nvGrpSpPr>
          <p:cNvPr id="15" name="Group 32"/>
          <p:cNvGrpSpPr/>
          <p:nvPr/>
        </p:nvGrpSpPr>
        <p:grpSpPr>
          <a:xfrm>
            <a:off x="175260" y="86033"/>
            <a:ext cx="9022080" cy="778837"/>
            <a:chOff x="330" y="182"/>
            <a:chExt cx="18543" cy="1604"/>
          </a:xfrm>
        </p:grpSpPr>
        <p:sp>
          <p:nvSpPr>
            <p:cNvPr id="16" name="Freeform 3"/>
            <p:cNvSpPr/>
            <p:nvPr/>
          </p:nvSpPr>
          <p:spPr>
            <a:xfrm>
              <a:off x="330" y="182"/>
              <a:ext cx="1640" cy="1604"/>
            </a:xfrm>
            <a:custGeom>
              <a:avLst/>
              <a:gdLst/>
              <a:ahLst/>
              <a:cxnLst/>
              <a:rect l="l" t="t" r="r" b="b"/>
              <a:pathLst>
                <a:path w="6263628" h="7097595">
                  <a:moveTo>
                    <a:pt x="0" y="0"/>
                  </a:moveTo>
                  <a:lnTo>
                    <a:pt x="6263628" y="0"/>
                  </a:lnTo>
                  <a:lnTo>
                    <a:pt x="6263628" y="7097595"/>
                  </a:lnTo>
                  <a:lnTo>
                    <a:pt x="0" y="7097595"/>
                  </a:lnTo>
                  <a:lnTo>
                    <a:pt x="0" y="0"/>
                  </a:lnTo>
                  <a:close/>
                </a:path>
              </a:pathLst>
            </a:custGeom>
            <a:blipFill>
              <a:blip r:embed="rId6"/>
              <a:stretch>
                <a:fillRect/>
              </a:stretch>
            </a:blipFill>
          </p:spPr>
        </p:sp>
        <p:pic>
          <p:nvPicPr>
            <p:cNvPr id="17" name="Picture 34"/>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6953" y="182"/>
              <a:ext cx="1920" cy="1604"/>
            </a:xfrm>
            <a:prstGeom prst="rect">
              <a:avLst/>
            </a:prstGeom>
          </p:spPr>
        </p:pic>
      </p:grpSp>
    </p:spTree>
    <p:extLst>
      <p:ext uri="{BB962C8B-B14F-4D97-AF65-F5344CB8AC3E}">
        <p14:creationId xmlns:p14="http://schemas.microsoft.com/office/powerpoint/2010/main" val="2864918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1"/>
        <p:cNvGrpSpPr/>
        <p:nvPr/>
      </p:nvGrpSpPr>
      <p:grpSpPr>
        <a:xfrm>
          <a:off x="0" y="0"/>
          <a:ext cx="0" cy="0"/>
          <a:chOff x="0" y="0"/>
          <a:chExt cx="0" cy="0"/>
        </a:xfrm>
      </p:grpSpPr>
      <p:sp>
        <p:nvSpPr>
          <p:cNvPr id="32" name="Google Shape;32;p4"/>
          <p:cNvSpPr/>
          <p:nvPr/>
        </p:nvSpPr>
        <p:spPr>
          <a:xfrm>
            <a:off x="0" y="0"/>
            <a:ext cx="9144000" cy="914400"/>
          </a:xfrm>
          <a:prstGeom prst="rect">
            <a:avLst/>
          </a:prstGeom>
          <a:solidFill>
            <a:srgbClr val="FCD11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4"/>
          <p:cNvSpPr/>
          <p:nvPr/>
        </p:nvSpPr>
        <p:spPr>
          <a:xfrm>
            <a:off x="457200" y="137160"/>
            <a:ext cx="8229600" cy="6400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2200"/>
              <a:buFont typeface="Calibri"/>
              <a:buNone/>
            </a:pPr>
            <a:r>
              <a:rPr lang="en-US" sz="2200" b="1" i="0" u="none" strike="noStrike" cap="none" dirty="0">
                <a:solidFill>
                  <a:srgbClr val="FFFFFF"/>
                </a:solidFill>
                <a:latin typeface="Calibri"/>
                <a:ea typeface="Calibri"/>
                <a:cs typeface="Calibri"/>
                <a:sym typeface="Calibri"/>
              </a:rPr>
              <a:t>En entrée (</a:t>
            </a:r>
            <a:r>
              <a:rPr lang="en-US" sz="2200" b="1" i="0" u="none" strike="noStrike" cap="none" dirty="0" err="1">
                <a:solidFill>
                  <a:srgbClr val="FFFFFF"/>
                </a:solidFill>
                <a:latin typeface="Calibri"/>
                <a:ea typeface="Calibri"/>
                <a:cs typeface="Calibri"/>
                <a:sym typeface="Calibri"/>
              </a:rPr>
              <a:t>Enrôlement</a:t>
            </a:r>
            <a:r>
              <a:rPr lang="en-US" sz="2200" b="1" i="0" u="none" strike="noStrike" cap="none" dirty="0">
                <a:solidFill>
                  <a:srgbClr val="FFFFFF"/>
                </a:solidFill>
                <a:latin typeface="Calibri"/>
                <a:ea typeface="Calibri"/>
                <a:cs typeface="Calibri"/>
                <a:sym typeface="Calibri"/>
              </a:rPr>
              <a:t>)</a:t>
            </a:r>
            <a:endParaRPr sz="2200" b="0" i="0" u="none" strike="noStrike" cap="none" dirty="0">
              <a:solidFill>
                <a:schemeClr val="dk1"/>
              </a:solidFill>
              <a:latin typeface="Calibri"/>
              <a:ea typeface="Calibri"/>
              <a:cs typeface="Calibri"/>
              <a:sym typeface="Calibri"/>
            </a:endParaRPr>
          </a:p>
        </p:txBody>
      </p:sp>
      <p:sp>
        <p:nvSpPr>
          <p:cNvPr id="34" name="Google Shape;34;p4"/>
          <p:cNvSpPr/>
          <p:nvPr/>
        </p:nvSpPr>
        <p:spPr>
          <a:xfrm>
            <a:off x="0" y="4709160"/>
            <a:ext cx="9144000" cy="480060"/>
          </a:xfrm>
          <a:prstGeom prst="rect">
            <a:avLst/>
          </a:prstGeom>
          <a:solidFill>
            <a:srgbClr val="FCD11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4"/>
          <p:cNvSpPr/>
          <p:nvPr/>
        </p:nvSpPr>
        <p:spPr>
          <a:xfrm>
            <a:off x="457200" y="4709160"/>
            <a:ext cx="640080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ADCFC"/>
              </a:buClr>
              <a:buSzPts val="900"/>
              <a:buFont typeface="Calibri"/>
              <a:buNone/>
            </a:pPr>
            <a:r>
              <a:rPr lang="en-US" sz="900" b="0" i="0" u="none" strike="noStrike" cap="none">
                <a:solidFill>
                  <a:srgbClr val="CADCFC"/>
                </a:solidFill>
                <a:latin typeface="Calibri"/>
                <a:ea typeface="Calibri"/>
                <a:cs typeface="Calibri"/>
                <a:sym typeface="Calibri"/>
              </a:rPr>
              <a:t>MINDEF - Direction des Ressources Humaines</a:t>
            </a:r>
            <a:endParaRPr sz="900" b="0" i="0" u="none" strike="noStrike" cap="none">
              <a:solidFill>
                <a:schemeClr val="dk1"/>
              </a:solidFill>
              <a:latin typeface="Calibri"/>
              <a:ea typeface="Calibri"/>
              <a:cs typeface="Calibri"/>
              <a:sym typeface="Calibri"/>
            </a:endParaRPr>
          </a:p>
        </p:txBody>
      </p:sp>
      <p:sp>
        <p:nvSpPr>
          <p:cNvPr id="36" name="Google Shape;36;p4"/>
          <p:cNvSpPr/>
          <p:nvPr/>
        </p:nvSpPr>
        <p:spPr>
          <a:xfrm>
            <a:off x="7772400" y="4709160"/>
            <a:ext cx="914400" cy="365760"/>
          </a:xfrm>
          <a:prstGeom prst="rect">
            <a:avLst/>
          </a:prstGeom>
          <a:noFill/>
          <a:ln>
            <a:noFill/>
          </a:ln>
        </p:spPr>
        <p:txBody>
          <a:bodyPr spcFirstLastPara="1" wrap="square" lIns="91425" tIns="45700" rIns="91425" bIns="45700" anchor="ctr" anchorCtr="0">
            <a:noAutofit/>
          </a:bodyPr>
          <a:lstStyle/>
          <a:p>
            <a:pPr algn="r">
              <a:buClr>
                <a:srgbClr val="CADCFC"/>
              </a:buClr>
              <a:buSzPts val="900"/>
            </a:pPr>
            <a:r>
              <a:rPr lang="en-US" sz="900" dirty="0">
                <a:solidFill>
                  <a:srgbClr val="CADCFC"/>
                </a:solidFill>
                <a:latin typeface="Calibri"/>
                <a:ea typeface="Calibri"/>
                <a:cs typeface="Calibri"/>
                <a:sym typeface="Calibri"/>
              </a:rPr>
              <a:t>6</a:t>
            </a:r>
            <a:r>
              <a:rPr lang="en-US" sz="900" b="0" i="0" u="none" strike="noStrike" cap="none" dirty="0">
                <a:solidFill>
                  <a:srgbClr val="CADCFC"/>
                </a:solidFill>
                <a:latin typeface="Calibri"/>
                <a:ea typeface="Calibri"/>
                <a:cs typeface="Calibri"/>
                <a:sym typeface="Calibri"/>
              </a:rPr>
              <a:t> / </a:t>
            </a:r>
            <a:r>
              <a:rPr lang="en-US" sz="900" dirty="0">
                <a:solidFill>
                  <a:srgbClr val="CADCFC"/>
                </a:solidFill>
                <a:latin typeface="Calibri"/>
                <a:ea typeface="Calibri"/>
                <a:cs typeface="Calibri"/>
                <a:sym typeface="Calibri"/>
              </a:rPr>
              <a:t>27</a:t>
            </a:r>
            <a:endParaRPr lang="en-US" sz="900" dirty="0">
              <a:solidFill>
                <a:schemeClr val="dk1"/>
              </a:solidFill>
              <a:latin typeface="Calibri"/>
              <a:ea typeface="Calibri"/>
              <a:cs typeface="Calibri"/>
              <a:sym typeface="Calibri"/>
            </a:endParaRPr>
          </a:p>
          <a:p>
            <a:pPr lvl="0" algn="r">
              <a:buClr>
                <a:srgbClr val="CADCFC"/>
              </a:buClr>
              <a:buSzPts val="900"/>
            </a:pPr>
            <a:endParaRPr lang="en-US" sz="900" dirty="0">
              <a:solidFill>
                <a:schemeClr val="dk1"/>
              </a:solidFill>
              <a:latin typeface="Calibri"/>
              <a:ea typeface="Calibri"/>
              <a:cs typeface="Calibri"/>
              <a:sym typeface="Calibri"/>
            </a:endParaRPr>
          </a:p>
        </p:txBody>
      </p:sp>
      <p:sp>
        <p:nvSpPr>
          <p:cNvPr id="37" name="Google Shape;37;p4"/>
          <p:cNvSpPr/>
          <p:nvPr/>
        </p:nvSpPr>
        <p:spPr>
          <a:xfrm>
            <a:off x="457200" y="1188720"/>
            <a:ext cx="8229600" cy="3200400"/>
          </a:xfrm>
          <a:prstGeom prst="rect">
            <a:avLst/>
          </a:prstGeom>
          <a:solidFill>
            <a:srgbClr val="F0F4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4"/>
          <p:cNvSpPr/>
          <p:nvPr/>
        </p:nvSpPr>
        <p:spPr>
          <a:xfrm>
            <a:off x="457200" y="3383280"/>
            <a:ext cx="54864" cy="731520"/>
          </a:xfrm>
          <a:prstGeom prst="rect">
            <a:avLst/>
          </a:prstGeom>
          <a:solidFill>
            <a:srgbClr val="3A8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4"/>
          <p:cNvSpPr/>
          <p:nvPr/>
        </p:nvSpPr>
        <p:spPr>
          <a:xfrm>
            <a:off x="731520" y="3383280"/>
            <a:ext cx="7772400" cy="731520"/>
          </a:xfrm>
          <a:prstGeom prst="rect">
            <a:avLst/>
          </a:prstGeom>
          <a:noFill/>
          <a:ln>
            <a:noFill/>
          </a:ln>
        </p:spPr>
        <p:txBody>
          <a:bodyPr spcFirstLastPara="1" wrap="square" lIns="91425" tIns="45700" rIns="91425" bIns="45700" anchor="ctr" anchorCtr="0">
            <a:noAutofit/>
          </a:bodyPr>
          <a:lstStyle/>
          <a:p>
            <a:pPr marL="0" marR="0" lvl="0" indent="0" algn="just" rtl="0">
              <a:spcBef>
                <a:spcPts val="0"/>
              </a:spcBef>
              <a:spcAft>
                <a:spcPts val="0"/>
              </a:spcAft>
              <a:buClr>
                <a:srgbClr val="1E2761"/>
              </a:buClr>
              <a:buSzPts val="1300"/>
              <a:buFont typeface="Calibri"/>
              <a:buNone/>
            </a:pPr>
            <a:endParaRPr sz="1300" b="0" i="0" u="none" strike="noStrike" cap="none" dirty="0">
              <a:solidFill>
                <a:schemeClr val="dk1"/>
              </a:solidFill>
              <a:latin typeface="Calibri"/>
              <a:ea typeface="Calibri"/>
              <a:cs typeface="Calibri"/>
              <a:sym typeface="Calibri"/>
            </a:endParaRPr>
          </a:p>
        </p:txBody>
      </p:sp>
      <p:pic>
        <p:nvPicPr>
          <p:cNvPr id="5" name="Imag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0" y="1074420"/>
            <a:ext cx="5509260" cy="3421379"/>
          </a:xfrm>
          <a:prstGeom prst="rect">
            <a:avLst/>
          </a:prstGeom>
        </p:spPr>
      </p:pic>
      <p:grpSp>
        <p:nvGrpSpPr>
          <p:cNvPr id="12" name="Group 32"/>
          <p:cNvGrpSpPr/>
          <p:nvPr/>
        </p:nvGrpSpPr>
        <p:grpSpPr>
          <a:xfrm>
            <a:off x="175260" y="86033"/>
            <a:ext cx="9022080" cy="778837"/>
            <a:chOff x="330" y="182"/>
            <a:chExt cx="18543" cy="1604"/>
          </a:xfrm>
        </p:grpSpPr>
        <p:sp>
          <p:nvSpPr>
            <p:cNvPr id="13" name="Freeform 3"/>
            <p:cNvSpPr/>
            <p:nvPr/>
          </p:nvSpPr>
          <p:spPr>
            <a:xfrm>
              <a:off x="330" y="182"/>
              <a:ext cx="1640" cy="1604"/>
            </a:xfrm>
            <a:custGeom>
              <a:avLst/>
              <a:gdLst/>
              <a:ahLst/>
              <a:cxnLst/>
              <a:rect l="l" t="t" r="r" b="b"/>
              <a:pathLst>
                <a:path w="6263628" h="7097595">
                  <a:moveTo>
                    <a:pt x="0" y="0"/>
                  </a:moveTo>
                  <a:lnTo>
                    <a:pt x="6263628" y="0"/>
                  </a:lnTo>
                  <a:lnTo>
                    <a:pt x="6263628" y="7097595"/>
                  </a:lnTo>
                  <a:lnTo>
                    <a:pt x="0" y="7097595"/>
                  </a:lnTo>
                  <a:lnTo>
                    <a:pt x="0" y="0"/>
                  </a:lnTo>
                  <a:close/>
                </a:path>
              </a:pathLst>
            </a:custGeom>
            <a:blipFill>
              <a:blip r:embed="rId4"/>
              <a:stretch>
                <a:fillRect/>
              </a:stretch>
            </a:blipFill>
          </p:spPr>
        </p:sp>
        <p:pic>
          <p:nvPicPr>
            <p:cNvPr id="15" name="Picture 3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953" y="182"/>
              <a:ext cx="1920" cy="1604"/>
            </a:xfrm>
            <a:prstGeom prst="rect">
              <a:avLst/>
            </a:prstGeom>
          </p:spPr>
        </p:pic>
      </p:grpSp>
    </p:spTree>
    <p:extLst>
      <p:ext uri="{BB962C8B-B14F-4D97-AF65-F5344CB8AC3E}">
        <p14:creationId xmlns:p14="http://schemas.microsoft.com/office/powerpoint/2010/main" val="27244560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1"/>
        <p:cNvGrpSpPr/>
        <p:nvPr/>
      </p:nvGrpSpPr>
      <p:grpSpPr>
        <a:xfrm>
          <a:off x="0" y="0"/>
          <a:ext cx="0" cy="0"/>
          <a:chOff x="0" y="0"/>
          <a:chExt cx="0" cy="0"/>
        </a:xfrm>
      </p:grpSpPr>
      <p:sp>
        <p:nvSpPr>
          <p:cNvPr id="32" name="Google Shape;32;p4"/>
          <p:cNvSpPr/>
          <p:nvPr/>
        </p:nvSpPr>
        <p:spPr>
          <a:xfrm>
            <a:off x="0" y="0"/>
            <a:ext cx="9144000" cy="914400"/>
          </a:xfrm>
          <a:prstGeom prst="rect">
            <a:avLst/>
          </a:prstGeom>
          <a:solidFill>
            <a:srgbClr val="1384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4"/>
          <p:cNvSpPr/>
          <p:nvPr/>
        </p:nvSpPr>
        <p:spPr>
          <a:xfrm>
            <a:off x="457200" y="137160"/>
            <a:ext cx="8229600" cy="6400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2200"/>
              <a:buFont typeface="Calibri"/>
              <a:buNone/>
            </a:pPr>
            <a:r>
              <a:rPr lang="en-US" sz="2200" b="1" i="0" u="none" strike="noStrike" cap="none" dirty="0">
                <a:solidFill>
                  <a:srgbClr val="FFFFFF"/>
                </a:solidFill>
                <a:latin typeface="Calibri"/>
                <a:ea typeface="Calibri"/>
                <a:cs typeface="Calibri"/>
                <a:sym typeface="Calibri"/>
              </a:rPr>
              <a:t>Traitement (Stockage des </a:t>
            </a:r>
            <a:r>
              <a:rPr lang="en-US" sz="2200" b="1" i="0" u="none" strike="noStrike" cap="none" dirty="0" err="1">
                <a:solidFill>
                  <a:srgbClr val="FFFFFF"/>
                </a:solidFill>
                <a:latin typeface="Calibri"/>
                <a:ea typeface="Calibri"/>
                <a:cs typeface="Calibri"/>
                <a:sym typeface="Calibri"/>
              </a:rPr>
              <a:t>données</a:t>
            </a:r>
            <a:r>
              <a:rPr lang="en-US" sz="2200" b="1" dirty="0">
                <a:solidFill>
                  <a:srgbClr val="FFFFFF"/>
                </a:solidFill>
                <a:latin typeface="Calibri"/>
                <a:ea typeface="Calibri"/>
                <a:cs typeface="Calibri"/>
                <a:sym typeface="Calibri"/>
              </a:rPr>
              <a:t>)</a:t>
            </a:r>
            <a:endParaRPr sz="2200" b="0" i="0" u="none" strike="noStrike" cap="none" dirty="0">
              <a:solidFill>
                <a:schemeClr val="dk1"/>
              </a:solidFill>
              <a:latin typeface="Calibri"/>
              <a:ea typeface="Calibri"/>
              <a:cs typeface="Calibri"/>
              <a:sym typeface="Calibri"/>
            </a:endParaRPr>
          </a:p>
        </p:txBody>
      </p:sp>
      <p:sp>
        <p:nvSpPr>
          <p:cNvPr id="34" name="Google Shape;34;p4"/>
          <p:cNvSpPr/>
          <p:nvPr/>
        </p:nvSpPr>
        <p:spPr>
          <a:xfrm>
            <a:off x="0" y="4709160"/>
            <a:ext cx="9144000" cy="480060"/>
          </a:xfrm>
          <a:prstGeom prst="rect">
            <a:avLst/>
          </a:prstGeom>
          <a:solidFill>
            <a:srgbClr val="1384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4"/>
          <p:cNvSpPr/>
          <p:nvPr/>
        </p:nvSpPr>
        <p:spPr>
          <a:xfrm>
            <a:off x="457200" y="4709160"/>
            <a:ext cx="640080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ADCFC"/>
              </a:buClr>
              <a:buSzPts val="900"/>
              <a:buFont typeface="Calibri"/>
              <a:buNone/>
            </a:pPr>
            <a:r>
              <a:rPr lang="en-US" sz="900" b="0" i="0" u="none" strike="noStrike" cap="none">
                <a:solidFill>
                  <a:srgbClr val="CADCFC"/>
                </a:solidFill>
                <a:latin typeface="Calibri"/>
                <a:ea typeface="Calibri"/>
                <a:cs typeface="Calibri"/>
                <a:sym typeface="Calibri"/>
              </a:rPr>
              <a:t>MINDEF - Direction des Ressources Humaines</a:t>
            </a:r>
            <a:endParaRPr sz="900" b="0" i="0" u="none" strike="noStrike" cap="none">
              <a:solidFill>
                <a:schemeClr val="dk1"/>
              </a:solidFill>
              <a:latin typeface="Calibri"/>
              <a:ea typeface="Calibri"/>
              <a:cs typeface="Calibri"/>
              <a:sym typeface="Calibri"/>
            </a:endParaRPr>
          </a:p>
        </p:txBody>
      </p:sp>
      <p:sp>
        <p:nvSpPr>
          <p:cNvPr id="36" name="Google Shape;36;p4"/>
          <p:cNvSpPr/>
          <p:nvPr/>
        </p:nvSpPr>
        <p:spPr>
          <a:xfrm>
            <a:off x="7772400" y="4709160"/>
            <a:ext cx="914400" cy="365760"/>
          </a:xfrm>
          <a:prstGeom prst="rect">
            <a:avLst/>
          </a:prstGeom>
          <a:noFill/>
          <a:ln>
            <a:noFill/>
          </a:ln>
        </p:spPr>
        <p:txBody>
          <a:bodyPr spcFirstLastPara="1" wrap="square" lIns="91425" tIns="45700" rIns="91425" bIns="45700" anchor="ctr" anchorCtr="0">
            <a:noAutofit/>
          </a:bodyPr>
          <a:lstStyle/>
          <a:p>
            <a:pPr lvl="0" algn="r">
              <a:buClr>
                <a:srgbClr val="CADCFC"/>
              </a:buClr>
              <a:buSzPts val="900"/>
            </a:pPr>
            <a:r>
              <a:rPr lang="en-US" sz="900" dirty="0">
                <a:solidFill>
                  <a:srgbClr val="CADCFC"/>
                </a:solidFill>
                <a:latin typeface="Calibri"/>
                <a:ea typeface="Calibri"/>
                <a:cs typeface="Calibri"/>
                <a:sym typeface="Calibri"/>
              </a:rPr>
              <a:t>7</a:t>
            </a:r>
            <a:r>
              <a:rPr lang="en-US" sz="900" b="0" i="0" u="none" strike="noStrike" cap="none" dirty="0">
                <a:solidFill>
                  <a:srgbClr val="CADCFC"/>
                </a:solidFill>
                <a:latin typeface="Calibri"/>
                <a:ea typeface="Calibri"/>
                <a:cs typeface="Calibri"/>
                <a:sym typeface="Calibri"/>
              </a:rPr>
              <a:t> / </a:t>
            </a:r>
            <a:r>
              <a:rPr lang="en-US" sz="900" dirty="0">
                <a:solidFill>
                  <a:srgbClr val="CADCFC"/>
                </a:solidFill>
                <a:latin typeface="Calibri"/>
                <a:ea typeface="Calibri"/>
                <a:cs typeface="Calibri"/>
                <a:sym typeface="Calibri"/>
              </a:rPr>
              <a:t>27</a:t>
            </a:r>
            <a:endParaRPr lang="en-US" sz="900" dirty="0">
              <a:solidFill>
                <a:schemeClr val="dk1"/>
              </a:solidFill>
              <a:latin typeface="Calibri"/>
              <a:ea typeface="Calibri"/>
              <a:cs typeface="Calibri"/>
              <a:sym typeface="Calibri"/>
            </a:endParaRPr>
          </a:p>
        </p:txBody>
      </p:sp>
      <p:sp>
        <p:nvSpPr>
          <p:cNvPr id="37" name="Google Shape;37;p4"/>
          <p:cNvSpPr/>
          <p:nvPr/>
        </p:nvSpPr>
        <p:spPr>
          <a:xfrm>
            <a:off x="457200" y="1188720"/>
            <a:ext cx="8229600" cy="3200400"/>
          </a:xfrm>
          <a:prstGeom prst="rect">
            <a:avLst/>
          </a:prstGeom>
          <a:solidFill>
            <a:srgbClr val="F0F4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4"/>
          <p:cNvSpPr/>
          <p:nvPr/>
        </p:nvSpPr>
        <p:spPr>
          <a:xfrm>
            <a:off x="731520" y="3383280"/>
            <a:ext cx="7772400" cy="731520"/>
          </a:xfrm>
          <a:prstGeom prst="rect">
            <a:avLst/>
          </a:prstGeom>
          <a:noFill/>
          <a:ln>
            <a:noFill/>
          </a:ln>
        </p:spPr>
        <p:txBody>
          <a:bodyPr spcFirstLastPara="1" wrap="square" lIns="91425" tIns="45700" rIns="91425" bIns="45700" anchor="ctr" anchorCtr="0">
            <a:noAutofit/>
          </a:bodyPr>
          <a:lstStyle/>
          <a:p>
            <a:pPr marL="0" marR="0" lvl="0" indent="0" algn="just" rtl="0">
              <a:spcBef>
                <a:spcPts val="0"/>
              </a:spcBef>
              <a:spcAft>
                <a:spcPts val="0"/>
              </a:spcAft>
              <a:buClr>
                <a:srgbClr val="1E2761"/>
              </a:buClr>
              <a:buSzPts val="1300"/>
              <a:buFont typeface="Calibri"/>
              <a:buNone/>
            </a:pPr>
            <a:endParaRPr sz="1300" b="0" i="0" u="none" strike="noStrike" cap="none" dirty="0">
              <a:solidFill>
                <a:schemeClr val="dk1"/>
              </a:solidFill>
              <a:latin typeface="Calibri"/>
              <a:ea typeface="Calibri"/>
              <a:cs typeface="Calibri"/>
              <a:sym typeface="Calibri"/>
            </a:endParaRPr>
          </a:p>
        </p:txBody>
      </p:sp>
      <p:pic>
        <p:nvPicPr>
          <p:cNvPr id="6" name="Imag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2920" y="1256320"/>
            <a:ext cx="7689600" cy="3132800"/>
          </a:xfrm>
          <a:prstGeom prst="rect">
            <a:avLst/>
          </a:prstGeom>
        </p:spPr>
      </p:pic>
      <p:grpSp>
        <p:nvGrpSpPr>
          <p:cNvPr id="12" name="Group 32"/>
          <p:cNvGrpSpPr/>
          <p:nvPr/>
        </p:nvGrpSpPr>
        <p:grpSpPr>
          <a:xfrm>
            <a:off x="175260" y="86033"/>
            <a:ext cx="9022080" cy="778837"/>
            <a:chOff x="330" y="182"/>
            <a:chExt cx="18543" cy="1604"/>
          </a:xfrm>
        </p:grpSpPr>
        <p:sp>
          <p:nvSpPr>
            <p:cNvPr id="13" name="Freeform 3"/>
            <p:cNvSpPr/>
            <p:nvPr/>
          </p:nvSpPr>
          <p:spPr>
            <a:xfrm>
              <a:off x="330" y="182"/>
              <a:ext cx="1640" cy="1604"/>
            </a:xfrm>
            <a:custGeom>
              <a:avLst/>
              <a:gdLst/>
              <a:ahLst/>
              <a:cxnLst/>
              <a:rect l="l" t="t" r="r" b="b"/>
              <a:pathLst>
                <a:path w="6263628" h="7097595">
                  <a:moveTo>
                    <a:pt x="0" y="0"/>
                  </a:moveTo>
                  <a:lnTo>
                    <a:pt x="6263628" y="0"/>
                  </a:lnTo>
                  <a:lnTo>
                    <a:pt x="6263628" y="7097595"/>
                  </a:lnTo>
                  <a:lnTo>
                    <a:pt x="0" y="7097595"/>
                  </a:lnTo>
                  <a:lnTo>
                    <a:pt x="0" y="0"/>
                  </a:lnTo>
                  <a:close/>
                </a:path>
              </a:pathLst>
            </a:custGeom>
            <a:blipFill>
              <a:blip r:embed="rId4"/>
              <a:stretch>
                <a:fillRect/>
              </a:stretch>
            </a:blipFill>
          </p:spPr>
        </p:sp>
        <p:pic>
          <p:nvPicPr>
            <p:cNvPr id="14" name="Picture 3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953" y="182"/>
              <a:ext cx="1920" cy="1604"/>
            </a:xfrm>
            <a:prstGeom prst="rect">
              <a:avLst/>
            </a:prstGeom>
          </p:spPr>
        </p:pic>
      </p:grpSp>
    </p:spTree>
    <p:extLst>
      <p:ext uri="{BB962C8B-B14F-4D97-AF65-F5344CB8AC3E}">
        <p14:creationId xmlns:p14="http://schemas.microsoft.com/office/powerpoint/2010/main" val="18039728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1"/>
        <p:cNvGrpSpPr/>
        <p:nvPr/>
      </p:nvGrpSpPr>
      <p:grpSpPr>
        <a:xfrm>
          <a:off x="0" y="0"/>
          <a:ext cx="0" cy="0"/>
          <a:chOff x="0" y="0"/>
          <a:chExt cx="0" cy="0"/>
        </a:xfrm>
      </p:grpSpPr>
      <p:sp>
        <p:nvSpPr>
          <p:cNvPr id="32" name="Google Shape;32;p4"/>
          <p:cNvSpPr/>
          <p:nvPr/>
        </p:nvSpPr>
        <p:spPr>
          <a:xfrm>
            <a:off x="0" y="0"/>
            <a:ext cx="9144000" cy="914400"/>
          </a:xfrm>
          <a:prstGeom prst="rect">
            <a:avLst/>
          </a:prstGeom>
          <a:solidFill>
            <a:srgbClr val="C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4"/>
          <p:cNvSpPr/>
          <p:nvPr/>
        </p:nvSpPr>
        <p:spPr>
          <a:xfrm>
            <a:off x="457200" y="137160"/>
            <a:ext cx="8229600" cy="640080"/>
          </a:xfrm>
          <a:prstGeom prst="rect">
            <a:avLst/>
          </a:prstGeom>
          <a:noFill/>
          <a:ln>
            <a:noFill/>
          </a:ln>
        </p:spPr>
        <p:txBody>
          <a:bodyPr spcFirstLastPara="1" wrap="square" lIns="91425" tIns="45700" rIns="91425" bIns="45700" anchor="ctr" anchorCtr="0">
            <a:noAutofit/>
          </a:bodyPr>
          <a:lstStyle/>
          <a:p>
            <a:pPr algn="ctr">
              <a:buClr>
                <a:srgbClr val="FFFFFF"/>
              </a:buClr>
              <a:buSzPts val="2200"/>
            </a:pPr>
            <a:r>
              <a:rPr lang="en-US" sz="2200" b="1" i="0" u="none" strike="noStrike" cap="none" dirty="0">
                <a:solidFill>
                  <a:srgbClr val="FFFFFF"/>
                </a:solidFill>
                <a:latin typeface="Calibri"/>
                <a:ea typeface="Calibri"/>
                <a:cs typeface="Calibri"/>
                <a:sym typeface="Calibri"/>
              </a:rPr>
              <a:t>Traitement (</a:t>
            </a:r>
            <a:r>
              <a:rPr lang="fr-FR" sz="2400" b="1" dirty="0">
                <a:solidFill>
                  <a:schemeClr val="bg1"/>
                </a:solidFill>
                <a:latin typeface="Calibri" panose="020F0502020204030204" pitchFamily="34" charset="0"/>
                <a:cs typeface="Calibri" panose="020F0502020204030204" pitchFamily="34" charset="0"/>
              </a:rPr>
              <a:t>Intégration des technologies anti-falsification </a:t>
            </a:r>
            <a:r>
              <a:rPr lang="en-US" sz="2200" b="1" i="0" u="none" strike="noStrike" cap="none" dirty="0">
                <a:solidFill>
                  <a:srgbClr val="FFFFFF"/>
                </a:solidFill>
                <a:latin typeface="Calibri"/>
                <a:ea typeface="Calibri"/>
                <a:cs typeface="Calibri"/>
                <a:sym typeface="Calibri"/>
              </a:rPr>
              <a:t>)…</a:t>
            </a:r>
            <a:endParaRPr sz="2200" b="0" i="0" u="none" strike="noStrike" cap="none" dirty="0">
              <a:solidFill>
                <a:schemeClr val="dk1"/>
              </a:solidFill>
              <a:latin typeface="Calibri"/>
              <a:ea typeface="Calibri"/>
              <a:cs typeface="Calibri"/>
              <a:sym typeface="Calibri"/>
            </a:endParaRPr>
          </a:p>
        </p:txBody>
      </p:sp>
      <p:sp>
        <p:nvSpPr>
          <p:cNvPr id="34" name="Google Shape;34;p4"/>
          <p:cNvSpPr/>
          <p:nvPr/>
        </p:nvSpPr>
        <p:spPr>
          <a:xfrm>
            <a:off x="0" y="4734582"/>
            <a:ext cx="9144000" cy="480060"/>
          </a:xfrm>
          <a:prstGeom prst="rect">
            <a:avLst/>
          </a:prstGeom>
          <a:solidFill>
            <a:srgbClr val="C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4"/>
          <p:cNvSpPr/>
          <p:nvPr/>
        </p:nvSpPr>
        <p:spPr>
          <a:xfrm>
            <a:off x="457200" y="4709160"/>
            <a:ext cx="640080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ADCFC"/>
              </a:buClr>
              <a:buSzPts val="900"/>
              <a:buFont typeface="Calibri"/>
              <a:buNone/>
            </a:pPr>
            <a:r>
              <a:rPr lang="en-US" sz="900" b="0" i="0" u="none" strike="noStrike" cap="none">
                <a:solidFill>
                  <a:srgbClr val="CADCFC"/>
                </a:solidFill>
                <a:latin typeface="Calibri"/>
                <a:ea typeface="Calibri"/>
                <a:cs typeface="Calibri"/>
                <a:sym typeface="Calibri"/>
              </a:rPr>
              <a:t>MINDEF - Direction des Ressources Humaines</a:t>
            </a:r>
            <a:endParaRPr sz="900" b="0" i="0" u="none" strike="noStrike" cap="none">
              <a:solidFill>
                <a:schemeClr val="dk1"/>
              </a:solidFill>
              <a:latin typeface="Calibri"/>
              <a:ea typeface="Calibri"/>
              <a:cs typeface="Calibri"/>
              <a:sym typeface="Calibri"/>
            </a:endParaRPr>
          </a:p>
        </p:txBody>
      </p:sp>
      <p:sp>
        <p:nvSpPr>
          <p:cNvPr id="36" name="Google Shape;36;p4"/>
          <p:cNvSpPr/>
          <p:nvPr/>
        </p:nvSpPr>
        <p:spPr>
          <a:xfrm>
            <a:off x="7772400" y="4709160"/>
            <a:ext cx="914400" cy="365760"/>
          </a:xfrm>
          <a:prstGeom prst="rect">
            <a:avLst/>
          </a:prstGeom>
          <a:noFill/>
          <a:ln>
            <a:noFill/>
          </a:ln>
        </p:spPr>
        <p:txBody>
          <a:bodyPr spcFirstLastPara="1" wrap="square" lIns="91425" tIns="45700" rIns="91425" bIns="45700" anchor="ctr" anchorCtr="0">
            <a:noAutofit/>
          </a:bodyPr>
          <a:lstStyle/>
          <a:p>
            <a:pPr lvl="0" algn="r">
              <a:buClr>
                <a:srgbClr val="CADCFC"/>
              </a:buClr>
              <a:buSzPts val="900"/>
            </a:pPr>
            <a:r>
              <a:rPr lang="en-US" sz="900" dirty="0">
                <a:solidFill>
                  <a:srgbClr val="CADCFC"/>
                </a:solidFill>
                <a:latin typeface="Calibri"/>
                <a:ea typeface="Calibri"/>
                <a:cs typeface="Calibri"/>
                <a:sym typeface="Calibri"/>
              </a:rPr>
              <a:t>8</a:t>
            </a:r>
            <a:r>
              <a:rPr lang="en-US" sz="900" b="0" i="0" u="none" strike="noStrike" cap="none" dirty="0">
                <a:solidFill>
                  <a:srgbClr val="CADCFC"/>
                </a:solidFill>
                <a:latin typeface="Calibri"/>
                <a:ea typeface="Calibri"/>
                <a:cs typeface="Calibri"/>
                <a:sym typeface="Calibri"/>
              </a:rPr>
              <a:t> / </a:t>
            </a:r>
            <a:r>
              <a:rPr lang="en-US" sz="900" dirty="0">
                <a:solidFill>
                  <a:srgbClr val="CADCFC"/>
                </a:solidFill>
                <a:latin typeface="Calibri"/>
                <a:ea typeface="Calibri"/>
                <a:cs typeface="Calibri"/>
                <a:sym typeface="Calibri"/>
              </a:rPr>
              <a:t>27</a:t>
            </a:r>
            <a:endParaRPr lang="en-US" sz="900" dirty="0">
              <a:solidFill>
                <a:schemeClr val="dk1"/>
              </a:solidFill>
              <a:latin typeface="Calibri"/>
              <a:ea typeface="Calibri"/>
              <a:cs typeface="Calibri"/>
              <a:sym typeface="Calibri"/>
            </a:endParaRPr>
          </a:p>
        </p:txBody>
      </p:sp>
      <p:sp>
        <p:nvSpPr>
          <p:cNvPr id="37" name="Google Shape;37;p4"/>
          <p:cNvSpPr/>
          <p:nvPr/>
        </p:nvSpPr>
        <p:spPr>
          <a:xfrm>
            <a:off x="457200" y="1188720"/>
            <a:ext cx="8229600" cy="3200400"/>
          </a:xfrm>
          <a:prstGeom prst="rect">
            <a:avLst/>
          </a:prstGeom>
          <a:solidFill>
            <a:srgbClr val="F0F4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4"/>
          <p:cNvSpPr/>
          <p:nvPr/>
        </p:nvSpPr>
        <p:spPr>
          <a:xfrm>
            <a:off x="482976" y="3647623"/>
            <a:ext cx="54864" cy="731520"/>
          </a:xfrm>
          <a:prstGeom prst="rect">
            <a:avLst/>
          </a:prstGeom>
          <a:solidFill>
            <a:srgbClr val="3A8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4"/>
          <p:cNvSpPr/>
          <p:nvPr/>
        </p:nvSpPr>
        <p:spPr>
          <a:xfrm>
            <a:off x="731520" y="3383280"/>
            <a:ext cx="7772400" cy="731520"/>
          </a:xfrm>
          <a:prstGeom prst="rect">
            <a:avLst/>
          </a:prstGeom>
          <a:noFill/>
          <a:ln>
            <a:noFill/>
          </a:ln>
        </p:spPr>
        <p:txBody>
          <a:bodyPr spcFirstLastPara="1" wrap="square" lIns="91425" tIns="45700" rIns="91425" bIns="45700" anchor="ctr" anchorCtr="0">
            <a:noAutofit/>
          </a:bodyPr>
          <a:lstStyle/>
          <a:p>
            <a:pPr marL="0" marR="0" lvl="0" indent="0" algn="just" rtl="0">
              <a:spcBef>
                <a:spcPts val="0"/>
              </a:spcBef>
              <a:spcAft>
                <a:spcPts val="0"/>
              </a:spcAft>
              <a:buClr>
                <a:srgbClr val="1E2761"/>
              </a:buClr>
              <a:buSzPts val="1300"/>
              <a:buFont typeface="Calibri"/>
              <a:buNone/>
            </a:pPr>
            <a:endParaRPr sz="1300" b="0" i="0" u="none" strike="noStrike" cap="none" dirty="0">
              <a:solidFill>
                <a:schemeClr val="dk1"/>
              </a:solidFill>
              <a:latin typeface="Calibri"/>
              <a:ea typeface="Calibri"/>
              <a:cs typeface="Calibri"/>
              <a:sym typeface="Calibri"/>
            </a:endParaRPr>
          </a:p>
        </p:txBody>
      </p:sp>
      <p:pic>
        <p:nvPicPr>
          <p:cNvPr id="2" name="Imag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2760" y="1309620"/>
            <a:ext cx="4044960" cy="2031960"/>
          </a:xfrm>
          <a:prstGeom prst="rect">
            <a:avLst/>
          </a:prstGeom>
        </p:spPr>
      </p:pic>
      <p:pic>
        <p:nvPicPr>
          <p:cNvPr id="3" name="Imag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51458" y="1312814"/>
            <a:ext cx="3801604" cy="2034452"/>
          </a:xfrm>
          <a:prstGeom prst="rect">
            <a:avLst/>
          </a:prstGeom>
        </p:spPr>
      </p:pic>
      <p:sp>
        <p:nvSpPr>
          <p:cNvPr id="4" name="ZoneTexte 3"/>
          <p:cNvSpPr txBox="1"/>
          <p:nvPr/>
        </p:nvSpPr>
        <p:spPr>
          <a:xfrm>
            <a:off x="1584721" y="3709735"/>
            <a:ext cx="1972800" cy="523220"/>
          </a:xfrm>
          <a:prstGeom prst="rect">
            <a:avLst/>
          </a:prstGeom>
          <a:noFill/>
        </p:spPr>
        <p:txBody>
          <a:bodyPr wrap="square" rtlCol="0">
            <a:spAutoFit/>
          </a:bodyPr>
          <a:lstStyle/>
          <a:p>
            <a:pPr algn="ctr"/>
            <a:r>
              <a:rPr lang="fr-FR" dirty="0">
                <a:latin typeface="Calibri" panose="020F0502020204030204" pitchFamily="34" charset="0"/>
                <a:cs typeface="Calibri" panose="020F0502020204030204" pitchFamily="34" charset="0"/>
              </a:rPr>
              <a:t>Hologramme 3D du Cameroun</a:t>
            </a:r>
          </a:p>
        </p:txBody>
      </p:sp>
      <p:sp>
        <p:nvSpPr>
          <p:cNvPr id="14" name="ZoneTexte 13"/>
          <p:cNvSpPr txBox="1"/>
          <p:nvPr/>
        </p:nvSpPr>
        <p:spPr>
          <a:xfrm>
            <a:off x="5509921" y="3698262"/>
            <a:ext cx="1972800" cy="307777"/>
          </a:xfrm>
          <a:prstGeom prst="rect">
            <a:avLst/>
          </a:prstGeom>
          <a:noFill/>
        </p:spPr>
        <p:txBody>
          <a:bodyPr wrap="square" rtlCol="0">
            <a:spAutoFit/>
          </a:bodyPr>
          <a:lstStyle/>
          <a:p>
            <a:pPr algn="ctr"/>
            <a:r>
              <a:rPr lang="fr-FR" dirty="0">
                <a:latin typeface="Calibri" panose="020F0502020204030204" pitchFamily="34" charset="0"/>
                <a:cs typeface="Calibri" panose="020F0502020204030204" pitchFamily="34" charset="0"/>
              </a:rPr>
              <a:t>QR Code Crypté</a:t>
            </a:r>
          </a:p>
        </p:txBody>
      </p:sp>
      <p:pic>
        <p:nvPicPr>
          <p:cNvPr id="15" name="Image 14">
            <a:extLst>
              <a:ext uri="{FF2B5EF4-FFF2-40B4-BE49-F238E27FC236}">
                <a16:creationId xmlns:a16="http://schemas.microsoft.com/office/drawing/2014/main" id="{2E15D5BF-F589-0348-B3D3-A02FDA596A9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772400" y="3720757"/>
            <a:ext cx="1271792" cy="953844"/>
          </a:xfrm>
          <a:prstGeom prst="rect">
            <a:avLst/>
          </a:prstGeom>
          <a:ln>
            <a:noFill/>
          </a:ln>
          <a:effectLst>
            <a:softEdge rad="112500"/>
          </a:effectLst>
        </p:spPr>
      </p:pic>
      <p:grpSp>
        <p:nvGrpSpPr>
          <p:cNvPr id="17" name="Group 32"/>
          <p:cNvGrpSpPr/>
          <p:nvPr/>
        </p:nvGrpSpPr>
        <p:grpSpPr>
          <a:xfrm>
            <a:off x="0" y="40313"/>
            <a:ext cx="9204960" cy="778837"/>
            <a:chOff x="330" y="182"/>
            <a:chExt cx="18543" cy="1604"/>
          </a:xfrm>
        </p:grpSpPr>
        <p:sp>
          <p:nvSpPr>
            <p:cNvPr id="18" name="Freeform 3"/>
            <p:cNvSpPr/>
            <p:nvPr/>
          </p:nvSpPr>
          <p:spPr>
            <a:xfrm>
              <a:off x="330" y="182"/>
              <a:ext cx="1640" cy="1604"/>
            </a:xfrm>
            <a:custGeom>
              <a:avLst/>
              <a:gdLst/>
              <a:ahLst/>
              <a:cxnLst/>
              <a:rect l="l" t="t" r="r" b="b"/>
              <a:pathLst>
                <a:path w="6263628" h="7097595">
                  <a:moveTo>
                    <a:pt x="0" y="0"/>
                  </a:moveTo>
                  <a:lnTo>
                    <a:pt x="6263628" y="0"/>
                  </a:lnTo>
                  <a:lnTo>
                    <a:pt x="6263628" y="7097595"/>
                  </a:lnTo>
                  <a:lnTo>
                    <a:pt x="0" y="7097595"/>
                  </a:lnTo>
                  <a:lnTo>
                    <a:pt x="0" y="0"/>
                  </a:lnTo>
                  <a:close/>
                </a:path>
              </a:pathLst>
            </a:custGeom>
            <a:blipFill>
              <a:blip r:embed="rId6"/>
              <a:stretch>
                <a:fillRect/>
              </a:stretch>
            </a:blipFill>
          </p:spPr>
        </p:sp>
        <p:pic>
          <p:nvPicPr>
            <p:cNvPr id="19" name="Picture 34"/>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6953" y="182"/>
              <a:ext cx="1920" cy="1604"/>
            </a:xfrm>
            <a:prstGeom prst="rect">
              <a:avLst/>
            </a:prstGeom>
          </p:spPr>
        </p:pic>
      </p:grpSp>
    </p:spTree>
    <p:extLst>
      <p:ext uri="{BB962C8B-B14F-4D97-AF65-F5344CB8AC3E}">
        <p14:creationId xmlns:p14="http://schemas.microsoft.com/office/powerpoint/2010/main" val="6330702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1"/>
        <p:cNvGrpSpPr/>
        <p:nvPr/>
      </p:nvGrpSpPr>
      <p:grpSpPr>
        <a:xfrm>
          <a:off x="0" y="0"/>
          <a:ext cx="0" cy="0"/>
          <a:chOff x="0" y="0"/>
          <a:chExt cx="0" cy="0"/>
        </a:xfrm>
      </p:grpSpPr>
      <p:sp>
        <p:nvSpPr>
          <p:cNvPr id="32" name="Google Shape;32;p4"/>
          <p:cNvSpPr/>
          <p:nvPr/>
        </p:nvSpPr>
        <p:spPr>
          <a:xfrm>
            <a:off x="0" y="0"/>
            <a:ext cx="9144000" cy="914400"/>
          </a:xfrm>
          <a:prstGeom prst="rect">
            <a:avLst/>
          </a:prstGeom>
          <a:solidFill>
            <a:srgbClr val="FFC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4"/>
          <p:cNvSpPr/>
          <p:nvPr/>
        </p:nvSpPr>
        <p:spPr>
          <a:xfrm>
            <a:off x="457200" y="137160"/>
            <a:ext cx="8229600" cy="640080"/>
          </a:xfrm>
          <a:prstGeom prst="rect">
            <a:avLst/>
          </a:prstGeom>
          <a:noFill/>
          <a:ln>
            <a:noFill/>
          </a:ln>
        </p:spPr>
        <p:txBody>
          <a:bodyPr spcFirstLastPara="1" wrap="square" lIns="91425" tIns="45700" rIns="91425" bIns="45700" anchor="ctr" anchorCtr="0">
            <a:noAutofit/>
          </a:bodyPr>
          <a:lstStyle/>
          <a:p>
            <a:pPr algn="ctr">
              <a:buClr>
                <a:srgbClr val="FFFFFF"/>
              </a:buClr>
              <a:buSzPts val="2200"/>
            </a:pPr>
            <a:r>
              <a:rPr lang="en-US" sz="2200" b="1" i="0" u="none" strike="noStrike" cap="none" dirty="0">
                <a:solidFill>
                  <a:srgbClr val="FFFFFF"/>
                </a:solidFill>
                <a:latin typeface="Calibri"/>
                <a:ea typeface="Calibri"/>
                <a:cs typeface="Calibri"/>
                <a:sym typeface="Calibri"/>
              </a:rPr>
              <a:t>Traitement (</a:t>
            </a:r>
            <a:r>
              <a:rPr lang="fr-FR" sz="2400" b="1" dirty="0">
                <a:solidFill>
                  <a:schemeClr val="bg1"/>
                </a:solidFill>
                <a:latin typeface="Calibri" panose="020F0502020204030204" pitchFamily="34" charset="0"/>
                <a:cs typeface="Calibri" panose="020F0502020204030204" pitchFamily="34" charset="0"/>
              </a:rPr>
              <a:t>Intégration des technologies anti-falsification </a:t>
            </a:r>
            <a:r>
              <a:rPr lang="en-US" sz="2200" b="1" i="0" u="none" strike="noStrike" cap="none" dirty="0">
                <a:solidFill>
                  <a:srgbClr val="FFFFFF"/>
                </a:solidFill>
                <a:latin typeface="Calibri"/>
                <a:ea typeface="Calibri"/>
                <a:cs typeface="Calibri"/>
                <a:sym typeface="Calibri"/>
              </a:rPr>
              <a:t>)…</a:t>
            </a:r>
            <a:endParaRPr sz="2200" b="0" i="0" u="none" strike="noStrike" cap="none" dirty="0">
              <a:solidFill>
                <a:schemeClr val="dk1"/>
              </a:solidFill>
              <a:latin typeface="Calibri"/>
              <a:ea typeface="Calibri"/>
              <a:cs typeface="Calibri"/>
              <a:sym typeface="Calibri"/>
            </a:endParaRPr>
          </a:p>
        </p:txBody>
      </p:sp>
      <p:sp>
        <p:nvSpPr>
          <p:cNvPr id="34" name="Google Shape;34;p4"/>
          <p:cNvSpPr/>
          <p:nvPr/>
        </p:nvSpPr>
        <p:spPr>
          <a:xfrm>
            <a:off x="0" y="4694174"/>
            <a:ext cx="9144000" cy="480060"/>
          </a:xfrm>
          <a:prstGeom prst="rect">
            <a:avLst/>
          </a:prstGeom>
          <a:solidFill>
            <a:srgbClr val="FFC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4"/>
          <p:cNvSpPr/>
          <p:nvPr/>
        </p:nvSpPr>
        <p:spPr>
          <a:xfrm>
            <a:off x="457200" y="4709160"/>
            <a:ext cx="640080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ADCFC"/>
              </a:buClr>
              <a:buSzPts val="900"/>
              <a:buFont typeface="Calibri"/>
              <a:buNone/>
            </a:pPr>
            <a:r>
              <a:rPr lang="en-US" sz="900" b="0" i="0" u="none" strike="noStrike" cap="none">
                <a:solidFill>
                  <a:srgbClr val="CADCFC"/>
                </a:solidFill>
                <a:latin typeface="Calibri"/>
                <a:ea typeface="Calibri"/>
                <a:cs typeface="Calibri"/>
                <a:sym typeface="Calibri"/>
              </a:rPr>
              <a:t>MINDEF - Direction des Ressources Humaines</a:t>
            </a:r>
            <a:endParaRPr sz="900" b="0" i="0" u="none" strike="noStrike" cap="none">
              <a:solidFill>
                <a:schemeClr val="dk1"/>
              </a:solidFill>
              <a:latin typeface="Calibri"/>
              <a:ea typeface="Calibri"/>
              <a:cs typeface="Calibri"/>
              <a:sym typeface="Calibri"/>
            </a:endParaRPr>
          </a:p>
        </p:txBody>
      </p:sp>
      <p:sp>
        <p:nvSpPr>
          <p:cNvPr id="36" name="Google Shape;36;p4"/>
          <p:cNvSpPr/>
          <p:nvPr/>
        </p:nvSpPr>
        <p:spPr>
          <a:xfrm>
            <a:off x="7772400" y="4709160"/>
            <a:ext cx="914400" cy="365760"/>
          </a:xfrm>
          <a:prstGeom prst="rect">
            <a:avLst/>
          </a:prstGeom>
          <a:noFill/>
          <a:ln>
            <a:noFill/>
          </a:ln>
        </p:spPr>
        <p:txBody>
          <a:bodyPr spcFirstLastPara="1" wrap="square" lIns="91425" tIns="45700" rIns="91425" bIns="45700" anchor="ctr" anchorCtr="0">
            <a:noAutofit/>
          </a:bodyPr>
          <a:lstStyle/>
          <a:p>
            <a:pPr lvl="0" algn="r">
              <a:buClr>
                <a:srgbClr val="CADCFC"/>
              </a:buClr>
              <a:buSzPts val="900"/>
            </a:pPr>
            <a:r>
              <a:rPr lang="en-US" sz="900" dirty="0">
                <a:solidFill>
                  <a:srgbClr val="CADCFC"/>
                </a:solidFill>
                <a:latin typeface="Calibri"/>
                <a:ea typeface="Calibri"/>
                <a:cs typeface="Calibri"/>
                <a:sym typeface="Calibri"/>
              </a:rPr>
              <a:t>9 / 27</a:t>
            </a:r>
            <a:endParaRPr lang="en-US" sz="900" dirty="0">
              <a:solidFill>
                <a:schemeClr val="dk1"/>
              </a:solidFill>
              <a:latin typeface="Calibri"/>
              <a:ea typeface="Calibri"/>
              <a:cs typeface="Calibri"/>
              <a:sym typeface="Calibri"/>
            </a:endParaRPr>
          </a:p>
        </p:txBody>
      </p:sp>
      <p:sp>
        <p:nvSpPr>
          <p:cNvPr id="37" name="Google Shape;37;p4"/>
          <p:cNvSpPr/>
          <p:nvPr/>
        </p:nvSpPr>
        <p:spPr>
          <a:xfrm>
            <a:off x="457200" y="1188720"/>
            <a:ext cx="8229600" cy="3200400"/>
          </a:xfrm>
          <a:prstGeom prst="rect">
            <a:avLst/>
          </a:prstGeom>
          <a:solidFill>
            <a:srgbClr val="F0F4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4"/>
          <p:cNvSpPr/>
          <p:nvPr/>
        </p:nvSpPr>
        <p:spPr>
          <a:xfrm>
            <a:off x="457200" y="3657600"/>
            <a:ext cx="54864" cy="731520"/>
          </a:xfrm>
          <a:prstGeom prst="rect">
            <a:avLst/>
          </a:prstGeom>
          <a:solidFill>
            <a:srgbClr val="3A8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4"/>
          <p:cNvSpPr/>
          <p:nvPr/>
        </p:nvSpPr>
        <p:spPr>
          <a:xfrm>
            <a:off x="731520" y="3383280"/>
            <a:ext cx="7772400" cy="731520"/>
          </a:xfrm>
          <a:prstGeom prst="rect">
            <a:avLst/>
          </a:prstGeom>
          <a:noFill/>
          <a:ln>
            <a:noFill/>
          </a:ln>
        </p:spPr>
        <p:txBody>
          <a:bodyPr spcFirstLastPara="1" wrap="square" lIns="91425" tIns="45700" rIns="91425" bIns="45700" anchor="ctr" anchorCtr="0">
            <a:noAutofit/>
          </a:bodyPr>
          <a:lstStyle/>
          <a:p>
            <a:pPr marL="0" marR="0" lvl="0" indent="0" algn="just" rtl="0">
              <a:spcBef>
                <a:spcPts val="0"/>
              </a:spcBef>
              <a:spcAft>
                <a:spcPts val="0"/>
              </a:spcAft>
              <a:buClr>
                <a:srgbClr val="1E2761"/>
              </a:buClr>
              <a:buSzPts val="1300"/>
              <a:buFont typeface="Calibri"/>
              <a:buNone/>
            </a:pPr>
            <a:endParaRPr sz="1300" b="0" i="0" u="none" strike="noStrike" cap="none" dirty="0">
              <a:solidFill>
                <a:schemeClr val="dk1"/>
              </a:solidFill>
              <a:latin typeface="Calibri"/>
              <a:ea typeface="Calibri"/>
              <a:cs typeface="Calibri"/>
              <a:sym typeface="Calibri"/>
            </a:endParaRPr>
          </a:p>
        </p:txBody>
      </p:sp>
      <p:sp>
        <p:nvSpPr>
          <p:cNvPr id="4" name="ZoneTexte 3"/>
          <p:cNvSpPr txBox="1"/>
          <p:nvPr/>
        </p:nvSpPr>
        <p:spPr>
          <a:xfrm>
            <a:off x="3031921" y="3417002"/>
            <a:ext cx="1972800" cy="307777"/>
          </a:xfrm>
          <a:prstGeom prst="rect">
            <a:avLst/>
          </a:prstGeom>
          <a:noFill/>
        </p:spPr>
        <p:txBody>
          <a:bodyPr wrap="square" rtlCol="0">
            <a:spAutoFit/>
          </a:bodyPr>
          <a:lstStyle/>
          <a:p>
            <a:pPr algn="ctr"/>
            <a:r>
              <a:rPr lang="fr-FR" dirty="0">
                <a:latin typeface="Calibri" panose="020F0502020204030204" pitchFamily="34" charset="0"/>
                <a:cs typeface="Calibri" panose="020F0502020204030204" pitchFamily="34" charset="0"/>
              </a:rPr>
              <a:t>Matricule </a:t>
            </a:r>
            <a:r>
              <a:rPr lang="fr-FR" dirty="0" err="1">
                <a:latin typeface="Calibri" panose="020F0502020204030204" pitchFamily="34" charset="0"/>
                <a:cs typeface="Calibri" panose="020F0502020204030204" pitchFamily="34" charset="0"/>
              </a:rPr>
              <a:t>Watermark</a:t>
            </a:r>
            <a:endParaRPr lang="fr-FR" dirty="0">
              <a:latin typeface="Calibri" panose="020F0502020204030204" pitchFamily="34" charset="0"/>
              <a:cs typeface="Calibri" panose="020F0502020204030204" pitchFamily="34" charset="0"/>
            </a:endParaRPr>
          </a:p>
        </p:txBody>
      </p:sp>
      <p:pic>
        <p:nvPicPr>
          <p:cNvPr id="5" name="Imag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03040" y="1268883"/>
            <a:ext cx="3819600" cy="2067956"/>
          </a:xfrm>
          <a:prstGeom prst="rect">
            <a:avLst/>
          </a:prstGeom>
        </p:spPr>
      </p:pic>
      <p:sp>
        <p:nvSpPr>
          <p:cNvPr id="15" name="Google Shape;41;p4"/>
          <p:cNvSpPr/>
          <p:nvPr/>
        </p:nvSpPr>
        <p:spPr>
          <a:xfrm>
            <a:off x="713232" y="3657600"/>
            <a:ext cx="7772400" cy="731520"/>
          </a:xfrm>
          <a:prstGeom prst="rect">
            <a:avLst/>
          </a:prstGeom>
          <a:noFill/>
          <a:ln>
            <a:noFill/>
          </a:ln>
        </p:spPr>
        <p:txBody>
          <a:bodyPr spcFirstLastPara="1" wrap="square" lIns="91425" tIns="45700" rIns="91425" bIns="45700" anchor="ctr" anchorCtr="0">
            <a:noAutofit/>
          </a:bodyPr>
          <a:lstStyle/>
          <a:p>
            <a:pPr marL="0" marR="0" lvl="0" indent="0" algn="just" rtl="0">
              <a:spcBef>
                <a:spcPts val="0"/>
              </a:spcBef>
              <a:spcAft>
                <a:spcPts val="0"/>
              </a:spcAft>
              <a:buClr>
                <a:srgbClr val="1E2761"/>
              </a:buClr>
              <a:buSzPts val="1300"/>
              <a:buFont typeface="Calibri"/>
              <a:buNone/>
            </a:pPr>
            <a:r>
              <a:rPr lang="en-US" sz="1300" b="1" i="1" u="none" strike="noStrike" cap="none" dirty="0" err="1">
                <a:solidFill>
                  <a:srgbClr val="1E2761"/>
                </a:solidFill>
                <a:latin typeface="Calibri"/>
                <a:ea typeface="Calibri"/>
                <a:cs typeface="Calibri"/>
                <a:sym typeface="Calibri"/>
              </a:rPr>
              <a:t>Ces</a:t>
            </a:r>
            <a:r>
              <a:rPr lang="en-US" sz="1300" b="1" i="1" u="none" strike="noStrike" cap="none" dirty="0">
                <a:solidFill>
                  <a:srgbClr val="1E2761"/>
                </a:solidFill>
                <a:latin typeface="Calibri"/>
                <a:ea typeface="Calibri"/>
                <a:cs typeface="Calibri"/>
                <a:sym typeface="Calibri"/>
              </a:rPr>
              <a:t> technologies anti-falsification font </a:t>
            </a:r>
            <a:r>
              <a:rPr lang="en-US" sz="1300" b="1" i="1" u="none" strike="noStrike" cap="none" dirty="0" err="1">
                <a:solidFill>
                  <a:srgbClr val="1E2761"/>
                </a:solidFill>
                <a:latin typeface="Calibri"/>
                <a:ea typeface="Calibri"/>
                <a:cs typeface="Calibri"/>
                <a:sym typeface="Calibri"/>
              </a:rPr>
              <a:t>partie</a:t>
            </a:r>
            <a:r>
              <a:rPr lang="en-US" sz="1300" b="1" i="1" u="none" strike="noStrike" cap="none" dirty="0">
                <a:solidFill>
                  <a:srgbClr val="1E2761"/>
                </a:solidFill>
                <a:latin typeface="Calibri"/>
                <a:ea typeface="Calibri"/>
                <a:cs typeface="Calibri"/>
                <a:sym typeface="Calibri"/>
              </a:rPr>
              <a:t> </a:t>
            </a:r>
            <a:r>
              <a:rPr lang="en-US" sz="1300" b="1" i="1" u="none" strike="noStrike" cap="none" dirty="0" err="1">
                <a:solidFill>
                  <a:srgbClr val="1E2761"/>
                </a:solidFill>
                <a:latin typeface="Calibri"/>
                <a:ea typeface="Calibri"/>
                <a:cs typeface="Calibri"/>
                <a:sym typeface="Calibri"/>
              </a:rPr>
              <a:t>intégrante</a:t>
            </a:r>
            <a:r>
              <a:rPr lang="en-US" sz="1300" b="1" i="1" u="none" strike="noStrike" cap="none" dirty="0">
                <a:solidFill>
                  <a:srgbClr val="1E2761"/>
                </a:solidFill>
                <a:latin typeface="Calibri"/>
                <a:ea typeface="Calibri"/>
                <a:cs typeface="Calibri"/>
                <a:sym typeface="Calibri"/>
              </a:rPr>
              <a:t> des </a:t>
            </a:r>
            <a:r>
              <a:rPr lang="en-US" sz="1300" b="1" i="1" u="none" strike="noStrike" cap="none" dirty="0" err="1">
                <a:solidFill>
                  <a:srgbClr val="1E2761"/>
                </a:solidFill>
                <a:latin typeface="Calibri"/>
                <a:ea typeface="Calibri"/>
                <a:cs typeface="Calibri"/>
                <a:sym typeface="Calibri"/>
              </a:rPr>
              <a:t>principes</a:t>
            </a:r>
            <a:r>
              <a:rPr lang="en-US" sz="1300" b="1" i="1" u="none" strike="noStrike" cap="none" dirty="0">
                <a:solidFill>
                  <a:srgbClr val="1E2761"/>
                </a:solidFill>
                <a:latin typeface="Calibri"/>
                <a:ea typeface="Calibri"/>
                <a:cs typeface="Calibri"/>
                <a:sym typeface="Calibri"/>
              </a:rPr>
              <a:t> de </a:t>
            </a:r>
            <a:r>
              <a:rPr lang="en-US" sz="1300" b="1" i="1" u="none" strike="noStrike" cap="none" dirty="0" err="1">
                <a:solidFill>
                  <a:srgbClr val="1E2761"/>
                </a:solidFill>
                <a:latin typeface="Calibri"/>
                <a:ea typeface="Calibri"/>
                <a:cs typeface="Calibri"/>
                <a:sym typeface="Calibri"/>
              </a:rPr>
              <a:t>sécurité</a:t>
            </a:r>
            <a:r>
              <a:rPr lang="en-US" sz="1300" b="1" i="1" u="none" strike="noStrike" cap="none" dirty="0">
                <a:solidFill>
                  <a:srgbClr val="1E2761"/>
                </a:solidFill>
                <a:latin typeface="Calibri"/>
                <a:ea typeface="Calibri"/>
                <a:cs typeface="Calibri"/>
                <a:sym typeface="Calibri"/>
              </a:rPr>
              <a:t> </a:t>
            </a:r>
            <a:r>
              <a:rPr lang="en-US" sz="1300" b="1" i="1" u="none" strike="noStrike" cap="none" dirty="0" err="1">
                <a:solidFill>
                  <a:srgbClr val="1E2761"/>
                </a:solidFill>
                <a:latin typeface="Calibri"/>
                <a:ea typeface="Calibri"/>
                <a:cs typeface="Calibri"/>
                <a:sym typeface="Calibri"/>
              </a:rPr>
              <a:t>établis</a:t>
            </a:r>
            <a:r>
              <a:rPr lang="en-US" sz="1300" b="1" i="1" u="none" strike="noStrike" cap="none" dirty="0">
                <a:solidFill>
                  <a:srgbClr val="1E2761"/>
                </a:solidFill>
                <a:latin typeface="Calibri"/>
                <a:ea typeface="Calibri"/>
                <a:cs typeface="Calibri"/>
                <a:sym typeface="Calibri"/>
              </a:rPr>
              <a:t> </a:t>
            </a:r>
            <a:r>
              <a:rPr lang="en-US" sz="1300" b="1" i="1" u="none" strike="noStrike" cap="none" dirty="0" err="1">
                <a:solidFill>
                  <a:srgbClr val="1E2761"/>
                </a:solidFill>
                <a:latin typeface="Calibri"/>
                <a:ea typeface="Calibri"/>
                <a:cs typeface="Calibri"/>
                <a:sym typeface="Calibri"/>
              </a:rPr>
              <a:t>dans</a:t>
            </a:r>
            <a:r>
              <a:rPr lang="en-US" sz="1300" b="1" i="1" u="none" strike="noStrike" cap="none" dirty="0">
                <a:solidFill>
                  <a:srgbClr val="1E2761"/>
                </a:solidFill>
                <a:latin typeface="Calibri"/>
                <a:ea typeface="Calibri"/>
                <a:cs typeface="Calibri"/>
                <a:sym typeface="Calibri"/>
              </a:rPr>
              <a:t> </a:t>
            </a:r>
            <a:r>
              <a:rPr lang="en-US" sz="1300" b="1" i="1" u="none" strike="noStrike" cap="none" dirty="0" err="1">
                <a:solidFill>
                  <a:srgbClr val="1E2761"/>
                </a:solidFill>
                <a:latin typeface="Calibri"/>
                <a:ea typeface="Calibri"/>
                <a:cs typeface="Calibri"/>
                <a:sym typeface="Calibri"/>
              </a:rPr>
              <a:t>l’application</a:t>
            </a:r>
            <a:r>
              <a:rPr lang="en-US" sz="1300" b="1" i="1" u="none" strike="noStrike" cap="none" dirty="0">
                <a:solidFill>
                  <a:srgbClr val="1E2761"/>
                </a:solidFill>
                <a:latin typeface="Calibri"/>
                <a:ea typeface="Calibri"/>
                <a:cs typeface="Calibri"/>
                <a:sym typeface="Calibri"/>
              </a:rPr>
              <a:t>.</a:t>
            </a:r>
            <a:endParaRPr sz="1300" b="0" i="0" u="none" strike="noStrike" cap="none" dirty="0">
              <a:solidFill>
                <a:schemeClr val="dk1"/>
              </a:solidFill>
              <a:latin typeface="Calibri"/>
              <a:ea typeface="Calibri"/>
              <a:cs typeface="Calibri"/>
              <a:sym typeface="Calibri"/>
            </a:endParaRPr>
          </a:p>
        </p:txBody>
      </p:sp>
      <p:pic>
        <p:nvPicPr>
          <p:cNvPr id="16" name="Image 15">
            <a:extLst>
              <a:ext uri="{FF2B5EF4-FFF2-40B4-BE49-F238E27FC236}">
                <a16:creationId xmlns:a16="http://schemas.microsoft.com/office/drawing/2014/main" id="{2E15D5BF-F589-0348-B3D3-A02FDA596A9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87699" y="3848354"/>
            <a:ext cx="1147741" cy="860806"/>
          </a:xfrm>
          <a:prstGeom prst="rect">
            <a:avLst/>
          </a:prstGeom>
          <a:ln>
            <a:noFill/>
          </a:ln>
          <a:effectLst>
            <a:softEdge rad="112500"/>
          </a:effectLst>
        </p:spPr>
      </p:pic>
      <p:grpSp>
        <p:nvGrpSpPr>
          <p:cNvPr id="18" name="Group 32"/>
          <p:cNvGrpSpPr/>
          <p:nvPr/>
        </p:nvGrpSpPr>
        <p:grpSpPr>
          <a:xfrm>
            <a:off x="60960" y="100025"/>
            <a:ext cx="9083040" cy="778837"/>
            <a:chOff x="330" y="182"/>
            <a:chExt cx="18543" cy="1604"/>
          </a:xfrm>
        </p:grpSpPr>
        <p:sp>
          <p:nvSpPr>
            <p:cNvPr id="19" name="Freeform 3"/>
            <p:cNvSpPr/>
            <p:nvPr/>
          </p:nvSpPr>
          <p:spPr>
            <a:xfrm>
              <a:off x="330" y="182"/>
              <a:ext cx="1640" cy="1604"/>
            </a:xfrm>
            <a:custGeom>
              <a:avLst/>
              <a:gdLst/>
              <a:ahLst/>
              <a:cxnLst/>
              <a:rect l="l" t="t" r="r" b="b"/>
              <a:pathLst>
                <a:path w="6263628" h="7097595">
                  <a:moveTo>
                    <a:pt x="0" y="0"/>
                  </a:moveTo>
                  <a:lnTo>
                    <a:pt x="6263628" y="0"/>
                  </a:lnTo>
                  <a:lnTo>
                    <a:pt x="6263628" y="7097595"/>
                  </a:lnTo>
                  <a:lnTo>
                    <a:pt x="0" y="7097595"/>
                  </a:lnTo>
                  <a:lnTo>
                    <a:pt x="0" y="0"/>
                  </a:lnTo>
                  <a:close/>
                </a:path>
              </a:pathLst>
            </a:custGeom>
            <a:blipFill>
              <a:blip r:embed="rId5"/>
              <a:stretch>
                <a:fillRect/>
              </a:stretch>
            </a:blipFill>
          </p:spPr>
        </p:sp>
        <p:pic>
          <p:nvPicPr>
            <p:cNvPr id="20" name="Picture 3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6953" y="182"/>
              <a:ext cx="1920" cy="1604"/>
            </a:xfrm>
            <a:prstGeom prst="rect">
              <a:avLst/>
            </a:prstGeom>
          </p:spPr>
        </p:pic>
      </p:grpSp>
    </p:spTree>
    <p:extLst>
      <p:ext uri="{BB962C8B-B14F-4D97-AF65-F5344CB8AC3E}">
        <p14:creationId xmlns:p14="http://schemas.microsoft.com/office/powerpoint/2010/main" val="37124050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1"/>
        <p:cNvGrpSpPr/>
        <p:nvPr/>
      </p:nvGrpSpPr>
      <p:grpSpPr>
        <a:xfrm>
          <a:off x="0" y="0"/>
          <a:ext cx="0" cy="0"/>
          <a:chOff x="0" y="0"/>
          <a:chExt cx="0" cy="0"/>
        </a:xfrm>
      </p:grpSpPr>
      <p:sp>
        <p:nvSpPr>
          <p:cNvPr id="32" name="Google Shape;32;p4"/>
          <p:cNvSpPr/>
          <p:nvPr/>
        </p:nvSpPr>
        <p:spPr>
          <a:xfrm>
            <a:off x="0" y="0"/>
            <a:ext cx="9144000" cy="914400"/>
          </a:xfrm>
          <a:prstGeom prst="rect">
            <a:avLst/>
          </a:prstGeom>
          <a:solidFill>
            <a:srgbClr val="1384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4"/>
          <p:cNvSpPr/>
          <p:nvPr/>
        </p:nvSpPr>
        <p:spPr>
          <a:xfrm>
            <a:off x="457200" y="137160"/>
            <a:ext cx="8229600" cy="6400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2200"/>
              <a:buFont typeface="Calibri"/>
              <a:buNone/>
            </a:pPr>
            <a:r>
              <a:rPr lang="en-US" sz="2200" b="1" i="0" u="none" strike="noStrike" cap="none" dirty="0">
                <a:solidFill>
                  <a:srgbClr val="FFFFFF"/>
                </a:solidFill>
                <a:latin typeface="Calibri"/>
                <a:ea typeface="Calibri"/>
                <a:cs typeface="Calibri"/>
                <a:sym typeface="Calibri"/>
              </a:rPr>
              <a:t>En sortie (</a:t>
            </a:r>
            <a:r>
              <a:rPr lang="en-US" sz="2200" b="1" i="0" u="none" strike="noStrike" cap="none" dirty="0" err="1">
                <a:solidFill>
                  <a:srgbClr val="FFFFFF"/>
                </a:solidFill>
                <a:latin typeface="Calibri"/>
                <a:ea typeface="Calibri"/>
                <a:cs typeface="Calibri"/>
                <a:sym typeface="Calibri"/>
              </a:rPr>
              <a:t>Génération</a:t>
            </a:r>
            <a:r>
              <a:rPr lang="en-US" sz="2200" b="1" i="0" u="none" strike="noStrike" cap="none" dirty="0">
                <a:solidFill>
                  <a:srgbClr val="FFFFFF"/>
                </a:solidFill>
                <a:latin typeface="Calibri"/>
                <a:ea typeface="Calibri"/>
                <a:cs typeface="Calibri"/>
                <a:sym typeface="Calibri"/>
              </a:rPr>
              <a:t> des </a:t>
            </a:r>
            <a:r>
              <a:rPr lang="en-US" sz="2200" b="1" i="0" u="none" strike="noStrike" cap="none" dirty="0" err="1">
                <a:solidFill>
                  <a:srgbClr val="FFFFFF"/>
                </a:solidFill>
                <a:latin typeface="Calibri"/>
                <a:ea typeface="Calibri"/>
                <a:cs typeface="Calibri"/>
                <a:sym typeface="Calibri"/>
              </a:rPr>
              <a:t>cartes</a:t>
            </a:r>
            <a:r>
              <a:rPr lang="en-US" sz="2200" b="1" i="0" u="none" strike="noStrike" cap="none" dirty="0">
                <a:solidFill>
                  <a:srgbClr val="FFFFFF"/>
                </a:solidFill>
                <a:latin typeface="Calibri"/>
                <a:ea typeface="Calibri"/>
                <a:cs typeface="Calibri"/>
                <a:sym typeface="Calibri"/>
              </a:rPr>
              <a:t> </a:t>
            </a:r>
            <a:r>
              <a:rPr lang="en-US" sz="2200" b="1" i="0" u="none" strike="noStrike" cap="none" dirty="0" err="1">
                <a:solidFill>
                  <a:srgbClr val="FFFFFF"/>
                </a:solidFill>
                <a:latin typeface="Calibri"/>
                <a:ea typeface="Calibri"/>
                <a:cs typeface="Calibri"/>
                <a:sym typeface="Calibri"/>
              </a:rPr>
              <a:t>numériques</a:t>
            </a:r>
            <a:r>
              <a:rPr lang="en-US" sz="2200" b="1" i="0" u="none" strike="noStrike" cap="none" dirty="0">
                <a:solidFill>
                  <a:srgbClr val="FFFFFF"/>
                </a:solidFill>
                <a:latin typeface="Calibri"/>
                <a:ea typeface="Calibri"/>
                <a:cs typeface="Calibri"/>
                <a:sym typeface="Calibri"/>
              </a:rPr>
              <a:t>)…</a:t>
            </a:r>
            <a:endParaRPr sz="2200" b="0" i="0" u="none" strike="noStrike" cap="none" dirty="0">
              <a:solidFill>
                <a:schemeClr val="dk1"/>
              </a:solidFill>
              <a:latin typeface="Calibri"/>
              <a:ea typeface="Calibri"/>
              <a:cs typeface="Calibri"/>
              <a:sym typeface="Calibri"/>
            </a:endParaRPr>
          </a:p>
        </p:txBody>
      </p:sp>
      <p:sp>
        <p:nvSpPr>
          <p:cNvPr id="34" name="Google Shape;34;p4"/>
          <p:cNvSpPr/>
          <p:nvPr/>
        </p:nvSpPr>
        <p:spPr>
          <a:xfrm>
            <a:off x="0" y="4686300"/>
            <a:ext cx="9144000" cy="480060"/>
          </a:xfrm>
          <a:prstGeom prst="rect">
            <a:avLst/>
          </a:prstGeom>
          <a:solidFill>
            <a:srgbClr val="1384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4"/>
          <p:cNvSpPr/>
          <p:nvPr/>
        </p:nvSpPr>
        <p:spPr>
          <a:xfrm>
            <a:off x="457200" y="4709160"/>
            <a:ext cx="640080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ADCFC"/>
              </a:buClr>
              <a:buSzPts val="900"/>
              <a:buFont typeface="Calibri"/>
              <a:buNone/>
            </a:pPr>
            <a:r>
              <a:rPr lang="en-US" sz="900" b="0" i="0" u="none" strike="noStrike" cap="none">
                <a:solidFill>
                  <a:srgbClr val="CADCFC"/>
                </a:solidFill>
                <a:latin typeface="Calibri"/>
                <a:ea typeface="Calibri"/>
                <a:cs typeface="Calibri"/>
                <a:sym typeface="Calibri"/>
              </a:rPr>
              <a:t>MINDEF - Direction des Ressources Humaines</a:t>
            </a:r>
            <a:endParaRPr sz="900" b="0" i="0" u="none" strike="noStrike" cap="none">
              <a:solidFill>
                <a:schemeClr val="dk1"/>
              </a:solidFill>
              <a:latin typeface="Calibri"/>
              <a:ea typeface="Calibri"/>
              <a:cs typeface="Calibri"/>
              <a:sym typeface="Calibri"/>
            </a:endParaRPr>
          </a:p>
        </p:txBody>
      </p:sp>
      <p:sp>
        <p:nvSpPr>
          <p:cNvPr id="36" name="Google Shape;36;p4"/>
          <p:cNvSpPr/>
          <p:nvPr/>
        </p:nvSpPr>
        <p:spPr>
          <a:xfrm>
            <a:off x="7772400" y="4709160"/>
            <a:ext cx="914400" cy="365760"/>
          </a:xfrm>
          <a:prstGeom prst="rect">
            <a:avLst/>
          </a:prstGeom>
          <a:noFill/>
          <a:ln>
            <a:noFill/>
          </a:ln>
        </p:spPr>
        <p:txBody>
          <a:bodyPr spcFirstLastPara="1" wrap="square" lIns="91425" tIns="45700" rIns="91425" bIns="45700" anchor="ctr" anchorCtr="0">
            <a:noAutofit/>
          </a:bodyPr>
          <a:lstStyle/>
          <a:p>
            <a:pPr lvl="0" algn="r">
              <a:buClr>
                <a:srgbClr val="CADCFC"/>
              </a:buClr>
              <a:buSzPts val="900"/>
            </a:pPr>
            <a:r>
              <a:rPr lang="en-US" sz="900" dirty="0">
                <a:solidFill>
                  <a:srgbClr val="CADCFC"/>
                </a:solidFill>
                <a:latin typeface="Calibri"/>
                <a:ea typeface="Calibri"/>
                <a:cs typeface="Calibri"/>
                <a:sym typeface="Calibri"/>
              </a:rPr>
              <a:t>10</a:t>
            </a:r>
            <a:r>
              <a:rPr lang="en-US" sz="900" b="0" i="0" u="none" strike="noStrike" cap="none" dirty="0">
                <a:solidFill>
                  <a:srgbClr val="CADCFC"/>
                </a:solidFill>
                <a:latin typeface="Calibri"/>
                <a:ea typeface="Calibri"/>
                <a:cs typeface="Calibri"/>
                <a:sym typeface="Calibri"/>
              </a:rPr>
              <a:t> / </a:t>
            </a:r>
            <a:r>
              <a:rPr lang="en-US" sz="900" dirty="0">
                <a:solidFill>
                  <a:srgbClr val="CADCFC"/>
                </a:solidFill>
                <a:latin typeface="Calibri"/>
                <a:ea typeface="Calibri"/>
                <a:cs typeface="Calibri"/>
                <a:sym typeface="Calibri"/>
              </a:rPr>
              <a:t>27</a:t>
            </a:r>
            <a:endParaRPr lang="en-US" sz="900" dirty="0">
              <a:solidFill>
                <a:schemeClr val="dk1"/>
              </a:solidFill>
              <a:latin typeface="Calibri"/>
              <a:ea typeface="Calibri"/>
              <a:cs typeface="Calibri"/>
              <a:sym typeface="Calibri"/>
            </a:endParaRPr>
          </a:p>
        </p:txBody>
      </p:sp>
      <p:sp>
        <p:nvSpPr>
          <p:cNvPr id="41" name="Google Shape;41;p4"/>
          <p:cNvSpPr/>
          <p:nvPr/>
        </p:nvSpPr>
        <p:spPr>
          <a:xfrm>
            <a:off x="731520" y="3383280"/>
            <a:ext cx="7772400" cy="731520"/>
          </a:xfrm>
          <a:prstGeom prst="rect">
            <a:avLst/>
          </a:prstGeom>
          <a:noFill/>
          <a:ln>
            <a:noFill/>
          </a:ln>
        </p:spPr>
        <p:txBody>
          <a:bodyPr spcFirstLastPara="1" wrap="square" lIns="91425" tIns="45700" rIns="91425" bIns="45700" anchor="ctr" anchorCtr="0">
            <a:noAutofit/>
          </a:bodyPr>
          <a:lstStyle/>
          <a:p>
            <a:pPr marL="0" marR="0" lvl="0" indent="0" algn="just" rtl="0">
              <a:spcBef>
                <a:spcPts val="0"/>
              </a:spcBef>
              <a:spcAft>
                <a:spcPts val="0"/>
              </a:spcAft>
              <a:buClr>
                <a:srgbClr val="1E2761"/>
              </a:buClr>
              <a:buSzPts val="1300"/>
              <a:buFont typeface="Calibri"/>
              <a:buNone/>
            </a:pPr>
            <a:endParaRPr sz="1300" b="0" i="0" u="none" strike="noStrike" cap="none" dirty="0">
              <a:solidFill>
                <a:schemeClr val="dk1"/>
              </a:solidFill>
              <a:latin typeface="Calibri"/>
              <a:ea typeface="Calibri"/>
              <a:cs typeface="Calibri"/>
              <a:sym typeface="Calibri"/>
            </a:endParaRPr>
          </a:p>
        </p:txBody>
      </p:sp>
      <p:pic>
        <p:nvPicPr>
          <p:cNvPr id="3" name="Imag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 y="1051560"/>
            <a:ext cx="4568640" cy="3139440"/>
          </a:xfrm>
          <a:prstGeom prst="rect">
            <a:avLst/>
          </a:prstGeom>
        </p:spPr>
      </p:pic>
      <p:pic>
        <p:nvPicPr>
          <p:cNvPr id="4" name="Imag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12868" y="1051560"/>
            <a:ext cx="4370172" cy="3139440"/>
          </a:xfrm>
          <a:prstGeom prst="rect">
            <a:avLst/>
          </a:prstGeom>
        </p:spPr>
      </p:pic>
      <p:grpSp>
        <p:nvGrpSpPr>
          <p:cNvPr id="13" name="Group 32"/>
          <p:cNvGrpSpPr/>
          <p:nvPr/>
        </p:nvGrpSpPr>
        <p:grpSpPr>
          <a:xfrm>
            <a:off x="60960" y="89843"/>
            <a:ext cx="9022080" cy="778837"/>
            <a:chOff x="330" y="182"/>
            <a:chExt cx="18543" cy="1604"/>
          </a:xfrm>
        </p:grpSpPr>
        <p:sp>
          <p:nvSpPr>
            <p:cNvPr id="14" name="Freeform 3"/>
            <p:cNvSpPr/>
            <p:nvPr/>
          </p:nvSpPr>
          <p:spPr>
            <a:xfrm>
              <a:off x="330" y="182"/>
              <a:ext cx="1640" cy="1604"/>
            </a:xfrm>
            <a:custGeom>
              <a:avLst/>
              <a:gdLst/>
              <a:ahLst/>
              <a:cxnLst/>
              <a:rect l="l" t="t" r="r" b="b"/>
              <a:pathLst>
                <a:path w="6263628" h="7097595">
                  <a:moveTo>
                    <a:pt x="0" y="0"/>
                  </a:moveTo>
                  <a:lnTo>
                    <a:pt x="6263628" y="0"/>
                  </a:lnTo>
                  <a:lnTo>
                    <a:pt x="6263628" y="7097595"/>
                  </a:lnTo>
                  <a:lnTo>
                    <a:pt x="0" y="7097595"/>
                  </a:lnTo>
                  <a:lnTo>
                    <a:pt x="0" y="0"/>
                  </a:lnTo>
                  <a:close/>
                </a:path>
              </a:pathLst>
            </a:custGeom>
            <a:blipFill>
              <a:blip r:embed="rId5"/>
              <a:stretch>
                <a:fillRect/>
              </a:stretch>
            </a:blipFill>
          </p:spPr>
        </p:sp>
        <p:pic>
          <p:nvPicPr>
            <p:cNvPr id="15" name="Picture 3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6953" y="182"/>
              <a:ext cx="1920" cy="1604"/>
            </a:xfrm>
            <a:prstGeom prst="rect">
              <a:avLst/>
            </a:prstGeom>
          </p:spPr>
        </p:pic>
      </p:grpSp>
    </p:spTree>
    <p:extLst>
      <p:ext uri="{BB962C8B-B14F-4D97-AF65-F5344CB8AC3E}">
        <p14:creationId xmlns:p14="http://schemas.microsoft.com/office/powerpoint/2010/main" val="30363080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9143771" cy="82296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 name="TextBox 2"/>
          <p:cNvSpPr txBox="1"/>
          <p:nvPr/>
        </p:nvSpPr>
        <p:spPr>
          <a:xfrm>
            <a:off x="3329398" y="84720"/>
            <a:ext cx="2484975" cy="707886"/>
          </a:xfrm>
          <a:prstGeom prst="rect">
            <a:avLst/>
          </a:prstGeom>
          <a:noFill/>
        </p:spPr>
        <p:txBody>
          <a:bodyPr wrap="none">
            <a:spAutoFit/>
          </a:bodyPr>
          <a:lstStyle/>
          <a:p>
            <a:pPr algn="ctr">
              <a:defRPr sz="3200" b="1">
                <a:solidFill>
                  <a:srgbClr val="FFFFFF"/>
                </a:solidFill>
              </a:defRPr>
            </a:pPr>
            <a:r>
              <a:rPr sz="2000" dirty="0">
                <a:latin typeface="Calibri" panose="020F0502020204030204" pitchFamily="34" charset="0"/>
                <a:cs typeface="Calibri" panose="020F0502020204030204" pitchFamily="34" charset="0"/>
              </a:rPr>
              <a:t>CONTEXTE ET ENJEUX</a:t>
            </a:r>
            <a:endParaRPr lang="fr-FR" sz="2000" dirty="0">
              <a:latin typeface="Calibri" panose="020F0502020204030204" pitchFamily="34" charset="0"/>
              <a:cs typeface="Calibri" panose="020F0502020204030204" pitchFamily="34" charset="0"/>
            </a:endParaRPr>
          </a:p>
          <a:p>
            <a:pPr algn="ctr">
              <a:defRPr sz="3200" b="1">
                <a:solidFill>
                  <a:srgbClr val="FFFFFF"/>
                </a:solidFill>
              </a:defRPr>
            </a:pPr>
            <a:r>
              <a:rPr lang="fr-FR" sz="2000" dirty="0">
                <a:latin typeface="Calibri" panose="020F0502020204030204" pitchFamily="34" charset="0"/>
                <a:cs typeface="Calibri" panose="020F0502020204030204" pitchFamily="34" charset="0"/>
              </a:rPr>
              <a:t>SIADOC</a:t>
            </a:r>
            <a:endParaRPr sz="2000" dirty="0">
              <a:latin typeface="Calibri" panose="020F0502020204030204" pitchFamily="34" charset="0"/>
              <a:cs typeface="Calibri" panose="020F0502020204030204" pitchFamily="34" charset="0"/>
            </a:endParaRPr>
          </a:p>
        </p:txBody>
      </p:sp>
      <p:sp>
        <p:nvSpPr>
          <p:cNvPr id="4" name="TextBox 3"/>
          <p:cNvSpPr txBox="1"/>
          <p:nvPr/>
        </p:nvSpPr>
        <p:spPr>
          <a:xfrm>
            <a:off x="342900" y="1097280"/>
            <a:ext cx="1848583" cy="323165"/>
          </a:xfrm>
          <a:prstGeom prst="rect">
            <a:avLst/>
          </a:prstGeom>
          <a:noFill/>
        </p:spPr>
        <p:txBody>
          <a:bodyPr wrap="none">
            <a:spAutoFit/>
          </a:bodyPr>
          <a:lstStyle/>
          <a:p>
            <a:pPr>
              <a:defRPr sz="2000" b="1">
                <a:solidFill>
                  <a:srgbClr val="C62828"/>
                </a:solidFill>
              </a:defRPr>
            </a:pPr>
            <a:r>
              <a:rPr sz="1500" dirty="0"/>
              <a:t>📍 </a:t>
            </a:r>
            <a:r>
              <a:rPr sz="1500" dirty="0">
                <a:latin typeface="Calibri" panose="020F0502020204030204" pitchFamily="34" charset="0"/>
                <a:cs typeface="Calibri" panose="020F0502020204030204" pitchFamily="34" charset="0"/>
              </a:rPr>
              <a:t>Situation </a:t>
            </a:r>
            <a:r>
              <a:rPr sz="1500" dirty="0" err="1">
                <a:latin typeface="Calibri" panose="020F0502020204030204" pitchFamily="34" charset="0"/>
                <a:cs typeface="Calibri" panose="020F0502020204030204" pitchFamily="34" charset="0"/>
              </a:rPr>
              <a:t>Actuelle</a:t>
            </a:r>
            <a:endParaRPr sz="1500" dirty="0">
              <a:latin typeface="Calibri" panose="020F0502020204030204" pitchFamily="34" charset="0"/>
              <a:cs typeface="Calibri" panose="020F0502020204030204" pitchFamily="34" charset="0"/>
            </a:endParaRPr>
          </a:p>
        </p:txBody>
      </p:sp>
      <p:sp>
        <p:nvSpPr>
          <p:cNvPr id="5" name="TextBox 4"/>
          <p:cNvSpPr txBox="1"/>
          <p:nvPr/>
        </p:nvSpPr>
        <p:spPr>
          <a:xfrm>
            <a:off x="480060" y="1577340"/>
            <a:ext cx="3977640" cy="253916"/>
          </a:xfrm>
          <a:prstGeom prst="rect">
            <a:avLst/>
          </a:prstGeom>
          <a:noFill/>
        </p:spPr>
        <p:txBody>
          <a:bodyPr wrap="square">
            <a:spAutoFit/>
          </a:bodyPr>
          <a:lstStyle/>
          <a:p>
            <a:pPr>
              <a:defRPr sz="1400">
                <a:solidFill>
                  <a:srgbClr val="1A202C"/>
                </a:solidFill>
              </a:defRPr>
            </a:pPr>
            <a:r>
              <a:rPr sz="1050" dirty="0"/>
              <a:t>▸ Archives et dossiers de </a:t>
            </a:r>
            <a:r>
              <a:rPr sz="1050" dirty="0" err="1"/>
              <a:t>campagne</a:t>
            </a:r>
            <a:r>
              <a:rPr sz="1050" dirty="0"/>
              <a:t> sous format </a:t>
            </a:r>
            <a:r>
              <a:rPr sz="1050" dirty="0" err="1"/>
              <a:t>papier</a:t>
            </a:r>
            <a:endParaRPr sz="1050" dirty="0"/>
          </a:p>
        </p:txBody>
      </p:sp>
      <p:sp>
        <p:nvSpPr>
          <p:cNvPr id="6" name="TextBox 5"/>
          <p:cNvSpPr txBox="1"/>
          <p:nvPr/>
        </p:nvSpPr>
        <p:spPr>
          <a:xfrm>
            <a:off x="480060" y="2023109"/>
            <a:ext cx="3977640" cy="253916"/>
          </a:xfrm>
          <a:prstGeom prst="rect">
            <a:avLst/>
          </a:prstGeom>
          <a:noFill/>
        </p:spPr>
        <p:txBody>
          <a:bodyPr wrap="square">
            <a:spAutoFit/>
          </a:bodyPr>
          <a:lstStyle/>
          <a:p>
            <a:pPr>
              <a:defRPr sz="1400">
                <a:solidFill>
                  <a:srgbClr val="1A202C"/>
                </a:solidFill>
              </a:defRPr>
            </a:pPr>
            <a:r>
              <a:rPr sz="1050"/>
              <a:t>▸ Stockage à l'annexe B de la DRH</a:t>
            </a:r>
          </a:p>
        </p:txBody>
      </p:sp>
      <p:sp>
        <p:nvSpPr>
          <p:cNvPr id="7" name="TextBox 6"/>
          <p:cNvSpPr txBox="1"/>
          <p:nvPr/>
        </p:nvSpPr>
        <p:spPr>
          <a:xfrm>
            <a:off x="480060" y="2468879"/>
            <a:ext cx="3977640" cy="253916"/>
          </a:xfrm>
          <a:prstGeom prst="rect">
            <a:avLst/>
          </a:prstGeom>
          <a:noFill/>
        </p:spPr>
        <p:txBody>
          <a:bodyPr wrap="square">
            <a:spAutoFit/>
          </a:bodyPr>
          <a:lstStyle/>
          <a:p>
            <a:pPr>
              <a:defRPr sz="1400">
                <a:solidFill>
                  <a:srgbClr val="1A202C"/>
                </a:solidFill>
              </a:defRPr>
            </a:pPr>
            <a:r>
              <a:rPr sz="1050" dirty="0"/>
              <a:t>▸ Incident </a:t>
            </a:r>
            <a:r>
              <a:rPr sz="1050" dirty="0" err="1"/>
              <a:t>révélant</a:t>
            </a:r>
            <a:r>
              <a:rPr sz="1050" dirty="0"/>
              <a:t> la faille de </a:t>
            </a:r>
            <a:r>
              <a:rPr sz="1050" dirty="0" err="1"/>
              <a:t>sécurité</a:t>
            </a:r>
            <a:r>
              <a:rPr sz="1050" dirty="0"/>
              <a:t> des archives</a:t>
            </a:r>
          </a:p>
        </p:txBody>
      </p:sp>
      <p:sp>
        <p:nvSpPr>
          <p:cNvPr id="8" name="TextBox 7"/>
          <p:cNvSpPr txBox="1"/>
          <p:nvPr/>
        </p:nvSpPr>
        <p:spPr>
          <a:xfrm>
            <a:off x="480060" y="2914650"/>
            <a:ext cx="3977640" cy="253916"/>
          </a:xfrm>
          <a:prstGeom prst="rect">
            <a:avLst/>
          </a:prstGeom>
          <a:noFill/>
        </p:spPr>
        <p:txBody>
          <a:bodyPr wrap="square">
            <a:spAutoFit/>
          </a:bodyPr>
          <a:lstStyle/>
          <a:p>
            <a:pPr>
              <a:defRPr sz="1400">
                <a:solidFill>
                  <a:srgbClr val="1A202C"/>
                </a:solidFill>
              </a:defRPr>
            </a:pPr>
            <a:r>
              <a:rPr sz="1050"/>
              <a:t>▸ Pérennité des données militaires menacée</a:t>
            </a:r>
          </a:p>
        </p:txBody>
      </p:sp>
      <p:sp>
        <p:nvSpPr>
          <p:cNvPr id="9" name="TextBox 8"/>
          <p:cNvSpPr txBox="1"/>
          <p:nvPr/>
        </p:nvSpPr>
        <p:spPr>
          <a:xfrm>
            <a:off x="480060" y="3360420"/>
            <a:ext cx="3977640" cy="253916"/>
          </a:xfrm>
          <a:prstGeom prst="rect">
            <a:avLst/>
          </a:prstGeom>
          <a:noFill/>
        </p:spPr>
        <p:txBody>
          <a:bodyPr wrap="square">
            <a:spAutoFit/>
          </a:bodyPr>
          <a:lstStyle/>
          <a:p>
            <a:pPr>
              <a:defRPr sz="1400">
                <a:solidFill>
                  <a:srgbClr val="1A202C"/>
                </a:solidFill>
              </a:defRPr>
            </a:pPr>
            <a:r>
              <a:rPr sz="1050" dirty="0"/>
              <a:t>▸ </a:t>
            </a:r>
            <a:r>
              <a:rPr sz="1050" dirty="0" err="1"/>
              <a:t>Difficultés</a:t>
            </a:r>
            <a:r>
              <a:rPr sz="1050" dirty="0"/>
              <a:t> de </a:t>
            </a:r>
            <a:r>
              <a:rPr sz="1050" dirty="0" err="1"/>
              <a:t>classement</a:t>
            </a:r>
            <a:r>
              <a:rPr sz="1050" dirty="0"/>
              <a:t> et de </a:t>
            </a:r>
            <a:r>
              <a:rPr sz="1050" dirty="0" err="1"/>
              <a:t>recherche</a:t>
            </a:r>
            <a:endParaRPr sz="1050" dirty="0"/>
          </a:p>
        </p:txBody>
      </p:sp>
      <p:sp>
        <p:nvSpPr>
          <p:cNvPr id="10" name="TextBox 9"/>
          <p:cNvSpPr txBox="1"/>
          <p:nvPr/>
        </p:nvSpPr>
        <p:spPr>
          <a:xfrm>
            <a:off x="480060" y="3768090"/>
            <a:ext cx="3977640" cy="253916"/>
          </a:xfrm>
          <a:prstGeom prst="rect">
            <a:avLst/>
          </a:prstGeom>
          <a:noFill/>
        </p:spPr>
        <p:txBody>
          <a:bodyPr wrap="square">
            <a:spAutoFit/>
          </a:bodyPr>
          <a:lstStyle/>
          <a:p>
            <a:pPr>
              <a:defRPr sz="1400">
                <a:solidFill>
                  <a:srgbClr val="1A202C"/>
                </a:solidFill>
              </a:defRPr>
            </a:pPr>
            <a:r>
              <a:rPr sz="1050"/>
              <a:t>▸ Risques de perte ou détérioration des documents</a:t>
            </a:r>
          </a:p>
        </p:txBody>
      </p:sp>
      <p:sp>
        <p:nvSpPr>
          <p:cNvPr id="11" name="Rectangle 10"/>
          <p:cNvSpPr/>
          <p:nvPr/>
        </p:nvSpPr>
        <p:spPr>
          <a:xfrm>
            <a:off x="4526280" y="1097280"/>
            <a:ext cx="13716" cy="3771900"/>
          </a:xfrm>
          <a:prstGeom prst="rect">
            <a:avLst/>
          </a:prstGeom>
          <a:solidFill>
            <a:srgbClr val="8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2" name="TextBox 11"/>
          <p:cNvSpPr txBox="1"/>
          <p:nvPr/>
        </p:nvSpPr>
        <p:spPr>
          <a:xfrm>
            <a:off x="4800600" y="1097280"/>
            <a:ext cx="1920719" cy="323165"/>
          </a:xfrm>
          <a:prstGeom prst="rect">
            <a:avLst/>
          </a:prstGeom>
          <a:noFill/>
        </p:spPr>
        <p:txBody>
          <a:bodyPr wrap="none">
            <a:spAutoFit/>
          </a:bodyPr>
          <a:lstStyle/>
          <a:p>
            <a:pPr>
              <a:defRPr sz="2000" b="1">
                <a:solidFill>
                  <a:srgbClr val="2E7D32"/>
                </a:solidFill>
              </a:defRPr>
            </a:pPr>
            <a:r>
              <a:rPr sz="1500" dirty="0"/>
              <a:t>🎯 </a:t>
            </a:r>
            <a:r>
              <a:rPr sz="1500" dirty="0" err="1">
                <a:latin typeface="Calibri" panose="020F0502020204030204" pitchFamily="34" charset="0"/>
                <a:cs typeface="Calibri" panose="020F0502020204030204" pitchFamily="34" charset="0"/>
              </a:rPr>
              <a:t>Objectifs</a:t>
            </a:r>
            <a:r>
              <a:rPr sz="1500" dirty="0">
                <a:latin typeface="Calibri" panose="020F0502020204030204" pitchFamily="34" charset="0"/>
                <a:cs typeface="Calibri" panose="020F0502020204030204" pitchFamily="34" charset="0"/>
              </a:rPr>
              <a:t> du </a:t>
            </a:r>
            <a:r>
              <a:rPr sz="1500" dirty="0" err="1">
                <a:latin typeface="Calibri" panose="020F0502020204030204" pitchFamily="34" charset="0"/>
                <a:cs typeface="Calibri" panose="020F0502020204030204" pitchFamily="34" charset="0"/>
              </a:rPr>
              <a:t>Projet</a:t>
            </a:r>
            <a:endParaRPr sz="1500" dirty="0">
              <a:latin typeface="Calibri" panose="020F0502020204030204" pitchFamily="34" charset="0"/>
              <a:cs typeface="Calibri" panose="020F0502020204030204" pitchFamily="34" charset="0"/>
            </a:endParaRPr>
          </a:p>
        </p:txBody>
      </p:sp>
      <p:sp>
        <p:nvSpPr>
          <p:cNvPr id="13" name="TextBox 12"/>
          <p:cNvSpPr txBox="1"/>
          <p:nvPr/>
        </p:nvSpPr>
        <p:spPr>
          <a:xfrm>
            <a:off x="4937760" y="1577340"/>
            <a:ext cx="3977640" cy="253916"/>
          </a:xfrm>
          <a:prstGeom prst="rect">
            <a:avLst/>
          </a:prstGeom>
          <a:noFill/>
        </p:spPr>
        <p:txBody>
          <a:bodyPr wrap="square">
            <a:spAutoFit/>
          </a:bodyPr>
          <a:lstStyle/>
          <a:p>
            <a:pPr>
              <a:defRPr sz="1400">
                <a:solidFill>
                  <a:srgbClr val="1A202C"/>
                </a:solidFill>
              </a:defRPr>
            </a:pPr>
            <a:r>
              <a:rPr sz="1050"/>
              <a:t>▸ Acquérir un système informatisé et centralisé</a:t>
            </a:r>
          </a:p>
        </p:txBody>
      </p:sp>
      <p:sp>
        <p:nvSpPr>
          <p:cNvPr id="14" name="TextBox 13"/>
          <p:cNvSpPr txBox="1"/>
          <p:nvPr/>
        </p:nvSpPr>
        <p:spPr>
          <a:xfrm>
            <a:off x="4937760" y="2023109"/>
            <a:ext cx="3977640" cy="253916"/>
          </a:xfrm>
          <a:prstGeom prst="rect">
            <a:avLst/>
          </a:prstGeom>
          <a:noFill/>
        </p:spPr>
        <p:txBody>
          <a:bodyPr wrap="square">
            <a:spAutoFit/>
          </a:bodyPr>
          <a:lstStyle/>
          <a:p>
            <a:pPr>
              <a:defRPr sz="1400">
                <a:solidFill>
                  <a:srgbClr val="1A202C"/>
                </a:solidFill>
              </a:defRPr>
            </a:pPr>
            <a:r>
              <a:rPr sz="1050"/>
              <a:t>▸ Numériser 170.000 dossiers de campagne</a:t>
            </a:r>
          </a:p>
        </p:txBody>
      </p:sp>
      <p:sp>
        <p:nvSpPr>
          <p:cNvPr id="15" name="TextBox 14"/>
          <p:cNvSpPr txBox="1"/>
          <p:nvPr/>
        </p:nvSpPr>
        <p:spPr>
          <a:xfrm>
            <a:off x="4937760" y="2468879"/>
            <a:ext cx="3977640" cy="253916"/>
          </a:xfrm>
          <a:prstGeom prst="rect">
            <a:avLst/>
          </a:prstGeom>
          <a:noFill/>
        </p:spPr>
        <p:txBody>
          <a:bodyPr wrap="square">
            <a:spAutoFit/>
          </a:bodyPr>
          <a:lstStyle/>
          <a:p>
            <a:pPr>
              <a:defRPr sz="1400">
                <a:solidFill>
                  <a:srgbClr val="1A202C"/>
                </a:solidFill>
              </a:defRPr>
            </a:pPr>
            <a:r>
              <a:rPr sz="1050"/>
              <a:t>▸ Assurer confidentialité et pérennité des données</a:t>
            </a:r>
          </a:p>
        </p:txBody>
      </p:sp>
      <p:sp>
        <p:nvSpPr>
          <p:cNvPr id="16" name="TextBox 15"/>
          <p:cNvSpPr txBox="1"/>
          <p:nvPr/>
        </p:nvSpPr>
        <p:spPr>
          <a:xfrm>
            <a:off x="4937760" y="2914650"/>
            <a:ext cx="3977640" cy="253916"/>
          </a:xfrm>
          <a:prstGeom prst="rect">
            <a:avLst/>
          </a:prstGeom>
          <a:noFill/>
        </p:spPr>
        <p:txBody>
          <a:bodyPr wrap="square">
            <a:spAutoFit/>
          </a:bodyPr>
          <a:lstStyle/>
          <a:p>
            <a:pPr>
              <a:defRPr sz="1400">
                <a:solidFill>
                  <a:srgbClr val="1A202C"/>
                </a:solidFill>
              </a:defRPr>
            </a:pPr>
            <a:r>
              <a:rPr sz="1050"/>
              <a:t>▸ Permettre le déploiement multi-postes sans réseau</a:t>
            </a:r>
          </a:p>
        </p:txBody>
      </p:sp>
      <p:sp>
        <p:nvSpPr>
          <p:cNvPr id="17" name="TextBox 16"/>
          <p:cNvSpPr txBox="1"/>
          <p:nvPr/>
        </p:nvSpPr>
        <p:spPr>
          <a:xfrm>
            <a:off x="4937760" y="3360420"/>
            <a:ext cx="3977640" cy="253916"/>
          </a:xfrm>
          <a:prstGeom prst="rect">
            <a:avLst/>
          </a:prstGeom>
          <a:noFill/>
        </p:spPr>
        <p:txBody>
          <a:bodyPr wrap="square">
            <a:spAutoFit/>
          </a:bodyPr>
          <a:lstStyle/>
          <a:p>
            <a:pPr>
              <a:defRPr sz="1400">
                <a:solidFill>
                  <a:srgbClr val="1A202C"/>
                </a:solidFill>
              </a:defRPr>
            </a:pPr>
            <a:r>
              <a:rPr sz="1050"/>
              <a:t>▸ Intégration avec GESMIL 2.0 (noyau central)</a:t>
            </a:r>
          </a:p>
        </p:txBody>
      </p:sp>
      <p:sp>
        <p:nvSpPr>
          <p:cNvPr id="18" name="TextBox 17"/>
          <p:cNvSpPr txBox="1"/>
          <p:nvPr/>
        </p:nvSpPr>
        <p:spPr>
          <a:xfrm>
            <a:off x="4937760" y="3806190"/>
            <a:ext cx="3977640" cy="253916"/>
          </a:xfrm>
          <a:prstGeom prst="rect">
            <a:avLst/>
          </a:prstGeom>
          <a:noFill/>
        </p:spPr>
        <p:txBody>
          <a:bodyPr wrap="square">
            <a:spAutoFit/>
          </a:bodyPr>
          <a:lstStyle/>
          <a:p>
            <a:pPr>
              <a:defRPr sz="1400">
                <a:solidFill>
                  <a:srgbClr val="1A202C"/>
                </a:solidFill>
              </a:defRPr>
            </a:pPr>
            <a:r>
              <a:rPr sz="1050"/>
              <a:t>▸ Coffre-fort numérique inaltérable</a:t>
            </a:r>
          </a:p>
        </p:txBody>
      </p:sp>
      <p:sp>
        <p:nvSpPr>
          <p:cNvPr id="19" name="Google Shape;34;p4"/>
          <p:cNvSpPr/>
          <p:nvPr/>
        </p:nvSpPr>
        <p:spPr>
          <a:xfrm>
            <a:off x="1" y="4673307"/>
            <a:ext cx="9144000" cy="480060"/>
          </a:xfrm>
          <a:prstGeom prst="rect">
            <a:avLst/>
          </a:prstGeom>
          <a:solidFill>
            <a:srgbClr val="C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 name="Group 32"/>
          <p:cNvGrpSpPr/>
          <p:nvPr/>
        </p:nvGrpSpPr>
        <p:grpSpPr>
          <a:xfrm>
            <a:off x="91440" y="17077"/>
            <a:ext cx="9052560" cy="778837"/>
            <a:chOff x="330" y="182"/>
            <a:chExt cx="18543" cy="1604"/>
          </a:xfrm>
        </p:grpSpPr>
        <p:sp>
          <p:nvSpPr>
            <p:cNvPr id="21" name="Freeform 3"/>
            <p:cNvSpPr/>
            <p:nvPr/>
          </p:nvSpPr>
          <p:spPr>
            <a:xfrm>
              <a:off x="330" y="182"/>
              <a:ext cx="1640" cy="1604"/>
            </a:xfrm>
            <a:custGeom>
              <a:avLst/>
              <a:gdLst/>
              <a:ahLst/>
              <a:cxnLst/>
              <a:rect l="l" t="t" r="r" b="b"/>
              <a:pathLst>
                <a:path w="6263628" h="7097595">
                  <a:moveTo>
                    <a:pt x="0" y="0"/>
                  </a:moveTo>
                  <a:lnTo>
                    <a:pt x="6263628" y="0"/>
                  </a:lnTo>
                  <a:lnTo>
                    <a:pt x="6263628" y="7097595"/>
                  </a:lnTo>
                  <a:lnTo>
                    <a:pt x="0" y="7097595"/>
                  </a:lnTo>
                  <a:lnTo>
                    <a:pt x="0" y="0"/>
                  </a:lnTo>
                  <a:close/>
                </a:path>
              </a:pathLst>
            </a:custGeom>
            <a:blipFill>
              <a:blip r:embed="rId2"/>
              <a:stretch>
                <a:fillRect/>
              </a:stretch>
            </a:blipFill>
          </p:spPr>
        </p:sp>
        <p:pic>
          <p:nvPicPr>
            <p:cNvPr id="22" name="Picture 3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953" y="182"/>
              <a:ext cx="1920" cy="1604"/>
            </a:xfrm>
            <a:prstGeom prst="rect">
              <a:avLst/>
            </a:prstGeom>
          </p:spPr>
        </p:pic>
      </p:grpSp>
      <p:sp>
        <p:nvSpPr>
          <p:cNvPr id="23" name="Google Shape;35;p4"/>
          <p:cNvSpPr/>
          <p:nvPr/>
        </p:nvSpPr>
        <p:spPr>
          <a:xfrm>
            <a:off x="91440" y="4702893"/>
            <a:ext cx="640080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ADCFC"/>
              </a:buClr>
              <a:buSzPts val="900"/>
              <a:buFont typeface="Calibri"/>
              <a:buNone/>
            </a:pPr>
            <a:r>
              <a:rPr lang="en-US" sz="900" b="0" i="0" u="none" strike="noStrike" cap="none" dirty="0">
                <a:solidFill>
                  <a:srgbClr val="CADCFC"/>
                </a:solidFill>
                <a:latin typeface="Calibri"/>
                <a:ea typeface="Calibri"/>
                <a:cs typeface="Calibri"/>
                <a:sym typeface="Calibri"/>
              </a:rPr>
              <a:t>MINDEF - Direction des </a:t>
            </a:r>
            <a:r>
              <a:rPr lang="en-US" sz="900" b="0" i="0" u="none" strike="noStrike" cap="none" dirty="0" err="1">
                <a:solidFill>
                  <a:srgbClr val="CADCFC"/>
                </a:solidFill>
                <a:latin typeface="Calibri"/>
                <a:ea typeface="Calibri"/>
                <a:cs typeface="Calibri"/>
                <a:sym typeface="Calibri"/>
              </a:rPr>
              <a:t>Ressources</a:t>
            </a:r>
            <a:r>
              <a:rPr lang="en-US" sz="900" b="0" i="0" u="none" strike="noStrike" cap="none" dirty="0">
                <a:solidFill>
                  <a:srgbClr val="CADCFC"/>
                </a:solidFill>
                <a:latin typeface="Calibri"/>
                <a:ea typeface="Calibri"/>
                <a:cs typeface="Calibri"/>
                <a:sym typeface="Calibri"/>
              </a:rPr>
              <a:t> </a:t>
            </a:r>
            <a:r>
              <a:rPr lang="en-US" sz="900" b="0" i="0" u="none" strike="noStrike" cap="none" dirty="0" err="1">
                <a:solidFill>
                  <a:srgbClr val="CADCFC"/>
                </a:solidFill>
                <a:latin typeface="Calibri"/>
                <a:ea typeface="Calibri"/>
                <a:cs typeface="Calibri"/>
                <a:sym typeface="Calibri"/>
              </a:rPr>
              <a:t>Humaines</a:t>
            </a:r>
            <a:endParaRPr sz="900" b="0" i="0" u="none" strike="noStrike" cap="none" dirty="0">
              <a:solidFill>
                <a:schemeClr val="dk1"/>
              </a:solidFill>
              <a:latin typeface="Calibri"/>
              <a:ea typeface="Calibri"/>
              <a:cs typeface="Calibri"/>
              <a:sym typeface="Calibri"/>
            </a:endParaRPr>
          </a:p>
        </p:txBody>
      </p:sp>
      <p:sp>
        <p:nvSpPr>
          <p:cNvPr id="24" name="Google Shape;36;p4"/>
          <p:cNvSpPr/>
          <p:nvPr/>
        </p:nvSpPr>
        <p:spPr>
          <a:xfrm>
            <a:off x="7772400" y="4709160"/>
            <a:ext cx="914400" cy="365760"/>
          </a:xfrm>
          <a:prstGeom prst="rect">
            <a:avLst/>
          </a:prstGeom>
          <a:noFill/>
          <a:ln>
            <a:noFill/>
          </a:ln>
        </p:spPr>
        <p:txBody>
          <a:bodyPr spcFirstLastPara="1" wrap="square" lIns="91425" tIns="45700" rIns="91425" bIns="45700" anchor="ctr" anchorCtr="0">
            <a:noAutofit/>
          </a:bodyPr>
          <a:lstStyle/>
          <a:p>
            <a:pPr lvl="0" algn="r">
              <a:buClr>
                <a:srgbClr val="CADCFC"/>
              </a:buClr>
              <a:buSzPts val="900"/>
            </a:pPr>
            <a:r>
              <a:rPr lang="en-US" sz="900" dirty="0">
                <a:solidFill>
                  <a:srgbClr val="CADCFC"/>
                </a:solidFill>
                <a:latin typeface="Calibri"/>
                <a:ea typeface="Calibri"/>
                <a:cs typeface="Calibri"/>
                <a:sym typeface="Calibri"/>
              </a:rPr>
              <a:t>11</a:t>
            </a:r>
            <a:r>
              <a:rPr lang="en-US" sz="900" b="0" i="0" u="none" strike="noStrike" cap="none" dirty="0">
                <a:solidFill>
                  <a:srgbClr val="CADCFC"/>
                </a:solidFill>
                <a:latin typeface="Calibri"/>
                <a:ea typeface="Calibri"/>
                <a:cs typeface="Calibri"/>
                <a:sym typeface="Calibri"/>
              </a:rPr>
              <a:t> / </a:t>
            </a:r>
            <a:r>
              <a:rPr lang="en-US" sz="900" dirty="0">
                <a:solidFill>
                  <a:srgbClr val="CADCFC"/>
                </a:solidFill>
                <a:latin typeface="Calibri"/>
                <a:ea typeface="Calibri"/>
                <a:cs typeface="Calibri"/>
                <a:sym typeface="Calibri"/>
              </a:rPr>
              <a:t>27</a:t>
            </a:r>
            <a:endParaRPr lang="en-US" sz="9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0775134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6"/>
        <p:cNvGrpSpPr/>
        <p:nvPr/>
      </p:nvGrpSpPr>
      <p:grpSpPr>
        <a:xfrm>
          <a:off x="0" y="0"/>
          <a:ext cx="0" cy="0"/>
          <a:chOff x="0" y="0"/>
          <a:chExt cx="0" cy="0"/>
        </a:xfrm>
      </p:grpSpPr>
      <p:sp>
        <p:nvSpPr>
          <p:cNvPr id="47" name="Google Shape;47;p5"/>
          <p:cNvSpPr/>
          <p:nvPr/>
        </p:nvSpPr>
        <p:spPr>
          <a:xfrm>
            <a:off x="0" y="0"/>
            <a:ext cx="9144000" cy="914400"/>
          </a:xfrm>
          <a:prstGeom prst="rect">
            <a:avLst/>
          </a:prstGeom>
          <a:solidFill>
            <a:srgbClr val="FFC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5"/>
          <p:cNvSpPr/>
          <p:nvPr/>
        </p:nvSpPr>
        <p:spPr>
          <a:xfrm>
            <a:off x="457200" y="137160"/>
            <a:ext cx="8229600" cy="6400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2200"/>
              <a:buFont typeface="Calibri"/>
              <a:buNone/>
            </a:pPr>
            <a:r>
              <a:rPr lang="en-US" sz="2000" b="1" i="0" u="none" strike="noStrike" cap="none" dirty="0">
                <a:solidFill>
                  <a:srgbClr val="FFFFFF"/>
                </a:solidFill>
                <a:latin typeface="Calibri"/>
                <a:ea typeface="Calibri"/>
                <a:cs typeface="Calibri"/>
                <a:sym typeface="Calibri"/>
              </a:rPr>
              <a:t>SYSTÈME INFORMATISÉ D'ARCHIVAGE DES DOSSIERS DE CAMPAGNE (SIADOC)</a:t>
            </a:r>
            <a:endParaRPr sz="2000" b="0" i="0" u="none" strike="noStrike" cap="none" dirty="0">
              <a:solidFill>
                <a:schemeClr val="dk1"/>
              </a:solidFill>
              <a:latin typeface="Calibri"/>
              <a:ea typeface="Calibri"/>
              <a:cs typeface="Calibri"/>
              <a:sym typeface="Calibri"/>
            </a:endParaRPr>
          </a:p>
        </p:txBody>
      </p:sp>
      <p:sp>
        <p:nvSpPr>
          <p:cNvPr id="49" name="Google Shape;49;p5"/>
          <p:cNvSpPr/>
          <p:nvPr/>
        </p:nvSpPr>
        <p:spPr>
          <a:xfrm>
            <a:off x="0" y="4663440"/>
            <a:ext cx="9144000" cy="480060"/>
          </a:xfrm>
          <a:prstGeom prst="rect">
            <a:avLst/>
          </a:prstGeom>
          <a:solidFill>
            <a:srgbClr val="FFC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5"/>
          <p:cNvSpPr/>
          <p:nvPr/>
        </p:nvSpPr>
        <p:spPr>
          <a:xfrm>
            <a:off x="457200" y="4709160"/>
            <a:ext cx="640080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ADCFC"/>
              </a:buClr>
              <a:buSzPts val="900"/>
              <a:buFont typeface="Calibri"/>
              <a:buNone/>
            </a:pPr>
            <a:r>
              <a:rPr lang="en-US" sz="900" b="0" i="0" u="none" strike="noStrike" cap="none" dirty="0">
                <a:solidFill>
                  <a:srgbClr val="CADCFC"/>
                </a:solidFill>
                <a:latin typeface="Calibri"/>
                <a:ea typeface="Calibri"/>
                <a:cs typeface="Calibri"/>
                <a:sym typeface="Calibri"/>
              </a:rPr>
              <a:t>MINDEF - Direction des </a:t>
            </a:r>
            <a:r>
              <a:rPr lang="en-US" sz="900" b="0" i="0" u="none" strike="noStrike" cap="none" dirty="0" err="1">
                <a:solidFill>
                  <a:srgbClr val="CADCFC"/>
                </a:solidFill>
                <a:latin typeface="Calibri"/>
                <a:ea typeface="Calibri"/>
                <a:cs typeface="Calibri"/>
                <a:sym typeface="Calibri"/>
              </a:rPr>
              <a:t>Ressources</a:t>
            </a:r>
            <a:r>
              <a:rPr lang="en-US" sz="900" b="0" i="0" u="none" strike="noStrike" cap="none" dirty="0">
                <a:solidFill>
                  <a:srgbClr val="CADCFC"/>
                </a:solidFill>
                <a:latin typeface="Calibri"/>
                <a:ea typeface="Calibri"/>
                <a:cs typeface="Calibri"/>
                <a:sym typeface="Calibri"/>
              </a:rPr>
              <a:t> </a:t>
            </a:r>
            <a:r>
              <a:rPr lang="en-US" sz="900" b="0" i="0" u="none" strike="noStrike" cap="none" dirty="0" err="1">
                <a:solidFill>
                  <a:srgbClr val="CADCFC"/>
                </a:solidFill>
                <a:latin typeface="Calibri"/>
                <a:ea typeface="Calibri"/>
                <a:cs typeface="Calibri"/>
                <a:sym typeface="Calibri"/>
              </a:rPr>
              <a:t>Humaines</a:t>
            </a:r>
            <a:endParaRPr sz="900" b="0" i="0" u="none" strike="noStrike" cap="none" dirty="0">
              <a:solidFill>
                <a:schemeClr val="dk1"/>
              </a:solidFill>
              <a:latin typeface="Calibri"/>
              <a:ea typeface="Calibri"/>
              <a:cs typeface="Calibri"/>
              <a:sym typeface="Calibri"/>
            </a:endParaRPr>
          </a:p>
        </p:txBody>
      </p:sp>
      <p:sp>
        <p:nvSpPr>
          <p:cNvPr id="52" name="Google Shape;52;p5"/>
          <p:cNvSpPr/>
          <p:nvPr/>
        </p:nvSpPr>
        <p:spPr>
          <a:xfrm>
            <a:off x="457200" y="1097280"/>
            <a:ext cx="82296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E2761"/>
              </a:buClr>
              <a:buSzPts val="1600"/>
              <a:buFont typeface="Calibri"/>
              <a:buNone/>
            </a:pPr>
            <a:r>
              <a:rPr lang="en-US" sz="1600" b="1" i="0" u="none" strike="noStrike" cap="none" dirty="0">
                <a:solidFill>
                  <a:srgbClr val="1E2761"/>
                </a:solidFill>
                <a:latin typeface="Calibri"/>
                <a:ea typeface="Calibri"/>
                <a:cs typeface="Calibri"/>
                <a:sym typeface="Calibri"/>
              </a:rPr>
              <a:t>Description du SIADOC</a:t>
            </a:r>
            <a:endParaRPr sz="1600" b="0" i="0" u="none" strike="noStrike" cap="none" dirty="0">
              <a:solidFill>
                <a:schemeClr val="dk1"/>
              </a:solidFill>
              <a:latin typeface="Calibri"/>
              <a:ea typeface="Calibri"/>
              <a:cs typeface="Calibri"/>
              <a:sym typeface="Calibri"/>
            </a:endParaRPr>
          </a:p>
        </p:txBody>
      </p:sp>
      <p:sp>
        <p:nvSpPr>
          <p:cNvPr id="53" name="Google Shape;53;p5"/>
          <p:cNvSpPr/>
          <p:nvPr/>
        </p:nvSpPr>
        <p:spPr>
          <a:xfrm>
            <a:off x="457200" y="1554480"/>
            <a:ext cx="8229600" cy="731520"/>
          </a:xfrm>
          <a:prstGeom prst="rect">
            <a:avLst/>
          </a:prstGeom>
          <a:noFill/>
          <a:ln>
            <a:noFill/>
          </a:ln>
        </p:spPr>
        <p:txBody>
          <a:bodyPr spcFirstLastPara="1" wrap="square" lIns="91425" tIns="45700" rIns="91425" bIns="45700" anchor="ctr" anchorCtr="0">
            <a:noAutofit/>
          </a:bodyPr>
          <a:lstStyle/>
          <a:p>
            <a:pPr marL="0" marR="0" lvl="0" indent="0" algn="just" rtl="0">
              <a:lnSpc>
                <a:spcPct val="130000"/>
              </a:lnSpc>
              <a:spcBef>
                <a:spcPts val="0"/>
              </a:spcBef>
              <a:spcAft>
                <a:spcPts val="0"/>
              </a:spcAft>
              <a:buClr>
                <a:srgbClr val="1A1A2E"/>
              </a:buClr>
              <a:buSzPts val="1200"/>
              <a:buFont typeface="Calibri"/>
              <a:buNone/>
            </a:pPr>
            <a:r>
              <a:rPr lang="en-US" sz="1200" b="0" i="0" u="none" strike="noStrike" cap="none" dirty="0">
                <a:solidFill>
                  <a:srgbClr val="1A1A2E"/>
                </a:solidFill>
                <a:latin typeface="Calibri"/>
                <a:ea typeface="Calibri"/>
                <a:cs typeface="Calibri"/>
                <a:sym typeface="Calibri"/>
              </a:rPr>
              <a:t>	Le </a:t>
            </a:r>
            <a:r>
              <a:rPr lang="en-US" sz="1200" b="0" i="0" u="none" strike="noStrike" cap="none" dirty="0" err="1">
                <a:solidFill>
                  <a:srgbClr val="1A1A2E"/>
                </a:solidFill>
                <a:latin typeface="Calibri"/>
                <a:ea typeface="Calibri"/>
                <a:cs typeface="Calibri"/>
                <a:sym typeface="Calibri"/>
              </a:rPr>
              <a:t>Système</a:t>
            </a:r>
            <a:r>
              <a:rPr lang="en-US" sz="1200" b="0" i="0" u="none" strike="noStrike" cap="none" dirty="0">
                <a:solidFill>
                  <a:srgbClr val="1A1A2E"/>
                </a:solidFill>
                <a:latin typeface="Calibri"/>
                <a:ea typeface="Calibri"/>
                <a:cs typeface="Calibri"/>
                <a:sym typeface="Calibri"/>
              </a:rPr>
              <a:t> </a:t>
            </a:r>
            <a:r>
              <a:rPr lang="en-US" sz="1200" b="0" i="0" u="none" strike="noStrike" cap="none" dirty="0" err="1">
                <a:solidFill>
                  <a:srgbClr val="1A1A2E"/>
                </a:solidFill>
                <a:latin typeface="Calibri"/>
                <a:ea typeface="Calibri"/>
                <a:cs typeface="Calibri"/>
                <a:sym typeface="Calibri"/>
              </a:rPr>
              <a:t>Informatisé</a:t>
            </a:r>
            <a:r>
              <a:rPr lang="en-US" sz="1200" b="0" i="0" u="none" strike="noStrike" cap="none" dirty="0">
                <a:solidFill>
                  <a:srgbClr val="1A1A2E"/>
                </a:solidFill>
                <a:latin typeface="Calibri"/>
                <a:ea typeface="Calibri"/>
                <a:cs typeface="Calibri"/>
                <a:sym typeface="Calibri"/>
              </a:rPr>
              <a:t> </a:t>
            </a:r>
            <a:r>
              <a:rPr lang="en-US" sz="1200" b="0" i="0" u="none" strike="noStrike" cap="none" dirty="0" err="1">
                <a:solidFill>
                  <a:srgbClr val="1A1A2E"/>
                </a:solidFill>
                <a:latin typeface="Calibri"/>
                <a:ea typeface="Calibri"/>
                <a:cs typeface="Calibri"/>
                <a:sym typeface="Calibri"/>
              </a:rPr>
              <a:t>d'Archivages</a:t>
            </a:r>
            <a:r>
              <a:rPr lang="en-US" sz="1200" b="0" i="0" u="none" strike="noStrike" cap="none" dirty="0">
                <a:solidFill>
                  <a:srgbClr val="1A1A2E"/>
                </a:solidFill>
                <a:latin typeface="Calibri"/>
                <a:ea typeface="Calibri"/>
                <a:cs typeface="Calibri"/>
                <a:sym typeface="Calibri"/>
              </a:rPr>
              <a:t> des Dossiers de </a:t>
            </a:r>
            <a:r>
              <a:rPr lang="en-US" sz="1200" b="0" i="0" u="none" strike="noStrike" cap="none" dirty="0" err="1">
                <a:solidFill>
                  <a:srgbClr val="1A1A2E"/>
                </a:solidFill>
                <a:latin typeface="Calibri"/>
                <a:ea typeface="Calibri"/>
                <a:cs typeface="Calibri"/>
                <a:sym typeface="Calibri"/>
              </a:rPr>
              <a:t>Campagne</a:t>
            </a:r>
            <a:r>
              <a:rPr lang="en-US" sz="1200" b="0" i="0" u="none" strike="noStrike" cap="none" dirty="0">
                <a:solidFill>
                  <a:srgbClr val="1A1A2E"/>
                </a:solidFill>
                <a:latin typeface="Calibri"/>
                <a:ea typeface="Calibri"/>
                <a:cs typeface="Calibri"/>
                <a:sym typeface="Calibri"/>
              </a:rPr>
              <a:t> (SIADOC) </a:t>
            </a:r>
            <a:r>
              <a:rPr lang="en-US" sz="1200" b="0" i="0" u="none" strike="noStrike" cap="none" dirty="0" err="1">
                <a:solidFill>
                  <a:srgbClr val="1A1A2E"/>
                </a:solidFill>
                <a:latin typeface="Calibri"/>
                <a:ea typeface="Calibri"/>
                <a:cs typeface="Calibri"/>
                <a:sym typeface="Calibri"/>
              </a:rPr>
              <a:t>est</a:t>
            </a:r>
            <a:r>
              <a:rPr lang="en-US" sz="1200" b="0" i="0" u="none" strike="noStrike" cap="none" dirty="0">
                <a:solidFill>
                  <a:srgbClr val="1A1A2E"/>
                </a:solidFill>
                <a:latin typeface="Calibri"/>
                <a:ea typeface="Calibri"/>
                <a:cs typeface="Calibri"/>
                <a:sym typeface="Calibri"/>
              </a:rPr>
              <a:t> un </a:t>
            </a:r>
            <a:r>
              <a:rPr lang="en-US" sz="1200" b="0" i="0" u="none" strike="noStrike" cap="none" dirty="0" err="1">
                <a:solidFill>
                  <a:srgbClr val="1A1A2E"/>
                </a:solidFill>
                <a:latin typeface="Calibri"/>
                <a:ea typeface="Calibri"/>
                <a:cs typeface="Calibri"/>
                <a:sym typeface="Calibri"/>
              </a:rPr>
              <a:t>logiciel</a:t>
            </a:r>
            <a:r>
              <a:rPr lang="en-US" sz="1200" b="0" i="0" u="none" strike="noStrike" cap="none" dirty="0">
                <a:solidFill>
                  <a:srgbClr val="1A1A2E"/>
                </a:solidFill>
                <a:latin typeface="Calibri"/>
                <a:ea typeface="Calibri"/>
                <a:cs typeface="Calibri"/>
                <a:sym typeface="Calibri"/>
              </a:rPr>
              <a:t> </a:t>
            </a:r>
            <a:r>
              <a:rPr lang="en-US" sz="1200" b="0" i="0" u="none" strike="noStrike" cap="none" dirty="0" err="1">
                <a:solidFill>
                  <a:srgbClr val="1A1A2E"/>
                </a:solidFill>
                <a:latin typeface="Calibri"/>
                <a:ea typeface="Calibri"/>
                <a:cs typeface="Calibri"/>
                <a:sym typeface="Calibri"/>
              </a:rPr>
              <a:t>conçu</a:t>
            </a:r>
            <a:r>
              <a:rPr lang="en-US" sz="1200" b="0" i="0" u="none" strike="noStrike" cap="none" dirty="0">
                <a:solidFill>
                  <a:srgbClr val="1A1A2E"/>
                </a:solidFill>
                <a:latin typeface="Calibri"/>
                <a:ea typeface="Calibri"/>
                <a:cs typeface="Calibri"/>
                <a:sym typeface="Calibri"/>
              </a:rPr>
              <a:t> </a:t>
            </a:r>
            <a:r>
              <a:rPr lang="en-US" sz="1200" b="0" i="0" u="none" strike="noStrike" cap="none" dirty="0" err="1">
                <a:solidFill>
                  <a:srgbClr val="1A1A2E"/>
                </a:solidFill>
                <a:latin typeface="Calibri"/>
                <a:ea typeface="Calibri"/>
                <a:cs typeface="Calibri"/>
                <a:sym typeface="Calibri"/>
              </a:rPr>
              <a:t>spécifiquement</a:t>
            </a:r>
            <a:r>
              <a:rPr lang="en-US" sz="1200" b="0" i="0" u="none" strike="noStrike" cap="none" dirty="0">
                <a:solidFill>
                  <a:srgbClr val="1A1A2E"/>
                </a:solidFill>
                <a:latin typeface="Calibri"/>
                <a:ea typeface="Calibri"/>
                <a:cs typeface="Calibri"/>
                <a:sym typeface="Calibri"/>
              </a:rPr>
              <a:t> pour la </a:t>
            </a:r>
            <a:r>
              <a:rPr lang="en-US" sz="1200" b="0" i="0" u="none" strike="noStrike" cap="none" dirty="0" err="1">
                <a:solidFill>
                  <a:srgbClr val="1A1A2E"/>
                </a:solidFill>
                <a:latin typeface="Calibri"/>
                <a:ea typeface="Calibri"/>
                <a:cs typeface="Calibri"/>
                <a:sym typeface="Calibri"/>
              </a:rPr>
              <a:t>gestion</a:t>
            </a:r>
            <a:r>
              <a:rPr lang="en-US" sz="1200" b="0" i="0" u="none" strike="noStrike" cap="none" dirty="0">
                <a:solidFill>
                  <a:srgbClr val="1A1A2E"/>
                </a:solidFill>
                <a:latin typeface="Calibri"/>
                <a:ea typeface="Calibri"/>
                <a:cs typeface="Calibri"/>
                <a:sym typeface="Calibri"/>
              </a:rPr>
              <a:t> </a:t>
            </a:r>
            <a:r>
              <a:rPr lang="en-US" sz="1200" b="0" i="0" u="none" strike="noStrike" cap="none" dirty="0" err="1">
                <a:solidFill>
                  <a:srgbClr val="1A1A2E"/>
                </a:solidFill>
                <a:latin typeface="Calibri"/>
                <a:ea typeface="Calibri"/>
                <a:cs typeface="Calibri"/>
                <a:sym typeface="Calibri"/>
              </a:rPr>
              <a:t>numérique</a:t>
            </a:r>
            <a:r>
              <a:rPr lang="en-US" sz="1200" b="0" i="0" u="none" strike="noStrike" cap="none" dirty="0">
                <a:solidFill>
                  <a:srgbClr val="1A1A2E"/>
                </a:solidFill>
                <a:latin typeface="Calibri"/>
                <a:ea typeface="Calibri"/>
                <a:cs typeface="Calibri"/>
                <a:sym typeface="Calibri"/>
              </a:rPr>
              <a:t> des archives et des dossiers de </a:t>
            </a:r>
            <a:r>
              <a:rPr lang="en-US" sz="1200" b="0" i="0" u="none" strike="noStrike" cap="none" dirty="0" err="1">
                <a:solidFill>
                  <a:srgbClr val="1A1A2E"/>
                </a:solidFill>
                <a:latin typeface="Calibri"/>
                <a:ea typeface="Calibri"/>
                <a:cs typeface="Calibri"/>
                <a:sym typeface="Calibri"/>
              </a:rPr>
              <a:t>campagnes</a:t>
            </a:r>
            <a:r>
              <a:rPr lang="en-US" sz="1200" b="0" i="0" u="none" strike="noStrike" cap="none" dirty="0">
                <a:solidFill>
                  <a:srgbClr val="1A1A2E"/>
                </a:solidFill>
                <a:latin typeface="Calibri"/>
                <a:ea typeface="Calibri"/>
                <a:cs typeface="Calibri"/>
                <a:sym typeface="Calibri"/>
              </a:rPr>
              <a:t> des </a:t>
            </a:r>
            <a:r>
              <a:rPr lang="en-US" sz="1200" b="0" i="0" u="none" strike="noStrike" cap="none" dirty="0" err="1">
                <a:solidFill>
                  <a:srgbClr val="1A1A2E"/>
                </a:solidFill>
                <a:latin typeface="Calibri"/>
                <a:ea typeface="Calibri"/>
                <a:cs typeface="Calibri"/>
                <a:sym typeface="Calibri"/>
              </a:rPr>
              <a:t>personnels</a:t>
            </a:r>
            <a:r>
              <a:rPr lang="en-US" sz="1200" b="0" i="0" u="none" strike="noStrike" cap="none" dirty="0">
                <a:solidFill>
                  <a:srgbClr val="1A1A2E"/>
                </a:solidFill>
                <a:latin typeface="Calibri"/>
                <a:ea typeface="Calibri"/>
                <a:cs typeface="Calibri"/>
                <a:sym typeface="Calibri"/>
              </a:rPr>
              <a:t> </a:t>
            </a:r>
            <a:r>
              <a:rPr lang="en-US" sz="1200" b="0" i="0" u="none" strike="noStrike" cap="none" dirty="0" err="1">
                <a:solidFill>
                  <a:srgbClr val="1A1A2E"/>
                </a:solidFill>
                <a:latin typeface="Calibri"/>
                <a:ea typeface="Calibri"/>
                <a:cs typeface="Calibri"/>
                <a:sym typeface="Calibri"/>
              </a:rPr>
              <a:t>militaires</a:t>
            </a:r>
            <a:r>
              <a:rPr lang="en-US" sz="1200" b="0" i="0" u="none" strike="noStrike" cap="none" dirty="0">
                <a:solidFill>
                  <a:srgbClr val="1A1A2E"/>
                </a:solidFill>
                <a:latin typeface="Calibri"/>
                <a:ea typeface="Calibri"/>
                <a:cs typeface="Calibri"/>
                <a:sym typeface="Calibri"/>
              </a:rPr>
              <a:t> du MINDEF.</a:t>
            </a:r>
            <a:endParaRPr sz="1200" b="0" i="0" u="none" strike="noStrike" cap="none" dirty="0">
              <a:solidFill>
                <a:schemeClr val="dk1"/>
              </a:solidFill>
              <a:latin typeface="Calibri"/>
              <a:ea typeface="Calibri"/>
              <a:cs typeface="Calibri"/>
              <a:sym typeface="Calibri"/>
            </a:endParaRPr>
          </a:p>
        </p:txBody>
      </p:sp>
      <p:sp>
        <p:nvSpPr>
          <p:cNvPr id="54" name="Google Shape;54;p5"/>
          <p:cNvSpPr/>
          <p:nvPr/>
        </p:nvSpPr>
        <p:spPr>
          <a:xfrm>
            <a:off x="457200" y="2468880"/>
            <a:ext cx="2651760" cy="1828800"/>
          </a:xfrm>
          <a:prstGeom prst="rect">
            <a:avLst/>
          </a:prstGeom>
          <a:solidFill>
            <a:srgbClr val="F0F4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5"/>
          <p:cNvSpPr/>
          <p:nvPr/>
        </p:nvSpPr>
        <p:spPr>
          <a:xfrm>
            <a:off x="457200" y="2468880"/>
            <a:ext cx="2651760" cy="54864"/>
          </a:xfrm>
          <a:prstGeom prst="rect">
            <a:avLst/>
          </a:prstGeom>
          <a:solidFill>
            <a:srgbClr val="2E7D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5"/>
          <p:cNvSpPr/>
          <p:nvPr/>
        </p:nvSpPr>
        <p:spPr>
          <a:xfrm>
            <a:off x="640080" y="2651760"/>
            <a:ext cx="228600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E2761"/>
              </a:buClr>
              <a:buSzPts val="1400"/>
              <a:buFont typeface="Calibri"/>
              <a:buNone/>
            </a:pPr>
            <a:r>
              <a:rPr lang="en-US" sz="1400" b="1" i="0" u="none" strike="noStrike" cap="none" dirty="0" err="1">
                <a:solidFill>
                  <a:srgbClr val="1E2761"/>
                </a:solidFill>
                <a:latin typeface="Calibri"/>
                <a:ea typeface="Calibri"/>
                <a:cs typeface="Calibri"/>
                <a:sym typeface="Calibri"/>
              </a:rPr>
              <a:t>Numérisation</a:t>
            </a:r>
            <a:endParaRPr sz="1400" b="0" i="0" u="none" strike="noStrike" cap="none" dirty="0">
              <a:solidFill>
                <a:schemeClr val="dk1"/>
              </a:solidFill>
              <a:latin typeface="Calibri"/>
              <a:ea typeface="Calibri"/>
              <a:cs typeface="Calibri"/>
              <a:sym typeface="Calibri"/>
            </a:endParaRPr>
          </a:p>
        </p:txBody>
      </p:sp>
      <p:sp>
        <p:nvSpPr>
          <p:cNvPr id="57" name="Google Shape;57;p5"/>
          <p:cNvSpPr/>
          <p:nvPr/>
        </p:nvSpPr>
        <p:spPr>
          <a:xfrm>
            <a:off x="640080" y="3017520"/>
            <a:ext cx="2286000" cy="1097280"/>
          </a:xfrm>
          <a:prstGeom prst="rect">
            <a:avLst/>
          </a:prstGeom>
          <a:noFill/>
          <a:ln>
            <a:noFill/>
          </a:ln>
        </p:spPr>
        <p:txBody>
          <a:bodyPr spcFirstLastPara="1" wrap="square" lIns="91425" tIns="45700" rIns="91425" bIns="45700" anchor="ctr" anchorCtr="0">
            <a:noAutofit/>
          </a:bodyPr>
          <a:lstStyle/>
          <a:p>
            <a:pPr marL="0" marR="0" lvl="0" indent="0" algn="ctr" rtl="0">
              <a:lnSpc>
                <a:spcPct val="130000"/>
              </a:lnSpc>
              <a:spcBef>
                <a:spcPts val="0"/>
              </a:spcBef>
              <a:spcAft>
                <a:spcPts val="0"/>
              </a:spcAft>
              <a:buClr>
                <a:srgbClr val="6B7280"/>
              </a:buClr>
              <a:buSzPts val="1100"/>
              <a:buFont typeface="Calibri"/>
              <a:buNone/>
            </a:pPr>
            <a:r>
              <a:rPr lang="en-US" sz="1200" b="0" i="0" u="none" strike="noStrike" cap="none" dirty="0" err="1">
                <a:solidFill>
                  <a:srgbClr val="6B7280"/>
                </a:solidFill>
                <a:latin typeface="Calibri"/>
                <a:ea typeface="Calibri"/>
                <a:cs typeface="Calibri"/>
                <a:sym typeface="Calibri"/>
              </a:rPr>
              <a:t>Convertir</a:t>
            </a:r>
            <a:r>
              <a:rPr lang="en-US" sz="1200" b="0" i="0" u="none" strike="noStrike" cap="none" dirty="0">
                <a:solidFill>
                  <a:srgbClr val="6B7280"/>
                </a:solidFill>
                <a:latin typeface="Calibri"/>
                <a:ea typeface="Calibri"/>
                <a:cs typeface="Calibri"/>
                <a:sym typeface="Calibri"/>
              </a:rPr>
              <a:t> les documents physiques en format </a:t>
            </a:r>
            <a:r>
              <a:rPr lang="en-US" sz="1200" b="0" i="0" u="none" strike="noStrike" cap="none" dirty="0" err="1">
                <a:solidFill>
                  <a:srgbClr val="6B7280"/>
                </a:solidFill>
                <a:latin typeface="Calibri"/>
                <a:ea typeface="Calibri"/>
                <a:cs typeface="Calibri"/>
                <a:sym typeface="Calibri"/>
              </a:rPr>
              <a:t>numérique</a:t>
            </a:r>
            <a:endParaRPr sz="1200" b="0" i="0" u="none" strike="noStrike" cap="none" dirty="0">
              <a:solidFill>
                <a:schemeClr val="dk1"/>
              </a:solidFill>
              <a:latin typeface="Calibri"/>
              <a:ea typeface="Calibri"/>
              <a:cs typeface="Calibri"/>
              <a:sym typeface="Calibri"/>
            </a:endParaRPr>
          </a:p>
        </p:txBody>
      </p:sp>
      <p:sp>
        <p:nvSpPr>
          <p:cNvPr id="58" name="Google Shape;58;p5"/>
          <p:cNvSpPr/>
          <p:nvPr/>
        </p:nvSpPr>
        <p:spPr>
          <a:xfrm>
            <a:off x="3291840" y="2468880"/>
            <a:ext cx="2651760" cy="1828800"/>
          </a:xfrm>
          <a:prstGeom prst="rect">
            <a:avLst/>
          </a:prstGeom>
          <a:solidFill>
            <a:srgbClr val="F0F4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5"/>
          <p:cNvSpPr/>
          <p:nvPr/>
        </p:nvSpPr>
        <p:spPr>
          <a:xfrm>
            <a:off x="3291840" y="2468880"/>
            <a:ext cx="2651760" cy="54864"/>
          </a:xfrm>
          <a:prstGeom prst="rect">
            <a:avLst/>
          </a:prstGeom>
          <a:solidFill>
            <a:srgbClr val="C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5"/>
          <p:cNvSpPr/>
          <p:nvPr/>
        </p:nvSpPr>
        <p:spPr>
          <a:xfrm>
            <a:off x="3474720" y="2651760"/>
            <a:ext cx="228600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E2761"/>
              </a:buClr>
              <a:buSzPts val="1400"/>
              <a:buFont typeface="Calibri"/>
              <a:buNone/>
            </a:pPr>
            <a:r>
              <a:rPr lang="en-US" sz="1400" b="1" i="0" u="none" strike="noStrike" cap="none" dirty="0" err="1">
                <a:solidFill>
                  <a:srgbClr val="1E2761"/>
                </a:solidFill>
                <a:latin typeface="Calibri"/>
                <a:ea typeface="Calibri"/>
                <a:cs typeface="Calibri"/>
                <a:sym typeface="Calibri"/>
              </a:rPr>
              <a:t>Confidentialité</a:t>
            </a:r>
            <a:endParaRPr sz="1400" b="0" i="0" u="none" strike="noStrike" cap="none" dirty="0">
              <a:solidFill>
                <a:schemeClr val="dk1"/>
              </a:solidFill>
              <a:latin typeface="Calibri"/>
              <a:ea typeface="Calibri"/>
              <a:cs typeface="Calibri"/>
              <a:sym typeface="Calibri"/>
            </a:endParaRPr>
          </a:p>
        </p:txBody>
      </p:sp>
      <p:sp>
        <p:nvSpPr>
          <p:cNvPr id="61" name="Google Shape;61;p5"/>
          <p:cNvSpPr/>
          <p:nvPr/>
        </p:nvSpPr>
        <p:spPr>
          <a:xfrm>
            <a:off x="3474720" y="3017520"/>
            <a:ext cx="2286000" cy="1097280"/>
          </a:xfrm>
          <a:prstGeom prst="rect">
            <a:avLst/>
          </a:prstGeom>
          <a:noFill/>
          <a:ln>
            <a:noFill/>
          </a:ln>
        </p:spPr>
        <p:txBody>
          <a:bodyPr spcFirstLastPara="1" wrap="square" lIns="91425" tIns="45700" rIns="91425" bIns="45700" anchor="ctr" anchorCtr="0">
            <a:noAutofit/>
          </a:bodyPr>
          <a:lstStyle/>
          <a:p>
            <a:pPr marL="0" marR="0" lvl="0" indent="0" algn="ctr" rtl="0">
              <a:lnSpc>
                <a:spcPct val="130000"/>
              </a:lnSpc>
              <a:spcBef>
                <a:spcPts val="0"/>
              </a:spcBef>
              <a:spcAft>
                <a:spcPts val="0"/>
              </a:spcAft>
              <a:buClr>
                <a:srgbClr val="6B7280"/>
              </a:buClr>
              <a:buSzPts val="1100"/>
              <a:buFont typeface="Calibri"/>
              <a:buNone/>
            </a:pPr>
            <a:r>
              <a:rPr lang="en-US" sz="1200" b="0" i="0" u="none" strike="noStrike" cap="none" dirty="0">
                <a:solidFill>
                  <a:srgbClr val="6B7280"/>
                </a:solidFill>
                <a:latin typeface="Calibri"/>
                <a:ea typeface="Calibri"/>
                <a:cs typeface="Calibri"/>
                <a:sym typeface="Calibri"/>
              </a:rPr>
              <a:t>Assurer la </a:t>
            </a:r>
            <a:r>
              <a:rPr lang="en-US" sz="1200" b="0" i="0" u="none" strike="noStrike" cap="none" dirty="0" err="1">
                <a:solidFill>
                  <a:srgbClr val="6B7280"/>
                </a:solidFill>
                <a:latin typeface="Calibri"/>
                <a:ea typeface="Calibri"/>
                <a:cs typeface="Calibri"/>
                <a:sym typeface="Calibri"/>
              </a:rPr>
              <a:t>confidentialité</a:t>
            </a:r>
            <a:r>
              <a:rPr lang="en-US" sz="1200" b="0" i="0" u="none" strike="noStrike" cap="none" dirty="0">
                <a:solidFill>
                  <a:srgbClr val="6B7280"/>
                </a:solidFill>
                <a:latin typeface="Calibri"/>
                <a:ea typeface="Calibri"/>
                <a:cs typeface="Calibri"/>
                <a:sym typeface="Calibri"/>
              </a:rPr>
              <a:t> et la </a:t>
            </a:r>
            <a:r>
              <a:rPr lang="en-US" sz="1200" b="0" i="0" u="none" strike="noStrike" cap="none" dirty="0" err="1">
                <a:solidFill>
                  <a:srgbClr val="6B7280"/>
                </a:solidFill>
                <a:latin typeface="Calibri"/>
                <a:ea typeface="Calibri"/>
                <a:cs typeface="Calibri"/>
                <a:sym typeface="Calibri"/>
              </a:rPr>
              <a:t>pérennité</a:t>
            </a:r>
            <a:r>
              <a:rPr lang="en-US" sz="1200" b="0" i="0" u="none" strike="noStrike" cap="none" dirty="0">
                <a:solidFill>
                  <a:srgbClr val="6B7280"/>
                </a:solidFill>
                <a:latin typeface="Calibri"/>
                <a:ea typeface="Calibri"/>
                <a:cs typeface="Calibri"/>
                <a:sym typeface="Calibri"/>
              </a:rPr>
              <a:t> des dossiers</a:t>
            </a:r>
            <a:endParaRPr sz="1200" b="0" i="0" u="none" strike="noStrike" cap="none" dirty="0">
              <a:solidFill>
                <a:schemeClr val="dk1"/>
              </a:solidFill>
              <a:latin typeface="Calibri"/>
              <a:ea typeface="Calibri"/>
              <a:cs typeface="Calibri"/>
              <a:sym typeface="Calibri"/>
            </a:endParaRPr>
          </a:p>
        </p:txBody>
      </p:sp>
      <p:sp>
        <p:nvSpPr>
          <p:cNvPr id="62" name="Google Shape;62;p5"/>
          <p:cNvSpPr/>
          <p:nvPr/>
        </p:nvSpPr>
        <p:spPr>
          <a:xfrm>
            <a:off x="6126480" y="2468880"/>
            <a:ext cx="2651760" cy="1828800"/>
          </a:xfrm>
          <a:prstGeom prst="rect">
            <a:avLst/>
          </a:prstGeom>
          <a:solidFill>
            <a:srgbClr val="F0F4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5"/>
          <p:cNvSpPr/>
          <p:nvPr/>
        </p:nvSpPr>
        <p:spPr>
          <a:xfrm>
            <a:off x="6126480" y="2468880"/>
            <a:ext cx="2651760" cy="54864"/>
          </a:xfrm>
          <a:prstGeom prst="rect">
            <a:avLst/>
          </a:prstGeom>
          <a:solidFill>
            <a:srgbClr val="FFC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5"/>
          <p:cNvSpPr/>
          <p:nvPr/>
        </p:nvSpPr>
        <p:spPr>
          <a:xfrm>
            <a:off x="6309360" y="2651760"/>
            <a:ext cx="228600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E2761"/>
              </a:buClr>
              <a:buSzPts val="1400"/>
              <a:buFont typeface="Calibri"/>
              <a:buNone/>
            </a:pPr>
            <a:r>
              <a:rPr lang="en-US" sz="1400" b="1" i="0" u="none" strike="noStrike" cap="none">
                <a:solidFill>
                  <a:srgbClr val="1E2761"/>
                </a:solidFill>
                <a:latin typeface="Calibri"/>
                <a:ea typeface="Calibri"/>
                <a:cs typeface="Calibri"/>
                <a:sym typeface="Calibri"/>
              </a:rPr>
              <a:t>Déploiement</a:t>
            </a:r>
            <a:endParaRPr sz="1400" b="0" i="0" u="none" strike="noStrike" cap="none">
              <a:solidFill>
                <a:schemeClr val="dk1"/>
              </a:solidFill>
              <a:latin typeface="Calibri"/>
              <a:ea typeface="Calibri"/>
              <a:cs typeface="Calibri"/>
              <a:sym typeface="Calibri"/>
            </a:endParaRPr>
          </a:p>
        </p:txBody>
      </p:sp>
      <p:sp>
        <p:nvSpPr>
          <p:cNvPr id="65" name="Google Shape;65;p5"/>
          <p:cNvSpPr/>
          <p:nvPr/>
        </p:nvSpPr>
        <p:spPr>
          <a:xfrm>
            <a:off x="6309360" y="3017520"/>
            <a:ext cx="2286000" cy="1097280"/>
          </a:xfrm>
          <a:prstGeom prst="rect">
            <a:avLst/>
          </a:prstGeom>
          <a:noFill/>
          <a:ln>
            <a:noFill/>
          </a:ln>
        </p:spPr>
        <p:txBody>
          <a:bodyPr spcFirstLastPara="1" wrap="square" lIns="91425" tIns="45700" rIns="91425" bIns="45700" anchor="ctr" anchorCtr="0">
            <a:noAutofit/>
          </a:bodyPr>
          <a:lstStyle/>
          <a:p>
            <a:pPr marL="0" marR="0" lvl="0" indent="0" algn="ctr" rtl="0">
              <a:lnSpc>
                <a:spcPct val="130000"/>
              </a:lnSpc>
              <a:spcBef>
                <a:spcPts val="0"/>
              </a:spcBef>
              <a:spcAft>
                <a:spcPts val="0"/>
              </a:spcAft>
              <a:buClr>
                <a:srgbClr val="6B7280"/>
              </a:buClr>
              <a:buSzPts val="1100"/>
              <a:buFont typeface="Calibri"/>
              <a:buNone/>
            </a:pPr>
            <a:r>
              <a:rPr lang="en-US" sz="1200" b="0" i="0" u="none" strike="noStrike" cap="none" dirty="0">
                <a:solidFill>
                  <a:srgbClr val="6B7280"/>
                </a:solidFill>
                <a:latin typeface="Calibri"/>
                <a:ea typeface="Calibri"/>
                <a:cs typeface="Calibri"/>
                <a:sym typeface="Calibri"/>
              </a:rPr>
              <a:t>Base de </a:t>
            </a:r>
            <a:r>
              <a:rPr lang="en-US" sz="1200" b="0" i="0" u="none" strike="noStrike" cap="none" dirty="0" err="1">
                <a:solidFill>
                  <a:srgbClr val="6B7280"/>
                </a:solidFill>
                <a:latin typeface="Calibri"/>
                <a:ea typeface="Calibri"/>
                <a:cs typeface="Calibri"/>
                <a:sym typeface="Calibri"/>
              </a:rPr>
              <a:t>données</a:t>
            </a:r>
            <a:r>
              <a:rPr lang="en-US" sz="1200" b="0" i="0" u="none" strike="noStrike" cap="none" dirty="0">
                <a:solidFill>
                  <a:srgbClr val="6B7280"/>
                </a:solidFill>
                <a:latin typeface="Calibri"/>
                <a:ea typeface="Calibri"/>
                <a:cs typeface="Calibri"/>
                <a:sym typeface="Calibri"/>
              </a:rPr>
              <a:t> </a:t>
            </a:r>
            <a:r>
              <a:rPr lang="en-US" sz="1200" b="0" i="0" u="none" strike="noStrike" cap="none" dirty="0" err="1">
                <a:solidFill>
                  <a:srgbClr val="6B7280"/>
                </a:solidFill>
                <a:latin typeface="Calibri"/>
                <a:ea typeface="Calibri"/>
                <a:cs typeface="Calibri"/>
                <a:sym typeface="Calibri"/>
              </a:rPr>
              <a:t>amovible</a:t>
            </a:r>
            <a:r>
              <a:rPr lang="en-US" sz="1200" b="0" i="0" u="none" strike="noStrike" cap="none" dirty="0">
                <a:solidFill>
                  <a:srgbClr val="6B7280"/>
                </a:solidFill>
                <a:latin typeface="Calibri"/>
                <a:ea typeface="Calibri"/>
                <a:cs typeface="Calibri"/>
                <a:sym typeface="Calibri"/>
              </a:rPr>
              <a:t>, multi-</a:t>
            </a:r>
            <a:r>
              <a:rPr lang="en-US" sz="1200" b="0" i="0" u="none" strike="noStrike" cap="none" dirty="0" err="1">
                <a:solidFill>
                  <a:srgbClr val="6B7280"/>
                </a:solidFill>
                <a:latin typeface="Calibri"/>
                <a:ea typeface="Calibri"/>
                <a:cs typeface="Calibri"/>
                <a:sym typeface="Calibri"/>
              </a:rPr>
              <a:t>postes</a:t>
            </a:r>
            <a:r>
              <a:rPr lang="en-US" sz="1200" b="0" i="0" u="none" strike="noStrike" cap="none" dirty="0">
                <a:solidFill>
                  <a:srgbClr val="6B7280"/>
                </a:solidFill>
                <a:latin typeface="Calibri"/>
                <a:ea typeface="Calibri"/>
                <a:cs typeface="Calibri"/>
                <a:sym typeface="Calibri"/>
              </a:rPr>
              <a:t> sans </a:t>
            </a:r>
            <a:r>
              <a:rPr lang="en-US" sz="1200" b="0" i="0" u="none" strike="noStrike" cap="none" dirty="0" err="1">
                <a:solidFill>
                  <a:srgbClr val="6B7280"/>
                </a:solidFill>
                <a:latin typeface="Calibri"/>
                <a:ea typeface="Calibri"/>
                <a:cs typeface="Calibri"/>
                <a:sym typeface="Calibri"/>
              </a:rPr>
              <a:t>réseau</a:t>
            </a:r>
            <a:endParaRPr sz="1200" b="0" i="0" u="none" strike="noStrike" cap="none" dirty="0">
              <a:solidFill>
                <a:schemeClr val="dk1"/>
              </a:solidFill>
              <a:latin typeface="Calibri"/>
              <a:ea typeface="Calibri"/>
              <a:cs typeface="Calibri"/>
              <a:sym typeface="Calibri"/>
            </a:endParaRPr>
          </a:p>
        </p:txBody>
      </p:sp>
      <p:grpSp>
        <p:nvGrpSpPr>
          <p:cNvPr id="21" name="Group 32"/>
          <p:cNvGrpSpPr/>
          <p:nvPr/>
        </p:nvGrpSpPr>
        <p:grpSpPr>
          <a:xfrm>
            <a:off x="91440" y="86033"/>
            <a:ext cx="9052560" cy="778837"/>
            <a:chOff x="330" y="182"/>
            <a:chExt cx="18543" cy="1604"/>
          </a:xfrm>
        </p:grpSpPr>
        <p:sp>
          <p:nvSpPr>
            <p:cNvPr id="22" name="Freeform 3"/>
            <p:cNvSpPr/>
            <p:nvPr/>
          </p:nvSpPr>
          <p:spPr>
            <a:xfrm>
              <a:off x="330" y="182"/>
              <a:ext cx="1640" cy="1604"/>
            </a:xfrm>
            <a:custGeom>
              <a:avLst/>
              <a:gdLst/>
              <a:ahLst/>
              <a:cxnLst/>
              <a:rect l="l" t="t" r="r" b="b"/>
              <a:pathLst>
                <a:path w="6263628" h="7097595">
                  <a:moveTo>
                    <a:pt x="0" y="0"/>
                  </a:moveTo>
                  <a:lnTo>
                    <a:pt x="6263628" y="0"/>
                  </a:lnTo>
                  <a:lnTo>
                    <a:pt x="6263628" y="7097595"/>
                  </a:lnTo>
                  <a:lnTo>
                    <a:pt x="0" y="7097595"/>
                  </a:lnTo>
                  <a:lnTo>
                    <a:pt x="0" y="0"/>
                  </a:lnTo>
                  <a:close/>
                </a:path>
              </a:pathLst>
            </a:custGeom>
            <a:blipFill>
              <a:blip r:embed="rId3"/>
              <a:stretch>
                <a:fillRect/>
              </a:stretch>
            </a:blipFill>
          </p:spPr>
        </p:sp>
        <p:pic>
          <p:nvPicPr>
            <p:cNvPr id="23" name="Picture 3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953" y="182"/>
              <a:ext cx="1920" cy="1604"/>
            </a:xfrm>
            <a:prstGeom prst="rect">
              <a:avLst/>
            </a:prstGeom>
          </p:spPr>
        </p:pic>
      </p:grpSp>
      <p:sp>
        <p:nvSpPr>
          <p:cNvPr id="24" name="TextBox 5"/>
          <p:cNvSpPr txBox="1"/>
          <p:nvPr/>
        </p:nvSpPr>
        <p:spPr>
          <a:xfrm>
            <a:off x="1783080" y="2607564"/>
            <a:ext cx="530915" cy="507831"/>
          </a:xfrm>
          <a:prstGeom prst="rect">
            <a:avLst/>
          </a:prstGeom>
          <a:noFill/>
        </p:spPr>
        <p:txBody>
          <a:bodyPr wrap="none">
            <a:spAutoFit/>
          </a:bodyPr>
          <a:lstStyle/>
          <a:p>
            <a:pPr algn="ctr">
              <a:defRPr sz="3600"/>
            </a:pPr>
            <a:r>
              <a:rPr sz="2700" dirty="0"/>
              <a:t>🔄</a:t>
            </a:r>
          </a:p>
        </p:txBody>
      </p:sp>
      <p:sp>
        <p:nvSpPr>
          <p:cNvPr id="25" name="TextBox 9"/>
          <p:cNvSpPr txBox="1"/>
          <p:nvPr/>
        </p:nvSpPr>
        <p:spPr>
          <a:xfrm>
            <a:off x="4679923" y="2557864"/>
            <a:ext cx="530915" cy="507831"/>
          </a:xfrm>
          <a:prstGeom prst="rect">
            <a:avLst/>
          </a:prstGeom>
          <a:noFill/>
        </p:spPr>
        <p:txBody>
          <a:bodyPr wrap="none">
            <a:spAutoFit/>
          </a:bodyPr>
          <a:lstStyle/>
          <a:p>
            <a:pPr algn="ctr">
              <a:defRPr sz="3600"/>
            </a:pPr>
            <a:r>
              <a:rPr sz="2700" dirty="0"/>
              <a:t>🔒</a:t>
            </a:r>
          </a:p>
        </p:txBody>
      </p:sp>
      <p:sp>
        <p:nvSpPr>
          <p:cNvPr id="26" name="TextBox 13"/>
          <p:cNvSpPr txBox="1"/>
          <p:nvPr/>
        </p:nvSpPr>
        <p:spPr>
          <a:xfrm>
            <a:off x="7452360" y="2580724"/>
            <a:ext cx="530915" cy="507831"/>
          </a:xfrm>
          <a:prstGeom prst="rect">
            <a:avLst/>
          </a:prstGeom>
          <a:noFill/>
        </p:spPr>
        <p:txBody>
          <a:bodyPr wrap="none">
            <a:spAutoFit/>
          </a:bodyPr>
          <a:lstStyle/>
          <a:p>
            <a:pPr algn="ctr">
              <a:defRPr sz="3600"/>
            </a:pPr>
            <a:r>
              <a:rPr sz="2700" dirty="0"/>
              <a:t>🚀</a:t>
            </a:r>
          </a:p>
        </p:txBody>
      </p:sp>
      <p:sp>
        <p:nvSpPr>
          <p:cNvPr id="27" name="Google Shape;36;p4"/>
          <p:cNvSpPr/>
          <p:nvPr/>
        </p:nvSpPr>
        <p:spPr>
          <a:xfrm>
            <a:off x="7772400" y="4709160"/>
            <a:ext cx="914400" cy="365760"/>
          </a:xfrm>
          <a:prstGeom prst="rect">
            <a:avLst/>
          </a:prstGeom>
          <a:noFill/>
          <a:ln>
            <a:noFill/>
          </a:ln>
        </p:spPr>
        <p:txBody>
          <a:bodyPr spcFirstLastPara="1" wrap="square" lIns="91425" tIns="45700" rIns="91425" bIns="45700" anchor="ctr" anchorCtr="0">
            <a:noAutofit/>
          </a:bodyPr>
          <a:lstStyle/>
          <a:p>
            <a:pPr lvl="0" algn="r">
              <a:buClr>
                <a:srgbClr val="CADCFC"/>
              </a:buClr>
              <a:buSzPts val="900"/>
            </a:pPr>
            <a:r>
              <a:rPr lang="en-US" sz="900" dirty="0">
                <a:solidFill>
                  <a:srgbClr val="CADCFC"/>
                </a:solidFill>
                <a:latin typeface="Calibri"/>
                <a:ea typeface="Calibri"/>
                <a:cs typeface="Calibri"/>
                <a:sym typeface="Calibri"/>
              </a:rPr>
              <a:t>12 </a:t>
            </a:r>
            <a:r>
              <a:rPr lang="en-US" sz="900" b="0" i="0" u="none" strike="noStrike" cap="none" dirty="0">
                <a:solidFill>
                  <a:srgbClr val="CADCFC"/>
                </a:solidFill>
                <a:latin typeface="Calibri"/>
                <a:ea typeface="Calibri"/>
                <a:cs typeface="Calibri"/>
                <a:sym typeface="Calibri"/>
              </a:rPr>
              <a:t>/ </a:t>
            </a:r>
            <a:r>
              <a:rPr lang="en-US" sz="900" dirty="0">
                <a:solidFill>
                  <a:srgbClr val="CADCFC"/>
                </a:solidFill>
                <a:latin typeface="Calibri"/>
                <a:ea typeface="Calibri"/>
                <a:cs typeface="Calibri"/>
                <a:sym typeface="Calibri"/>
              </a:rPr>
              <a:t>27</a:t>
            </a:r>
            <a:endParaRPr lang="en-US" sz="900" dirty="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60960"/>
            <a:ext cx="9143771" cy="82296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 name="TextBox 2"/>
          <p:cNvSpPr txBox="1"/>
          <p:nvPr/>
        </p:nvSpPr>
        <p:spPr>
          <a:xfrm>
            <a:off x="2232246" y="220668"/>
            <a:ext cx="3991798" cy="415498"/>
          </a:xfrm>
          <a:prstGeom prst="rect">
            <a:avLst/>
          </a:prstGeom>
          <a:noFill/>
        </p:spPr>
        <p:txBody>
          <a:bodyPr wrap="none">
            <a:spAutoFit/>
          </a:bodyPr>
          <a:lstStyle/>
          <a:p>
            <a:pPr>
              <a:defRPr sz="2800" b="1">
                <a:solidFill>
                  <a:srgbClr val="FFFFFF"/>
                </a:solidFill>
              </a:defRPr>
            </a:pPr>
            <a:r>
              <a:rPr sz="2100" dirty="0">
                <a:latin typeface="Calibri" panose="020F0502020204030204" pitchFamily="34" charset="0"/>
                <a:cs typeface="Calibri" panose="020F0502020204030204" pitchFamily="34" charset="0"/>
              </a:rPr>
              <a:t>MODULES / LOGICIELS SATELLITES</a:t>
            </a:r>
          </a:p>
        </p:txBody>
      </p:sp>
      <p:sp>
        <p:nvSpPr>
          <p:cNvPr id="4" name="Rounded Rectangle 3"/>
          <p:cNvSpPr/>
          <p:nvPr/>
        </p:nvSpPr>
        <p:spPr>
          <a:xfrm>
            <a:off x="2727846" y="876196"/>
            <a:ext cx="3848214" cy="1629378"/>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FFFFFF"/>
                </a:solidFill>
              </a:defRPr>
            </a:pPr>
            <a:r>
              <a:rPr sz="1650" dirty="0">
                <a:latin typeface="Calibri" panose="020F0502020204030204" pitchFamily="34" charset="0"/>
                <a:cs typeface="Calibri" panose="020F0502020204030204" pitchFamily="34" charset="0"/>
              </a:rPr>
              <a:t>SIADOC</a:t>
            </a:r>
          </a:p>
          <a:p>
            <a:pPr>
              <a:spcBef>
                <a:spcPts val="300"/>
              </a:spcBef>
              <a:defRPr sz="1200">
                <a:solidFill>
                  <a:srgbClr val="FFFFFF"/>
                </a:solidFill>
              </a:defRPr>
            </a:pPr>
            <a:r>
              <a:rPr sz="1050" dirty="0">
                <a:latin typeface="Calibri" panose="020F0502020204030204" pitchFamily="34" charset="0"/>
                <a:cs typeface="Calibri" panose="020F0502020204030204" pitchFamily="34" charset="0"/>
              </a:rPr>
              <a:t>✓ </a:t>
            </a:r>
            <a:r>
              <a:rPr sz="1050" dirty="0" err="1">
                <a:latin typeface="Calibri" panose="020F0502020204030204" pitchFamily="34" charset="0"/>
                <a:cs typeface="Calibri" panose="020F0502020204030204" pitchFamily="34" charset="0"/>
              </a:rPr>
              <a:t>Numérisation</a:t>
            </a:r>
            <a:r>
              <a:rPr sz="1050" dirty="0">
                <a:latin typeface="Calibri" panose="020F0502020204030204" pitchFamily="34" charset="0"/>
                <a:cs typeface="Calibri" panose="020F0502020204030204" pitchFamily="34" charset="0"/>
              </a:rPr>
              <a:t> de 170.000 dossiers</a:t>
            </a:r>
          </a:p>
          <a:p>
            <a:pPr>
              <a:spcBef>
                <a:spcPts val="300"/>
              </a:spcBef>
              <a:defRPr sz="1200">
                <a:solidFill>
                  <a:srgbClr val="FFFFFF"/>
                </a:solidFill>
              </a:defRPr>
            </a:pPr>
            <a:r>
              <a:rPr sz="1050" dirty="0">
                <a:latin typeface="Calibri" panose="020F0502020204030204" pitchFamily="34" charset="0"/>
                <a:cs typeface="Calibri" panose="020F0502020204030204" pitchFamily="34" charset="0"/>
              </a:rPr>
              <a:t>✓ Indexation </a:t>
            </a:r>
            <a:r>
              <a:rPr sz="1050" dirty="0" err="1">
                <a:latin typeface="Calibri" panose="020F0502020204030204" pitchFamily="34" charset="0"/>
                <a:cs typeface="Calibri" panose="020F0502020204030204" pitchFamily="34" charset="0"/>
              </a:rPr>
              <a:t>méta-données</a:t>
            </a:r>
            <a:endParaRPr sz="1050" dirty="0">
              <a:latin typeface="Calibri" panose="020F0502020204030204" pitchFamily="34" charset="0"/>
              <a:cs typeface="Calibri" panose="020F0502020204030204" pitchFamily="34" charset="0"/>
            </a:endParaRPr>
          </a:p>
          <a:p>
            <a:pPr>
              <a:spcBef>
                <a:spcPts val="300"/>
              </a:spcBef>
              <a:defRPr sz="1200">
                <a:solidFill>
                  <a:srgbClr val="FFFFFF"/>
                </a:solidFill>
              </a:defRPr>
            </a:pPr>
            <a:r>
              <a:rPr sz="1050" dirty="0">
                <a:latin typeface="Calibri" panose="020F0502020204030204" pitchFamily="34" charset="0"/>
                <a:cs typeface="Calibri" panose="020F0502020204030204" pitchFamily="34" charset="0"/>
              </a:rPr>
              <a:t>✓ </a:t>
            </a:r>
            <a:r>
              <a:rPr sz="1050" dirty="0" err="1">
                <a:latin typeface="Calibri" panose="020F0502020204030204" pitchFamily="34" charset="0"/>
                <a:cs typeface="Calibri" panose="020F0502020204030204" pitchFamily="34" charset="0"/>
              </a:rPr>
              <a:t>Coffre</a:t>
            </a:r>
            <a:r>
              <a:rPr sz="1050" dirty="0">
                <a:latin typeface="Calibri" panose="020F0502020204030204" pitchFamily="34" charset="0"/>
                <a:cs typeface="Calibri" panose="020F0502020204030204" pitchFamily="34" charset="0"/>
              </a:rPr>
              <a:t>-fort </a:t>
            </a:r>
            <a:r>
              <a:rPr sz="1050" dirty="0" err="1">
                <a:latin typeface="Calibri" panose="020F0502020204030204" pitchFamily="34" charset="0"/>
                <a:cs typeface="Calibri" panose="020F0502020204030204" pitchFamily="34" charset="0"/>
              </a:rPr>
              <a:t>numérique</a:t>
            </a:r>
            <a:endParaRPr sz="1050" dirty="0">
              <a:latin typeface="Calibri" panose="020F0502020204030204" pitchFamily="34" charset="0"/>
              <a:cs typeface="Calibri" panose="020F0502020204030204" pitchFamily="34" charset="0"/>
            </a:endParaRPr>
          </a:p>
          <a:p>
            <a:pPr>
              <a:spcBef>
                <a:spcPts val="300"/>
              </a:spcBef>
              <a:defRPr sz="1200">
                <a:solidFill>
                  <a:srgbClr val="FFFFFF"/>
                </a:solidFill>
              </a:defRPr>
            </a:pPr>
            <a:r>
              <a:rPr sz="1050" dirty="0">
                <a:latin typeface="Calibri" panose="020F0502020204030204" pitchFamily="34" charset="0"/>
                <a:cs typeface="Calibri" panose="020F0502020204030204" pitchFamily="34" charset="0"/>
              </a:rPr>
              <a:t>✓ </a:t>
            </a:r>
            <a:r>
              <a:rPr sz="1050" dirty="0" err="1">
                <a:latin typeface="Calibri" panose="020F0502020204030204" pitchFamily="34" charset="0"/>
                <a:cs typeface="Calibri" panose="020F0502020204030204" pitchFamily="34" charset="0"/>
              </a:rPr>
              <a:t>Stockage</a:t>
            </a:r>
            <a:r>
              <a:rPr sz="1050" dirty="0">
                <a:latin typeface="Calibri" panose="020F0502020204030204" pitchFamily="34" charset="0"/>
                <a:cs typeface="Calibri" panose="020F0502020204030204" pitchFamily="34" charset="0"/>
              </a:rPr>
              <a:t> </a:t>
            </a:r>
            <a:r>
              <a:rPr sz="1050" dirty="0" err="1">
                <a:latin typeface="Calibri" panose="020F0502020204030204" pitchFamily="34" charset="0"/>
                <a:cs typeface="Calibri" panose="020F0502020204030204" pitchFamily="34" charset="0"/>
              </a:rPr>
              <a:t>pérenne</a:t>
            </a:r>
            <a:r>
              <a:rPr sz="1050" dirty="0">
                <a:latin typeface="Calibri" panose="020F0502020204030204" pitchFamily="34" charset="0"/>
                <a:cs typeface="Calibri" panose="020F0502020204030204" pitchFamily="34" charset="0"/>
              </a:rPr>
              <a:t> &amp; </a:t>
            </a:r>
            <a:r>
              <a:rPr sz="1050" dirty="0" err="1">
                <a:latin typeface="Calibri" panose="020F0502020204030204" pitchFamily="34" charset="0"/>
                <a:cs typeface="Calibri" panose="020F0502020204030204" pitchFamily="34" charset="0"/>
              </a:rPr>
              <a:t>inaltérable</a:t>
            </a:r>
            <a:endParaRPr sz="1050" dirty="0">
              <a:latin typeface="Calibri" panose="020F0502020204030204" pitchFamily="34" charset="0"/>
              <a:cs typeface="Calibri" panose="020F0502020204030204" pitchFamily="34" charset="0"/>
            </a:endParaRPr>
          </a:p>
        </p:txBody>
      </p:sp>
      <p:sp>
        <p:nvSpPr>
          <p:cNvPr id="6" name="TextBox 5"/>
          <p:cNvSpPr txBox="1"/>
          <p:nvPr/>
        </p:nvSpPr>
        <p:spPr>
          <a:xfrm>
            <a:off x="419100" y="2547291"/>
            <a:ext cx="3852337" cy="300082"/>
          </a:xfrm>
          <a:prstGeom prst="rect">
            <a:avLst/>
          </a:prstGeom>
          <a:noFill/>
        </p:spPr>
        <p:txBody>
          <a:bodyPr wrap="none">
            <a:spAutoFit/>
          </a:bodyPr>
          <a:lstStyle/>
          <a:p>
            <a:pPr>
              <a:defRPr sz="1800" b="1">
                <a:solidFill>
                  <a:srgbClr val="1A202C"/>
                </a:solidFill>
              </a:defRPr>
            </a:pPr>
            <a:r>
              <a:rPr sz="1350" dirty="0"/>
              <a:t>📁 </a:t>
            </a:r>
            <a:r>
              <a:rPr sz="1350" dirty="0">
                <a:latin typeface="Calibri" panose="020F0502020204030204" pitchFamily="34" charset="0"/>
                <a:cs typeface="Calibri" panose="020F0502020204030204" pitchFamily="34" charset="0"/>
              </a:rPr>
              <a:t>Structure du Dossier de </a:t>
            </a:r>
            <a:r>
              <a:rPr sz="1350" dirty="0" err="1">
                <a:latin typeface="Calibri" panose="020F0502020204030204" pitchFamily="34" charset="0"/>
                <a:cs typeface="Calibri" panose="020F0502020204030204" pitchFamily="34" charset="0"/>
              </a:rPr>
              <a:t>Campagne</a:t>
            </a:r>
            <a:r>
              <a:rPr sz="1350" dirty="0">
                <a:latin typeface="Calibri" panose="020F0502020204030204" pitchFamily="34" charset="0"/>
                <a:cs typeface="Calibri" panose="020F0502020204030204" pitchFamily="34" charset="0"/>
              </a:rPr>
              <a:t> - 13 Modules</a:t>
            </a:r>
          </a:p>
        </p:txBody>
      </p:sp>
      <p:sp>
        <p:nvSpPr>
          <p:cNvPr id="7" name="Oval 6"/>
          <p:cNvSpPr/>
          <p:nvPr/>
        </p:nvSpPr>
        <p:spPr>
          <a:xfrm>
            <a:off x="419100" y="3087403"/>
            <a:ext cx="240030" cy="24003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FFFFFF"/>
                </a:solidFill>
              </a:defRPr>
            </a:pPr>
            <a:r>
              <a:rPr sz="750"/>
              <a:t>1</a:t>
            </a:r>
          </a:p>
        </p:txBody>
      </p:sp>
      <p:sp>
        <p:nvSpPr>
          <p:cNvPr id="8" name="TextBox 7"/>
          <p:cNvSpPr txBox="1"/>
          <p:nvPr/>
        </p:nvSpPr>
        <p:spPr>
          <a:xfrm>
            <a:off x="693421" y="3087403"/>
            <a:ext cx="877163" cy="230832"/>
          </a:xfrm>
          <a:prstGeom prst="rect">
            <a:avLst/>
          </a:prstGeom>
          <a:noFill/>
        </p:spPr>
        <p:txBody>
          <a:bodyPr wrap="none">
            <a:spAutoFit/>
          </a:bodyPr>
          <a:lstStyle/>
          <a:p>
            <a:pPr>
              <a:defRPr sz="1200">
                <a:solidFill>
                  <a:srgbClr val="1A202C"/>
                </a:solidFill>
              </a:defRPr>
            </a:pPr>
            <a:r>
              <a:rPr sz="900" dirty="0" err="1"/>
              <a:t>Profil</a:t>
            </a:r>
            <a:r>
              <a:rPr sz="900" dirty="0"/>
              <a:t> </a:t>
            </a:r>
            <a:r>
              <a:rPr sz="900" dirty="0" err="1"/>
              <a:t>Militaire</a:t>
            </a:r>
            <a:endParaRPr sz="900" dirty="0"/>
          </a:p>
        </p:txBody>
      </p:sp>
      <p:sp>
        <p:nvSpPr>
          <p:cNvPr id="9" name="Oval 8"/>
          <p:cNvSpPr/>
          <p:nvPr/>
        </p:nvSpPr>
        <p:spPr>
          <a:xfrm>
            <a:off x="2613660" y="3087403"/>
            <a:ext cx="240030" cy="24003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FFFFFF"/>
                </a:solidFill>
              </a:defRPr>
            </a:pPr>
            <a:r>
              <a:rPr sz="750"/>
              <a:t>2</a:t>
            </a:r>
          </a:p>
        </p:txBody>
      </p:sp>
      <p:sp>
        <p:nvSpPr>
          <p:cNvPr id="10" name="TextBox 9"/>
          <p:cNvSpPr txBox="1"/>
          <p:nvPr/>
        </p:nvSpPr>
        <p:spPr>
          <a:xfrm>
            <a:off x="2887981" y="3087403"/>
            <a:ext cx="639919" cy="230832"/>
          </a:xfrm>
          <a:prstGeom prst="rect">
            <a:avLst/>
          </a:prstGeom>
          <a:noFill/>
        </p:spPr>
        <p:txBody>
          <a:bodyPr wrap="none">
            <a:spAutoFit/>
          </a:bodyPr>
          <a:lstStyle/>
          <a:p>
            <a:pPr>
              <a:defRPr sz="1200">
                <a:solidFill>
                  <a:srgbClr val="1A202C"/>
                </a:solidFill>
              </a:defRPr>
            </a:pPr>
            <a:r>
              <a:rPr sz="900"/>
              <a:t>État Civil</a:t>
            </a:r>
          </a:p>
        </p:txBody>
      </p:sp>
      <p:sp>
        <p:nvSpPr>
          <p:cNvPr id="11" name="Oval 10"/>
          <p:cNvSpPr/>
          <p:nvPr/>
        </p:nvSpPr>
        <p:spPr>
          <a:xfrm>
            <a:off x="4808220" y="3087403"/>
            <a:ext cx="240030" cy="24003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FFFFFF"/>
                </a:solidFill>
              </a:defRPr>
            </a:pPr>
            <a:r>
              <a:rPr sz="750"/>
              <a:t>3</a:t>
            </a:r>
          </a:p>
        </p:txBody>
      </p:sp>
      <p:sp>
        <p:nvSpPr>
          <p:cNvPr id="12" name="TextBox 11"/>
          <p:cNvSpPr txBox="1"/>
          <p:nvPr/>
        </p:nvSpPr>
        <p:spPr>
          <a:xfrm>
            <a:off x="5082541" y="3087403"/>
            <a:ext cx="825867" cy="230832"/>
          </a:xfrm>
          <a:prstGeom prst="rect">
            <a:avLst/>
          </a:prstGeom>
          <a:noFill/>
        </p:spPr>
        <p:txBody>
          <a:bodyPr wrap="none">
            <a:spAutoFit/>
          </a:bodyPr>
          <a:lstStyle/>
          <a:p>
            <a:pPr>
              <a:defRPr sz="1200">
                <a:solidFill>
                  <a:srgbClr val="1A202C"/>
                </a:solidFill>
              </a:defRPr>
            </a:pPr>
            <a:r>
              <a:rPr sz="900"/>
              <a:t>Avancement</a:t>
            </a:r>
          </a:p>
        </p:txBody>
      </p:sp>
      <p:sp>
        <p:nvSpPr>
          <p:cNvPr id="13" name="Oval 12"/>
          <p:cNvSpPr/>
          <p:nvPr/>
        </p:nvSpPr>
        <p:spPr>
          <a:xfrm>
            <a:off x="7002780" y="3087403"/>
            <a:ext cx="240030" cy="24003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FFFFFF"/>
                </a:solidFill>
              </a:defRPr>
            </a:pPr>
            <a:r>
              <a:rPr sz="750"/>
              <a:t>4</a:t>
            </a:r>
          </a:p>
        </p:txBody>
      </p:sp>
      <p:sp>
        <p:nvSpPr>
          <p:cNvPr id="14" name="TextBox 13"/>
          <p:cNvSpPr txBox="1"/>
          <p:nvPr/>
        </p:nvSpPr>
        <p:spPr>
          <a:xfrm>
            <a:off x="7277100" y="3087403"/>
            <a:ext cx="1261884" cy="230832"/>
          </a:xfrm>
          <a:prstGeom prst="rect">
            <a:avLst/>
          </a:prstGeom>
          <a:noFill/>
        </p:spPr>
        <p:txBody>
          <a:bodyPr wrap="none">
            <a:spAutoFit/>
          </a:bodyPr>
          <a:lstStyle/>
          <a:p>
            <a:pPr>
              <a:defRPr sz="1200">
                <a:solidFill>
                  <a:srgbClr val="1A202C"/>
                </a:solidFill>
              </a:defRPr>
            </a:pPr>
            <a:r>
              <a:rPr sz="900"/>
              <a:t>Affectation/Fonctions</a:t>
            </a:r>
          </a:p>
        </p:txBody>
      </p:sp>
      <p:sp>
        <p:nvSpPr>
          <p:cNvPr id="15" name="Oval 14"/>
          <p:cNvSpPr/>
          <p:nvPr/>
        </p:nvSpPr>
        <p:spPr>
          <a:xfrm>
            <a:off x="419100" y="3567463"/>
            <a:ext cx="240030" cy="24003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FFFFFF"/>
                </a:solidFill>
              </a:defRPr>
            </a:pPr>
            <a:r>
              <a:rPr sz="750"/>
              <a:t>5</a:t>
            </a:r>
          </a:p>
        </p:txBody>
      </p:sp>
      <p:sp>
        <p:nvSpPr>
          <p:cNvPr id="16" name="TextBox 15"/>
          <p:cNvSpPr txBox="1"/>
          <p:nvPr/>
        </p:nvSpPr>
        <p:spPr>
          <a:xfrm>
            <a:off x="693421" y="3567463"/>
            <a:ext cx="922047" cy="230832"/>
          </a:xfrm>
          <a:prstGeom prst="rect">
            <a:avLst/>
          </a:prstGeom>
          <a:noFill/>
        </p:spPr>
        <p:txBody>
          <a:bodyPr wrap="none">
            <a:spAutoFit/>
          </a:bodyPr>
          <a:lstStyle/>
          <a:p>
            <a:pPr>
              <a:defRPr sz="1200">
                <a:solidFill>
                  <a:srgbClr val="1A202C"/>
                </a:solidFill>
              </a:defRPr>
            </a:pPr>
            <a:r>
              <a:rPr sz="900"/>
              <a:t>Récompenses</a:t>
            </a:r>
          </a:p>
        </p:txBody>
      </p:sp>
      <p:sp>
        <p:nvSpPr>
          <p:cNvPr id="17" name="Oval 16"/>
          <p:cNvSpPr/>
          <p:nvPr/>
        </p:nvSpPr>
        <p:spPr>
          <a:xfrm>
            <a:off x="2613660" y="3567463"/>
            <a:ext cx="240030" cy="24003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FFFFFF"/>
                </a:solidFill>
              </a:defRPr>
            </a:pPr>
            <a:r>
              <a:rPr sz="750"/>
              <a:t>6</a:t>
            </a:r>
          </a:p>
        </p:txBody>
      </p:sp>
      <p:sp>
        <p:nvSpPr>
          <p:cNvPr id="18" name="TextBox 17"/>
          <p:cNvSpPr txBox="1"/>
          <p:nvPr/>
        </p:nvSpPr>
        <p:spPr>
          <a:xfrm>
            <a:off x="2887981" y="3567463"/>
            <a:ext cx="1005403" cy="230832"/>
          </a:xfrm>
          <a:prstGeom prst="rect">
            <a:avLst/>
          </a:prstGeom>
          <a:noFill/>
        </p:spPr>
        <p:txBody>
          <a:bodyPr wrap="none">
            <a:spAutoFit/>
          </a:bodyPr>
          <a:lstStyle/>
          <a:p>
            <a:pPr>
              <a:defRPr sz="1200">
                <a:solidFill>
                  <a:srgbClr val="1A202C"/>
                </a:solidFill>
              </a:defRPr>
            </a:pPr>
            <a:r>
              <a:rPr sz="900"/>
              <a:t>Dossier Médical</a:t>
            </a:r>
          </a:p>
        </p:txBody>
      </p:sp>
      <p:sp>
        <p:nvSpPr>
          <p:cNvPr id="19" name="Oval 18"/>
          <p:cNvSpPr/>
          <p:nvPr/>
        </p:nvSpPr>
        <p:spPr>
          <a:xfrm>
            <a:off x="4808220" y="3567463"/>
            <a:ext cx="240030" cy="24003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FFFFFF"/>
                </a:solidFill>
              </a:defRPr>
            </a:pPr>
            <a:r>
              <a:rPr sz="750"/>
              <a:t>7</a:t>
            </a:r>
          </a:p>
        </p:txBody>
      </p:sp>
      <p:sp>
        <p:nvSpPr>
          <p:cNvPr id="20" name="TextBox 19"/>
          <p:cNvSpPr txBox="1"/>
          <p:nvPr/>
        </p:nvSpPr>
        <p:spPr>
          <a:xfrm>
            <a:off x="5082541" y="3567463"/>
            <a:ext cx="614271" cy="230832"/>
          </a:xfrm>
          <a:prstGeom prst="rect">
            <a:avLst/>
          </a:prstGeom>
          <a:noFill/>
        </p:spPr>
        <p:txBody>
          <a:bodyPr wrap="none">
            <a:spAutoFit/>
          </a:bodyPr>
          <a:lstStyle/>
          <a:p>
            <a:pPr>
              <a:defRPr sz="1200">
                <a:solidFill>
                  <a:srgbClr val="1A202C"/>
                </a:solidFill>
              </a:defRPr>
            </a:pPr>
            <a:r>
              <a:rPr sz="900"/>
              <a:t>Notation</a:t>
            </a:r>
          </a:p>
        </p:txBody>
      </p:sp>
      <p:sp>
        <p:nvSpPr>
          <p:cNvPr id="21" name="Oval 20"/>
          <p:cNvSpPr/>
          <p:nvPr/>
        </p:nvSpPr>
        <p:spPr>
          <a:xfrm>
            <a:off x="7002780" y="3567463"/>
            <a:ext cx="240030" cy="24003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FFFFFF"/>
                </a:solidFill>
              </a:defRPr>
            </a:pPr>
            <a:r>
              <a:rPr sz="750"/>
              <a:t>8</a:t>
            </a:r>
          </a:p>
        </p:txBody>
      </p:sp>
      <p:sp>
        <p:nvSpPr>
          <p:cNvPr id="22" name="TextBox 21"/>
          <p:cNvSpPr txBox="1"/>
          <p:nvPr/>
        </p:nvSpPr>
        <p:spPr>
          <a:xfrm>
            <a:off x="7277100" y="3567463"/>
            <a:ext cx="1197764" cy="230832"/>
          </a:xfrm>
          <a:prstGeom prst="rect">
            <a:avLst/>
          </a:prstGeom>
          <a:noFill/>
        </p:spPr>
        <p:txBody>
          <a:bodyPr wrap="none">
            <a:spAutoFit/>
          </a:bodyPr>
          <a:lstStyle/>
          <a:p>
            <a:pPr>
              <a:defRPr sz="1200">
                <a:solidFill>
                  <a:srgbClr val="1A202C"/>
                </a:solidFill>
              </a:defRPr>
            </a:pPr>
            <a:r>
              <a:rPr sz="900"/>
              <a:t>Punitions/Sanctions</a:t>
            </a:r>
          </a:p>
        </p:txBody>
      </p:sp>
      <p:sp>
        <p:nvSpPr>
          <p:cNvPr id="23" name="Oval 22"/>
          <p:cNvSpPr/>
          <p:nvPr/>
        </p:nvSpPr>
        <p:spPr>
          <a:xfrm>
            <a:off x="419100" y="4047523"/>
            <a:ext cx="240030" cy="24003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FFFFFF"/>
                </a:solidFill>
              </a:defRPr>
            </a:pPr>
            <a:r>
              <a:rPr sz="750"/>
              <a:t>9</a:t>
            </a:r>
          </a:p>
        </p:txBody>
      </p:sp>
      <p:sp>
        <p:nvSpPr>
          <p:cNvPr id="24" name="TextBox 23"/>
          <p:cNvSpPr txBox="1"/>
          <p:nvPr/>
        </p:nvSpPr>
        <p:spPr>
          <a:xfrm>
            <a:off x="693421" y="4047523"/>
            <a:ext cx="665567" cy="230832"/>
          </a:xfrm>
          <a:prstGeom prst="rect">
            <a:avLst/>
          </a:prstGeom>
          <a:noFill/>
        </p:spPr>
        <p:txBody>
          <a:bodyPr wrap="none">
            <a:spAutoFit/>
          </a:bodyPr>
          <a:lstStyle/>
          <a:p>
            <a:pPr>
              <a:defRPr sz="1200">
                <a:solidFill>
                  <a:srgbClr val="1A202C"/>
                </a:solidFill>
              </a:defRPr>
            </a:pPr>
            <a:r>
              <a:rPr sz="900"/>
              <a:t>Diplômes</a:t>
            </a:r>
          </a:p>
        </p:txBody>
      </p:sp>
      <p:sp>
        <p:nvSpPr>
          <p:cNvPr id="25" name="Oval 24"/>
          <p:cNvSpPr/>
          <p:nvPr/>
        </p:nvSpPr>
        <p:spPr>
          <a:xfrm>
            <a:off x="2613660" y="4047523"/>
            <a:ext cx="240030" cy="24003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FFFFFF"/>
                </a:solidFill>
              </a:defRPr>
            </a:pPr>
            <a:r>
              <a:rPr sz="750"/>
              <a:t>10</a:t>
            </a:r>
          </a:p>
        </p:txBody>
      </p:sp>
      <p:sp>
        <p:nvSpPr>
          <p:cNvPr id="26" name="TextBox 25"/>
          <p:cNvSpPr txBox="1"/>
          <p:nvPr/>
        </p:nvSpPr>
        <p:spPr>
          <a:xfrm>
            <a:off x="2887980" y="4047523"/>
            <a:ext cx="1152880" cy="230832"/>
          </a:xfrm>
          <a:prstGeom prst="rect">
            <a:avLst/>
          </a:prstGeom>
          <a:noFill/>
        </p:spPr>
        <p:txBody>
          <a:bodyPr wrap="none">
            <a:spAutoFit/>
          </a:bodyPr>
          <a:lstStyle/>
          <a:p>
            <a:pPr>
              <a:defRPr sz="1200">
                <a:solidFill>
                  <a:srgbClr val="1A202C"/>
                </a:solidFill>
              </a:defRPr>
            </a:pPr>
            <a:r>
              <a:rPr sz="900"/>
              <a:t>Stages/Formations</a:t>
            </a:r>
          </a:p>
        </p:txBody>
      </p:sp>
      <p:sp>
        <p:nvSpPr>
          <p:cNvPr id="27" name="Oval 26"/>
          <p:cNvSpPr/>
          <p:nvPr/>
        </p:nvSpPr>
        <p:spPr>
          <a:xfrm>
            <a:off x="4808220" y="4047523"/>
            <a:ext cx="240030" cy="24003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FFFFFF"/>
                </a:solidFill>
              </a:defRPr>
            </a:pPr>
            <a:r>
              <a:rPr sz="750"/>
              <a:t>11</a:t>
            </a:r>
          </a:p>
        </p:txBody>
      </p:sp>
      <p:sp>
        <p:nvSpPr>
          <p:cNvPr id="28" name="TextBox 27"/>
          <p:cNvSpPr txBox="1"/>
          <p:nvPr/>
        </p:nvSpPr>
        <p:spPr>
          <a:xfrm>
            <a:off x="5082540" y="4047523"/>
            <a:ext cx="1293944" cy="230832"/>
          </a:xfrm>
          <a:prstGeom prst="rect">
            <a:avLst/>
          </a:prstGeom>
          <a:noFill/>
        </p:spPr>
        <p:txBody>
          <a:bodyPr wrap="none">
            <a:spAutoFit/>
          </a:bodyPr>
          <a:lstStyle/>
          <a:p>
            <a:pPr>
              <a:defRPr sz="1200">
                <a:solidFill>
                  <a:srgbClr val="1A202C"/>
                </a:solidFill>
              </a:defRPr>
            </a:pPr>
            <a:r>
              <a:rPr sz="900"/>
              <a:t>Campagnes Militaires</a:t>
            </a:r>
          </a:p>
        </p:txBody>
      </p:sp>
      <p:sp>
        <p:nvSpPr>
          <p:cNvPr id="29" name="Oval 28"/>
          <p:cNvSpPr/>
          <p:nvPr/>
        </p:nvSpPr>
        <p:spPr>
          <a:xfrm>
            <a:off x="7002780" y="4047523"/>
            <a:ext cx="240030" cy="24003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FFFFFF"/>
                </a:solidFill>
              </a:defRPr>
            </a:pPr>
            <a:r>
              <a:rPr sz="750"/>
              <a:t>12</a:t>
            </a:r>
          </a:p>
        </p:txBody>
      </p:sp>
      <p:sp>
        <p:nvSpPr>
          <p:cNvPr id="30" name="TextBox 29"/>
          <p:cNvSpPr txBox="1"/>
          <p:nvPr/>
        </p:nvSpPr>
        <p:spPr>
          <a:xfrm>
            <a:off x="7277100" y="4047523"/>
            <a:ext cx="1261884" cy="230832"/>
          </a:xfrm>
          <a:prstGeom prst="rect">
            <a:avLst/>
          </a:prstGeom>
          <a:noFill/>
        </p:spPr>
        <p:txBody>
          <a:bodyPr wrap="none">
            <a:spAutoFit/>
          </a:bodyPr>
          <a:lstStyle/>
          <a:p>
            <a:pPr>
              <a:defRPr sz="1200">
                <a:solidFill>
                  <a:srgbClr val="1A202C"/>
                </a:solidFill>
              </a:defRPr>
            </a:pPr>
            <a:r>
              <a:rPr sz="900"/>
              <a:t>Carnet Instruction/Tir</a:t>
            </a:r>
          </a:p>
        </p:txBody>
      </p:sp>
      <p:sp>
        <p:nvSpPr>
          <p:cNvPr id="31" name="Oval 30"/>
          <p:cNvSpPr/>
          <p:nvPr/>
        </p:nvSpPr>
        <p:spPr>
          <a:xfrm>
            <a:off x="419100" y="4386612"/>
            <a:ext cx="274320" cy="26289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FFFFFF"/>
                </a:solidFill>
              </a:defRPr>
            </a:pPr>
            <a:r>
              <a:rPr lang="fr-FR" sz="750" dirty="0"/>
              <a:t>13</a:t>
            </a:r>
            <a:endParaRPr sz="750" dirty="0"/>
          </a:p>
        </p:txBody>
      </p:sp>
      <p:sp>
        <p:nvSpPr>
          <p:cNvPr id="32" name="TextBox 31"/>
          <p:cNvSpPr txBox="1"/>
          <p:nvPr/>
        </p:nvSpPr>
        <p:spPr>
          <a:xfrm>
            <a:off x="659130" y="4418670"/>
            <a:ext cx="1258678" cy="230832"/>
          </a:xfrm>
          <a:prstGeom prst="rect">
            <a:avLst/>
          </a:prstGeom>
          <a:noFill/>
        </p:spPr>
        <p:txBody>
          <a:bodyPr wrap="none">
            <a:spAutoFit/>
          </a:bodyPr>
          <a:lstStyle/>
          <a:p>
            <a:pPr>
              <a:defRPr sz="1200">
                <a:solidFill>
                  <a:srgbClr val="1A202C"/>
                </a:solidFill>
              </a:defRPr>
            </a:pPr>
            <a:r>
              <a:rPr sz="900" dirty="0"/>
              <a:t>Carnet </a:t>
            </a:r>
            <a:r>
              <a:rPr sz="900" dirty="0" err="1"/>
              <a:t>d'Habillement</a:t>
            </a:r>
            <a:endParaRPr sz="900" dirty="0"/>
          </a:p>
        </p:txBody>
      </p:sp>
      <p:grpSp>
        <p:nvGrpSpPr>
          <p:cNvPr id="33" name="Group 32"/>
          <p:cNvGrpSpPr/>
          <p:nvPr/>
        </p:nvGrpSpPr>
        <p:grpSpPr>
          <a:xfrm>
            <a:off x="91440" y="-44418"/>
            <a:ext cx="9052560" cy="778837"/>
            <a:chOff x="330" y="182"/>
            <a:chExt cx="18543" cy="1604"/>
          </a:xfrm>
        </p:grpSpPr>
        <p:sp>
          <p:nvSpPr>
            <p:cNvPr id="34" name="Freeform 3"/>
            <p:cNvSpPr/>
            <p:nvPr/>
          </p:nvSpPr>
          <p:spPr>
            <a:xfrm>
              <a:off x="330" y="182"/>
              <a:ext cx="1640" cy="1604"/>
            </a:xfrm>
            <a:custGeom>
              <a:avLst/>
              <a:gdLst/>
              <a:ahLst/>
              <a:cxnLst/>
              <a:rect l="l" t="t" r="r" b="b"/>
              <a:pathLst>
                <a:path w="6263628" h="7097595">
                  <a:moveTo>
                    <a:pt x="0" y="0"/>
                  </a:moveTo>
                  <a:lnTo>
                    <a:pt x="6263628" y="0"/>
                  </a:lnTo>
                  <a:lnTo>
                    <a:pt x="6263628" y="7097595"/>
                  </a:lnTo>
                  <a:lnTo>
                    <a:pt x="0" y="7097595"/>
                  </a:lnTo>
                  <a:lnTo>
                    <a:pt x="0" y="0"/>
                  </a:lnTo>
                  <a:close/>
                </a:path>
              </a:pathLst>
            </a:custGeom>
            <a:blipFill>
              <a:blip r:embed="rId2"/>
              <a:stretch>
                <a:fillRect/>
              </a:stretch>
            </a:blipFill>
          </p:spPr>
        </p:sp>
        <p:pic>
          <p:nvPicPr>
            <p:cNvPr id="35" name="Picture 3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953" y="182"/>
              <a:ext cx="1920" cy="1604"/>
            </a:xfrm>
            <a:prstGeom prst="rect">
              <a:avLst/>
            </a:prstGeom>
          </p:spPr>
        </p:pic>
      </p:grpSp>
      <p:sp>
        <p:nvSpPr>
          <p:cNvPr id="37" name="Google Shape;49;p5"/>
          <p:cNvSpPr/>
          <p:nvPr/>
        </p:nvSpPr>
        <p:spPr>
          <a:xfrm>
            <a:off x="0" y="4846320"/>
            <a:ext cx="9144000" cy="480060"/>
          </a:xfrm>
          <a:prstGeom prst="rect">
            <a:avLst/>
          </a:prstGeom>
          <a:solidFill>
            <a:srgbClr val="2E7D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5;p4"/>
          <p:cNvSpPr/>
          <p:nvPr/>
        </p:nvSpPr>
        <p:spPr>
          <a:xfrm>
            <a:off x="91440" y="4855518"/>
            <a:ext cx="640080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ADCFC"/>
              </a:buClr>
              <a:buSzPts val="900"/>
              <a:buFont typeface="Calibri"/>
              <a:buNone/>
            </a:pPr>
            <a:r>
              <a:rPr lang="en-US" sz="900" b="0" i="0" u="none" strike="noStrike" cap="none" dirty="0">
                <a:solidFill>
                  <a:srgbClr val="CADCFC"/>
                </a:solidFill>
                <a:latin typeface="Calibri"/>
                <a:ea typeface="Calibri"/>
                <a:cs typeface="Calibri"/>
                <a:sym typeface="Calibri"/>
              </a:rPr>
              <a:t>MINDEF - Direction des </a:t>
            </a:r>
            <a:r>
              <a:rPr lang="en-US" sz="900" b="0" i="0" u="none" strike="noStrike" cap="none" dirty="0" err="1">
                <a:solidFill>
                  <a:srgbClr val="CADCFC"/>
                </a:solidFill>
                <a:latin typeface="Calibri"/>
                <a:ea typeface="Calibri"/>
                <a:cs typeface="Calibri"/>
                <a:sym typeface="Calibri"/>
              </a:rPr>
              <a:t>Ressources</a:t>
            </a:r>
            <a:r>
              <a:rPr lang="en-US" sz="900" b="0" i="0" u="none" strike="noStrike" cap="none" dirty="0">
                <a:solidFill>
                  <a:srgbClr val="CADCFC"/>
                </a:solidFill>
                <a:latin typeface="Calibri"/>
                <a:ea typeface="Calibri"/>
                <a:cs typeface="Calibri"/>
                <a:sym typeface="Calibri"/>
              </a:rPr>
              <a:t> </a:t>
            </a:r>
            <a:r>
              <a:rPr lang="en-US" sz="900" b="0" i="0" u="none" strike="noStrike" cap="none" dirty="0" err="1">
                <a:solidFill>
                  <a:srgbClr val="CADCFC"/>
                </a:solidFill>
                <a:latin typeface="Calibri"/>
                <a:ea typeface="Calibri"/>
                <a:cs typeface="Calibri"/>
                <a:sym typeface="Calibri"/>
              </a:rPr>
              <a:t>Humaines</a:t>
            </a:r>
            <a:endParaRPr sz="900" b="0" i="0" u="none" strike="noStrike" cap="none" dirty="0">
              <a:solidFill>
                <a:schemeClr val="dk1"/>
              </a:solidFill>
              <a:latin typeface="Calibri"/>
              <a:ea typeface="Calibri"/>
              <a:cs typeface="Calibri"/>
              <a:sym typeface="Calibri"/>
            </a:endParaRPr>
          </a:p>
        </p:txBody>
      </p:sp>
      <p:sp>
        <p:nvSpPr>
          <p:cNvPr id="39" name="Google Shape;36;p4"/>
          <p:cNvSpPr/>
          <p:nvPr/>
        </p:nvSpPr>
        <p:spPr>
          <a:xfrm>
            <a:off x="7875982" y="4873901"/>
            <a:ext cx="914400" cy="365760"/>
          </a:xfrm>
          <a:prstGeom prst="rect">
            <a:avLst/>
          </a:prstGeom>
          <a:noFill/>
          <a:ln>
            <a:noFill/>
          </a:ln>
        </p:spPr>
        <p:txBody>
          <a:bodyPr spcFirstLastPara="1" wrap="square" lIns="91425" tIns="45700" rIns="91425" bIns="45700" anchor="ctr" anchorCtr="0">
            <a:noAutofit/>
          </a:bodyPr>
          <a:lstStyle/>
          <a:p>
            <a:pPr lvl="0" algn="r">
              <a:buClr>
                <a:srgbClr val="CADCFC"/>
              </a:buClr>
              <a:buSzPts val="900"/>
            </a:pPr>
            <a:r>
              <a:rPr lang="en-US" sz="900" dirty="0">
                <a:solidFill>
                  <a:srgbClr val="CADCFC"/>
                </a:solidFill>
                <a:latin typeface="Calibri"/>
                <a:ea typeface="Calibri"/>
                <a:cs typeface="Calibri"/>
                <a:sym typeface="Calibri"/>
              </a:rPr>
              <a:t>13</a:t>
            </a:r>
            <a:r>
              <a:rPr lang="en-US" sz="900" b="0" i="0" u="none" strike="noStrike" cap="none" dirty="0">
                <a:solidFill>
                  <a:srgbClr val="CADCFC"/>
                </a:solidFill>
                <a:latin typeface="Calibri"/>
                <a:ea typeface="Calibri"/>
                <a:cs typeface="Calibri"/>
                <a:sym typeface="Calibri"/>
              </a:rPr>
              <a:t> / </a:t>
            </a:r>
            <a:r>
              <a:rPr lang="en-US" sz="900" dirty="0">
                <a:solidFill>
                  <a:srgbClr val="CADCFC"/>
                </a:solidFill>
                <a:latin typeface="Calibri"/>
                <a:ea typeface="Calibri"/>
                <a:cs typeface="Calibri"/>
                <a:sym typeface="Calibri"/>
              </a:rPr>
              <a:t>27</a:t>
            </a:r>
            <a:endParaRPr lang="en-US" sz="9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4982966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9143771" cy="82296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 name="TextBox 2"/>
          <p:cNvSpPr txBox="1"/>
          <p:nvPr/>
        </p:nvSpPr>
        <p:spPr>
          <a:xfrm>
            <a:off x="1492992" y="215272"/>
            <a:ext cx="5461752" cy="392415"/>
          </a:xfrm>
          <a:prstGeom prst="rect">
            <a:avLst/>
          </a:prstGeom>
          <a:noFill/>
        </p:spPr>
        <p:txBody>
          <a:bodyPr wrap="none">
            <a:spAutoFit/>
          </a:bodyPr>
          <a:lstStyle/>
          <a:p>
            <a:pPr>
              <a:defRPr sz="2600" b="1">
                <a:solidFill>
                  <a:srgbClr val="FFFFFF"/>
                </a:solidFill>
              </a:defRPr>
            </a:pPr>
            <a:r>
              <a:rPr sz="1950" dirty="0">
                <a:latin typeface="Calibri" panose="020F0502020204030204" pitchFamily="34" charset="0"/>
                <a:cs typeface="Calibri" panose="020F0502020204030204" pitchFamily="34" charset="0"/>
              </a:rPr>
              <a:t>GESTION DYNAMIQUE DU DOSSIER DE CAMPAGNE</a:t>
            </a:r>
          </a:p>
        </p:txBody>
      </p:sp>
      <p:sp>
        <p:nvSpPr>
          <p:cNvPr id="4" name="Oval 3"/>
          <p:cNvSpPr/>
          <p:nvPr/>
        </p:nvSpPr>
        <p:spPr>
          <a:xfrm>
            <a:off x="891540" y="1234440"/>
            <a:ext cx="685800" cy="685800"/>
          </a:xfrm>
          <a:prstGeom prst="ellipse">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FFFFFF"/>
                </a:solidFill>
              </a:defRPr>
            </a:pPr>
            <a:r>
              <a:rPr sz="1800">
                <a:latin typeface="Calibri" panose="020F0502020204030204" pitchFamily="34" charset="0"/>
                <a:cs typeface="Calibri" panose="020F0502020204030204" pitchFamily="34" charset="0"/>
              </a:rPr>
              <a:t>1</a:t>
            </a:r>
          </a:p>
        </p:txBody>
      </p:sp>
      <p:sp>
        <p:nvSpPr>
          <p:cNvPr id="5" name="Right Arrow 4"/>
          <p:cNvSpPr/>
          <p:nvPr/>
        </p:nvSpPr>
        <p:spPr>
          <a:xfrm>
            <a:off x="1645920" y="1440180"/>
            <a:ext cx="480060" cy="274320"/>
          </a:xfrm>
          <a:prstGeom prst="rightArrow">
            <a:avLst/>
          </a:prstGeom>
          <a:solidFill>
            <a:srgbClr val="80808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Calibri" panose="020F0502020204030204" pitchFamily="34" charset="0"/>
              <a:cs typeface="Calibri" panose="020F0502020204030204" pitchFamily="34" charset="0"/>
            </a:endParaRPr>
          </a:p>
        </p:txBody>
      </p:sp>
      <p:sp>
        <p:nvSpPr>
          <p:cNvPr id="6" name="TextBox 5"/>
          <p:cNvSpPr txBox="1"/>
          <p:nvPr/>
        </p:nvSpPr>
        <p:spPr>
          <a:xfrm>
            <a:off x="892491" y="2057401"/>
            <a:ext cx="821059" cy="276999"/>
          </a:xfrm>
          <a:prstGeom prst="rect">
            <a:avLst/>
          </a:prstGeom>
          <a:noFill/>
        </p:spPr>
        <p:txBody>
          <a:bodyPr wrap="none">
            <a:spAutoFit/>
          </a:bodyPr>
          <a:lstStyle/>
          <a:p>
            <a:pPr algn="ctr">
              <a:defRPr sz="1600" b="1">
                <a:solidFill>
                  <a:srgbClr val="1A202C"/>
                </a:solidFill>
              </a:defRPr>
            </a:pPr>
            <a:r>
              <a:rPr sz="1200">
                <a:latin typeface="Calibri" panose="020F0502020204030204" pitchFamily="34" charset="0"/>
                <a:cs typeface="Calibri" panose="020F0502020204030204" pitchFamily="34" charset="0"/>
              </a:rPr>
              <a:t>Naissance</a:t>
            </a:r>
          </a:p>
        </p:txBody>
      </p:sp>
      <p:sp>
        <p:nvSpPr>
          <p:cNvPr id="7" name="TextBox 6"/>
          <p:cNvSpPr txBox="1"/>
          <p:nvPr/>
        </p:nvSpPr>
        <p:spPr>
          <a:xfrm>
            <a:off x="342900" y="2400301"/>
            <a:ext cx="1920240" cy="346249"/>
          </a:xfrm>
          <a:prstGeom prst="rect">
            <a:avLst/>
          </a:prstGeom>
          <a:noFill/>
        </p:spPr>
        <p:txBody>
          <a:bodyPr wrap="square">
            <a:spAutoFit/>
          </a:bodyPr>
          <a:lstStyle/>
          <a:p>
            <a:pPr algn="ctr">
              <a:defRPr sz="1100">
                <a:solidFill>
                  <a:srgbClr val="3C3C3C"/>
                </a:solidFill>
              </a:defRPr>
            </a:pPr>
            <a:r>
              <a:rPr sz="825">
                <a:latin typeface="Calibri" panose="020F0502020204030204" pitchFamily="34" charset="0"/>
                <a:cs typeface="Calibri" panose="020F0502020204030204" pitchFamily="34" charset="0"/>
              </a:rPr>
              <a:t>Le dossier naît d'un besoin opérationnel (Mission)</a:t>
            </a:r>
          </a:p>
        </p:txBody>
      </p:sp>
      <p:sp>
        <p:nvSpPr>
          <p:cNvPr id="8" name="Oval 7"/>
          <p:cNvSpPr/>
          <p:nvPr/>
        </p:nvSpPr>
        <p:spPr>
          <a:xfrm>
            <a:off x="3086100" y="1234440"/>
            <a:ext cx="685800" cy="685800"/>
          </a:xfrm>
          <a:prstGeom prst="ellipse">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FFFFFF"/>
                </a:solidFill>
              </a:defRPr>
            </a:pPr>
            <a:r>
              <a:rPr sz="1800">
                <a:latin typeface="Calibri" panose="020F0502020204030204" pitchFamily="34" charset="0"/>
                <a:cs typeface="Calibri" panose="020F0502020204030204" pitchFamily="34" charset="0"/>
              </a:rPr>
              <a:t>2</a:t>
            </a:r>
          </a:p>
        </p:txBody>
      </p:sp>
      <p:sp>
        <p:nvSpPr>
          <p:cNvPr id="9" name="Right Arrow 8"/>
          <p:cNvSpPr/>
          <p:nvPr/>
        </p:nvSpPr>
        <p:spPr>
          <a:xfrm>
            <a:off x="3840480" y="1440180"/>
            <a:ext cx="480060" cy="274320"/>
          </a:xfrm>
          <a:prstGeom prst="rightArrow">
            <a:avLst/>
          </a:prstGeom>
          <a:solidFill>
            <a:srgbClr val="80808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Calibri" panose="020F0502020204030204" pitchFamily="34" charset="0"/>
              <a:cs typeface="Calibri" panose="020F0502020204030204" pitchFamily="34" charset="0"/>
            </a:endParaRPr>
          </a:p>
        </p:txBody>
      </p:sp>
      <p:sp>
        <p:nvSpPr>
          <p:cNvPr id="10" name="TextBox 9"/>
          <p:cNvSpPr txBox="1"/>
          <p:nvPr/>
        </p:nvSpPr>
        <p:spPr>
          <a:xfrm>
            <a:off x="3301853" y="2057401"/>
            <a:ext cx="391454" cy="276999"/>
          </a:xfrm>
          <a:prstGeom prst="rect">
            <a:avLst/>
          </a:prstGeom>
          <a:noFill/>
        </p:spPr>
        <p:txBody>
          <a:bodyPr wrap="none">
            <a:spAutoFit/>
          </a:bodyPr>
          <a:lstStyle/>
          <a:p>
            <a:pPr algn="ctr">
              <a:defRPr sz="1600" b="1">
                <a:solidFill>
                  <a:srgbClr val="1A202C"/>
                </a:solidFill>
              </a:defRPr>
            </a:pPr>
            <a:r>
              <a:rPr sz="1200">
                <a:latin typeface="Calibri" panose="020F0502020204030204" pitchFamily="34" charset="0"/>
                <a:cs typeface="Calibri" panose="020F0502020204030204" pitchFamily="34" charset="0"/>
              </a:rPr>
              <a:t>Vie</a:t>
            </a:r>
          </a:p>
        </p:txBody>
      </p:sp>
      <p:sp>
        <p:nvSpPr>
          <p:cNvPr id="11" name="TextBox 10"/>
          <p:cNvSpPr txBox="1"/>
          <p:nvPr/>
        </p:nvSpPr>
        <p:spPr>
          <a:xfrm>
            <a:off x="2537460" y="2400300"/>
            <a:ext cx="1920240" cy="473206"/>
          </a:xfrm>
          <a:prstGeom prst="rect">
            <a:avLst/>
          </a:prstGeom>
          <a:noFill/>
        </p:spPr>
        <p:txBody>
          <a:bodyPr wrap="square">
            <a:spAutoFit/>
          </a:bodyPr>
          <a:lstStyle/>
          <a:p>
            <a:pPr algn="ctr">
              <a:defRPr sz="1100">
                <a:solidFill>
                  <a:srgbClr val="3C3C3C"/>
                </a:solidFill>
              </a:defRPr>
            </a:pPr>
            <a:r>
              <a:rPr sz="825">
                <a:latin typeface="Calibri" panose="020F0502020204030204" pitchFamily="34" charset="0"/>
                <a:cs typeface="Calibri" panose="020F0502020204030204" pitchFamily="34" charset="0"/>
              </a:rPr>
              <a:t>Se remplit de documents médicaux/techniques durant la campagne</a:t>
            </a:r>
          </a:p>
        </p:txBody>
      </p:sp>
      <p:sp>
        <p:nvSpPr>
          <p:cNvPr id="12" name="Oval 11"/>
          <p:cNvSpPr/>
          <p:nvPr/>
        </p:nvSpPr>
        <p:spPr>
          <a:xfrm>
            <a:off x="5280660" y="1196340"/>
            <a:ext cx="685800" cy="685800"/>
          </a:xfrm>
          <a:prstGeom prst="ellipse">
            <a:avLst/>
          </a:prstGeom>
          <a:solidFill>
            <a:srgbClr val="FCD1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FFFFFF"/>
                </a:solidFill>
              </a:defRPr>
            </a:pPr>
            <a:r>
              <a:rPr sz="1800">
                <a:latin typeface="Calibri" panose="020F0502020204030204" pitchFamily="34" charset="0"/>
                <a:cs typeface="Calibri" panose="020F0502020204030204" pitchFamily="34" charset="0"/>
              </a:rPr>
              <a:t>3</a:t>
            </a:r>
          </a:p>
        </p:txBody>
      </p:sp>
      <p:sp>
        <p:nvSpPr>
          <p:cNvPr id="13" name="Right Arrow 12"/>
          <p:cNvSpPr/>
          <p:nvPr/>
        </p:nvSpPr>
        <p:spPr>
          <a:xfrm>
            <a:off x="6035040" y="1440180"/>
            <a:ext cx="480060" cy="274320"/>
          </a:xfrm>
          <a:prstGeom prst="rightArrow">
            <a:avLst/>
          </a:prstGeom>
          <a:solidFill>
            <a:srgbClr val="80808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Calibri" panose="020F0502020204030204" pitchFamily="34" charset="0"/>
              <a:cs typeface="Calibri" panose="020F0502020204030204" pitchFamily="34" charset="0"/>
            </a:endParaRPr>
          </a:p>
        </p:txBody>
      </p:sp>
      <p:sp>
        <p:nvSpPr>
          <p:cNvPr id="14" name="TextBox 13"/>
          <p:cNvSpPr txBox="1"/>
          <p:nvPr/>
        </p:nvSpPr>
        <p:spPr>
          <a:xfrm>
            <a:off x="5102075" y="2057401"/>
            <a:ext cx="1180130" cy="276999"/>
          </a:xfrm>
          <a:prstGeom prst="rect">
            <a:avLst/>
          </a:prstGeom>
          <a:noFill/>
        </p:spPr>
        <p:txBody>
          <a:bodyPr wrap="none">
            <a:spAutoFit/>
          </a:bodyPr>
          <a:lstStyle/>
          <a:p>
            <a:pPr algn="ctr">
              <a:defRPr sz="1600" b="1">
                <a:solidFill>
                  <a:srgbClr val="1A202C"/>
                </a:solidFill>
              </a:defRPr>
            </a:pPr>
            <a:r>
              <a:rPr sz="1200">
                <a:latin typeface="Calibri" panose="020F0502020204030204" pitchFamily="34" charset="0"/>
                <a:cs typeface="Calibri" panose="020F0502020204030204" pitchFamily="34" charset="0"/>
              </a:rPr>
              <a:t>Transformation</a:t>
            </a:r>
          </a:p>
        </p:txBody>
      </p:sp>
      <p:sp>
        <p:nvSpPr>
          <p:cNvPr id="15" name="TextBox 14"/>
          <p:cNvSpPr txBox="1"/>
          <p:nvPr/>
        </p:nvSpPr>
        <p:spPr>
          <a:xfrm>
            <a:off x="4732020" y="2400301"/>
            <a:ext cx="1920240" cy="346249"/>
          </a:xfrm>
          <a:prstGeom prst="rect">
            <a:avLst/>
          </a:prstGeom>
          <a:noFill/>
        </p:spPr>
        <p:txBody>
          <a:bodyPr wrap="square">
            <a:spAutoFit/>
          </a:bodyPr>
          <a:lstStyle/>
          <a:p>
            <a:pPr algn="ctr">
              <a:defRPr sz="1100">
                <a:solidFill>
                  <a:srgbClr val="3C3C3C"/>
                </a:solidFill>
              </a:defRPr>
            </a:pPr>
            <a:r>
              <a:rPr sz="825">
                <a:latin typeface="Calibri" panose="020F0502020204030204" pitchFamily="34" charset="0"/>
                <a:cs typeface="Calibri" panose="020F0502020204030204" pitchFamily="34" charset="0"/>
              </a:rPr>
              <a:t>Devient Archive immuable après validation</a:t>
            </a:r>
          </a:p>
        </p:txBody>
      </p:sp>
      <p:sp>
        <p:nvSpPr>
          <p:cNvPr id="16" name="Oval 15"/>
          <p:cNvSpPr/>
          <p:nvPr/>
        </p:nvSpPr>
        <p:spPr>
          <a:xfrm>
            <a:off x="7475220" y="1234440"/>
            <a:ext cx="685800" cy="68580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FFFFFF"/>
                </a:solidFill>
              </a:defRPr>
            </a:pPr>
            <a:r>
              <a:rPr sz="1800">
                <a:latin typeface="Calibri" panose="020F0502020204030204" pitchFamily="34" charset="0"/>
                <a:cs typeface="Calibri" panose="020F0502020204030204" pitchFamily="34" charset="0"/>
              </a:rPr>
              <a:t>4</a:t>
            </a:r>
          </a:p>
        </p:txBody>
      </p:sp>
      <p:sp>
        <p:nvSpPr>
          <p:cNvPr id="17" name="TextBox 16"/>
          <p:cNvSpPr txBox="1"/>
          <p:nvPr/>
        </p:nvSpPr>
        <p:spPr>
          <a:xfrm>
            <a:off x="7481782" y="2057401"/>
            <a:ext cx="809837" cy="276999"/>
          </a:xfrm>
          <a:prstGeom prst="rect">
            <a:avLst/>
          </a:prstGeom>
          <a:noFill/>
        </p:spPr>
        <p:txBody>
          <a:bodyPr wrap="none">
            <a:spAutoFit/>
          </a:bodyPr>
          <a:lstStyle/>
          <a:p>
            <a:pPr algn="ctr">
              <a:defRPr sz="1600" b="1">
                <a:solidFill>
                  <a:srgbClr val="1A202C"/>
                </a:solidFill>
              </a:defRPr>
            </a:pPr>
            <a:r>
              <a:rPr sz="1200">
                <a:latin typeface="Calibri" panose="020F0502020204030204" pitchFamily="34" charset="0"/>
                <a:cs typeface="Calibri" panose="020F0502020204030204" pitchFamily="34" charset="0"/>
              </a:rPr>
              <a:t>Pérennité</a:t>
            </a:r>
          </a:p>
        </p:txBody>
      </p:sp>
      <p:sp>
        <p:nvSpPr>
          <p:cNvPr id="18" name="TextBox 17"/>
          <p:cNvSpPr txBox="1"/>
          <p:nvPr/>
        </p:nvSpPr>
        <p:spPr>
          <a:xfrm>
            <a:off x="6926580" y="2400301"/>
            <a:ext cx="1920240" cy="346249"/>
          </a:xfrm>
          <a:prstGeom prst="rect">
            <a:avLst/>
          </a:prstGeom>
          <a:noFill/>
        </p:spPr>
        <p:txBody>
          <a:bodyPr wrap="square">
            <a:spAutoFit/>
          </a:bodyPr>
          <a:lstStyle/>
          <a:p>
            <a:pPr algn="ctr">
              <a:defRPr sz="1100">
                <a:solidFill>
                  <a:srgbClr val="3C3C3C"/>
                </a:solidFill>
              </a:defRPr>
            </a:pPr>
            <a:r>
              <a:rPr sz="825">
                <a:latin typeface="Calibri" panose="020F0502020204030204" pitchFamily="34" charset="0"/>
                <a:cs typeface="Calibri" panose="020F0502020204030204" pitchFamily="34" charset="0"/>
              </a:rPr>
              <a:t>Stockage pérenne et inaltérable dans SIADOC</a:t>
            </a:r>
          </a:p>
        </p:txBody>
      </p:sp>
      <p:sp>
        <p:nvSpPr>
          <p:cNvPr id="19" name="TextBox 18"/>
          <p:cNvSpPr txBox="1"/>
          <p:nvPr/>
        </p:nvSpPr>
        <p:spPr>
          <a:xfrm>
            <a:off x="342900" y="3291840"/>
            <a:ext cx="8229600" cy="977191"/>
          </a:xfrm>
          <a:prstGeom prst="rect">
            <a:avLst/>
          </a:prstGeom>
          <a:noFill/>
        </p:spPr>
        <p:txBody>
          <a:bodyPr wrap="square">
            <a:spAutoFit/>
          </a:bodyPr>
          <a:lstStyle/>
          <a:p>
            <a:pPr>
              <a:defRPr sz="1400">
                <a:solidFill>
                  <a:srgbClr val="1A202C"/>
                </a:solidFill>
              </a:defRPr>
            </a:pPr>
            <a:r>
              <a:rPr sz="1050" dirty="0">
                <a:latin typeface="Calibri" panose="020F0502020204030204" pitchFamily="34" charset="0"/>
                <a:cs typeface="Calibri" panose="020F0502020204030204" pitchFamily="34" charset="0"/>
              </a:rPr>
              <a:t>🔄 GESMIL 2.0 </a:t>
            </a:r>
            <a:r>
              <a:rPr sz="1050" dirty="0" err="1">
                <a:latin typeface="Calibri" panose="020F0502020204030204" pitchFamily="34" charset="0"/>
                <a:cs typeface="Calibri" panose="020F0502020204030204" pitchFamily="34" charset="0"/>
              </a:rPr>
              <a:t>centralise</a:t>
            </a:r>
            <a:r>
              <a:rPr sz="1050" dirty="0">
                <a:latin typeface="Calibri" panose="020F0502020204030204" pitchFamily="34" charset="0"/>
                <a:cs typeface="Calibri" panose="020F0502020204030204" pitchFamily="34" charset="0"/>
              </a:rPr>
              <a:t> </a:t>
            </a:r>
            <a:r>
              <a:rPr sz="1050" dirty="0" err="1">
                <a:latin typeface="Calibri" panose="020F0502020204030204" pitchFamily="34" charset="0"/>
                <a:cs typeface="Calibri" panose="020F0502020204030204" pitchFamily="34" charset="0"/>
              </a:rPr>
              <a:t>l'identité</a:t>
            </a:r>
            <a:r>
              <a:rPr sz="1050" dirty="0">
                <a:latin typeface="Calibri" panose="020F0502020204030204" pitchFamily="34" charset="0"/>
                <a:cs typeface="Calibri" panose="020F0502020204030204" pitchFamily="34" charset="0"/>
              </a:rPr>
              <a:t> et la </a:t>
            </a:r>
            <a:r>
              <a:rPr sz="1050" dirty="0" err="1">
                <a:latin typeface="Calibri" panose="020F0502020204030204" pitchFamily="34" charset="0"/>
                <a:cs typeface="Calibri" panose="020F0502020204030204" pitchFamily="34" charset="0"/>
              </a:rPr>
              <a:t>carrière</a:t>
            </a:r>
            <a:r>
              <a:rPr sz="1050" dirty="0">
                <a:latin typeface="Calibri" panose="020F0502020204030204" pitchFamily="34" charset="0"/>
                <a:cs typeface="Calibri" panose="020F0502020204030204" pitchFamily="34" charset="0"/>
              </a:rPr>
              <a:t>. Les modules SIADOC et CIMIS </a:t>
            </a:r>
            <a:r>
              <a:rPr sz="1050" dirty="0" err="1">
                <a:latin typeface="Calibri" panose="020F0502020204030204" pitchFamily="34" charset="0"/>
                <a:cs typeface="Calibri" panose="020F0502020204030204" pitchFamily="34" charset="0"/>
              </a:rPr>
              <a:t>agissent</a:t>
            </a:r>
            <a:r>
              <a:rPr sz="1050" dirty="0">
                <a:latin typeface="Calibri" panose="020F0502020204030204" pitchFamily="34" charset="0"/>
                <a:cs typeface="Calibri" panose="020F0502020204030204" pitchFamily="34" charset="0"/>
              </a:rPr>
              <a:t> </a:t>
            </a:r>
            <a:r>
              <a:rPr sz="1050" dirty="0" err="1">
                <a:latin typeface="Calibri" panose="020F0502020204030204" pitchFamily="34" charset="0"/>
                <a:cs typeface="Calibri" panose="020F0502020204030204" pitchFamily="34" charset="0"/>
              </a:rPr>
              <a:t>comme</a:t>
            </a:r>
            <a:r>
              <a:rPr sz="1050" dirty="0">
                <a:latin typeface="Calibri" panose="020F0502020204030204" pitchFamily="34" charset="0"/>
                <a:cs typeface="Calibri" panose="020F0502020204030204" pitchFamily="34" charset="0"/>
              </a:rPr>
              <a:t> des </a:t>
            </a:r>
            <a:r>
              <a:rPr sz="1050" dirty="0" err="1">
                <a:latin typeface="Calibri" panose="020F0502020204030204" pitchFamily="34" charset="0"/>
                <a:cs typeface="Calibri" panose="020F0502020204030204" pitchFamily="34" charset="0"/>
              </a:rPr>
              <a:t>capteurs</a:t>
            </a:r>
            <a:r>
              <a:rPr sz="1050" dirty="0">
                <a:latin typeface="Calibri" panose="020F0502020204030204" pitchFamily="34" charset="0"/>
                <a:cs typeface="Calibri" panose="020F0502020204030204" pitchFamily="34" charset="0"/>
              </a:rPr>
              <a:t> </a:t>
            </a:r>
            <a:r>
              <a:rPr sz="1050" dirty="0" err="1">
                <a:latin typeface="Calibri" panose="020F0502020204030204" pitchFamily="34" charset="0"/>
                <a:cs typeface="Calibri" panose="020F0502020204030204" pitchFamily="34" charset="0"/>
              </a:rPr>
              <a:t>intelligents</a:t>
            </a:r>
            <a:r>
              <a:rPr sz="1050" dirty="0">
                <a:latin typeface="Calibri" panose="020F0502020204030204" pitchFamily="34" charset="0"/>
                <a:cs typeface="Calibri" panose="020F0502020204030204" pitchFamily="34" charset="0"/>
              </a:rPr>
              <a:t> qui </a:t>
            </a:r>
            <a:r>
              <a:rPr sz="1050" dirty="0" err="1">
                <a:latin typeface="Calibri" panose="020F0502020204030204" pitchFamily="34" charset="0"/>
                <a:cs typeface="Calibri" panose="020F0502020204030204" pitchFamily="34" charset="0"/>
              </a:rPr>
              <a:t>enrichissent</a:t>
            </a:r>
            <a:r>
              <a:rPr sz="1050" dirty="0">
                <a:latin typeface="Calibri" panose="020F0502020204030204" pitchFamily="34" charset="0"/>
                <a:cs typeface="Calibri" panose="020F0502020204030204" pitchFamily="34" charset="0"/>
              </a:rPr>
              <a:t> en </a:t>
            </a:r>
            <a:r>
              <a:rPr sz="1050" dirty="0" err="1">
                <a:latin typeface="Calibri" panose="020F0502020204030204" pitchFamily="34" charset="0"/>
                <a:cs typeface="Calibri" panose="020F0502020204030204" pitchFamily="34" charset="0"/>
              </a:rPr>
              <a:t>continu</a:t>
            </a:r>
            <a:r>
              <a:rPr sz="1050" dirty="0">
                <a:latin typeface="Calibri" panose="020F0502020204030204" pitchFamily="34" charset="0"/>
                <a:cs typeface="Calibri" panose="020F0502020204030204" pitchFamily="34" charset="0"/>
              </a:rPr>
              <a:t> </a:t>
            </a:r>
            <a:r>
              <a:rPr sz="1050" dirty="0" err="1">
                <a:latin typeface="Calibri" panose="020F0502020204030204" pitchFamily="34" charset="0"/>
                <a:cs typeface="Calibri" panose="020F0502020204030204" pitchFamily="34" charset="0"/>
              </a:rPr>
              <a:t>cette</a:t>
            </a:r>
            <a:r>
              <a:rPr sz="1050" dirty="0">
                <a:latin typeface="Calibri" panose="020F0502020204030204" pitchFamily="34" charset="0"/>
                <a:cs typeface="Calibri" panose="020F0502020204030204" pitchFamily="34" charset="0"/>
              </a:rPr>
              <a:t> base.</a:t>
            </a:r>
          </a:p>
          <a:p>
            <a:pPr>
              <a:spcBef>
                <a:spcPts val="600"/>
              </a:spcBef>
            </a:pPr>
            <a:endParaRPr sz="1050" dirty="0">
              <a:latin typeface="Calibri" panose="020F0502020204030204" pitchFamily="34" charset="0"/>
              <a:cs typeface="Calibri" panose="020F0502020204030204" pitchFamily="34" charset="0"/>
            </a:endParaRPr>
          </a:p>
          <a:p>
            <a:pPr>
              <a:defRPr sz="1400" b="1">
                <a:solidFill>
                  <a:srgbClr val="2E7D32"/>
                </a:solidFill>
              </a:defRPr>
            </a:pPr>
            <a:r>
              <a:rPr sz="1050" dirty="0">
                <a:latin typeface="Calibri" panose="020F0502020204030204" pitchFamily="34" charset="0"/>
                <a:cs typeface="Calibri" panose="020F0502020204030204" pitchFamily="34" charset="0"/>
              </a:rPr>
              <a:t>📌 Le dossier </a:t>
            </a:r>
            <a:r>
              <a:rPr sz="1050" dirty="0" err="1">
                <a:latin typeface="Calibri" panose="020F0502020204030204" pitchFamily="34" charset="0"/>
                <a:cs typeface="Calibri" panose="020F0502020204030204" pitchFamily="34" charset="0"/>
              </a:rPr>
              <a:t>campagne</a:t>
            </a:r>
            <a:r>
              <a:rPr sz="1050" dirty="0">
                <a:latin typeface="Calibri" panose="020F0502020204030204" pitchFamily="34" charset="0"/>
                <a:cs typeface="Calibri" panose="020F0502020204030204" pitchFamily="34" charset="0"/>
              </a:rPr>
              <a:t> </a:t>
            </a:r>
            <a:r>
              <a:rPr sz="1050" dirty="0" err="1">
                <a:latin typeface="Calibri" panose="020F0502020204030204" pitchFamily="34" charset="0"/>
                <a:cs typeface="Calibri" panose="020F0502020204030204" pitchFamily="34" charset="0"/>
              </a:rPr>
              <a:t>est</a:t>
            </a:r>
            <a:r>
              <a:rPr sz="1050" dirty="0">
                <a:latin typeface="Calibri" panose="020F0502020204030204" pitchFamily="34" charset="0"/>
                <a:cs typeface="Calibri" panose="020F0502020204030204" pitchFamily="34" charset="0"/>
              </a:rPr>
              <a:t> </a:t>
            </a:r>
            <a:r>
              <a:rPr sz="1050" dirty="0" err="1">
                <a:latin typeface="Calibri" panose="020F0502020204030204" pitchFamily="34" charset="0"/>
                <a:cs typeface="Calibri" panose="020F0502020204030204" pitchFamily="34" charset="0"/>
              </a:rPr>
              <a:t>l'unité</a:t>
            </a:r>
            <a:r>
              <a:rPr sz="1050" dirty="0">
                <a:latin typeface="Calibri" panose="020F0502020204030204" pitchFamily="34" charset="0"/>
                <a:cs typeface="Calibri" panose="020F0502020204030204" pitchFamily="34" charset="0"/>
              </a:rPr>
              <a:t> de </a:t>
            </a:r>
            <a:r>
              <a:rPr sz="1050" dirty="0" err="1">
                <a:latin typeface="Calibri" panose="020F0502020204030204" pitchFamily="34" charset="0"/>
                <a:cs typeface="Calibri" panose="020F0502020204030204" pitchFamily="34" charset="0"/>
              </a:rPr>
              <a:t>gestion</a:t>
            </a:r>
            <a:r>
              <a:rPr sz="1050" dirty="0">
                <a:latin typeface="Calibri" panose="020F0502020204030204" pitchFamily="34" charset="0"/>
                <a:cs typeface="Calibri" panose="020F0502020204030204" pitchFamily="34" charset="0"/>
              </a:rPr>
              <a:t> </a:t>
            </a:r>
            <a:r>
              <a:rPr sz="1050" dirty="0" err="1">
                <a:latin typeface="Calibri" panose="020F0502020204030204" pitchFamily="34" charset="0"/>
                <a:cs typeface="Calibri" panose="020F0502020204030204" pitchFamily="34" charset="0"/>
              </a:rPr>
              <a:t>temporaire</a:t>
            </a:r>
            <a:r>
              <a:rPr sz="1050" dirty="0">
                <a:latin typeface="Calibri" panose="020F0502020204030204" pitchFamily="34" charset="0"/>
                <a:cs typeface="Calibri" panose="020F0502020204030204" pitchFamily="34" charset="0"/>
              </a:rPr>
              <a:t> qui, </a:t>
            </a:r>
            <a:r>
              <a:rPr sz="1050" dirty="0" err="1">
                <a:latin typeface="Calibri" panose="020F0502020204030204" pitchFamily="34" charset="0"/>
                <a:cs typeface="Calibri" panose="020F0502020204030204" pitchFamily="34" charset="0"/>
              </a:rPr>
              <a:t>une</a:t>
            </a:r>
            <a:r>
              <a:rPr sz="1050" dirty="0">
                <a:latin typeface="Calibri" panose="020F0502020204030204" pitchFamily="34" charset="0"/>
                <a:cs typeface="Calibri" panose="020F0502020204030204" pitchFamily="34" charset="0"/>
              </a:rPr>
              <a:t> </a:t>
            </a:r>
            <a:r>
              <a:rPr sz="1050" dirty="0" err="1">
                <a:latin typeface="Calibri" panose="020F0502020204030204" pitchFamily="34" charset="0"/>
                <a:cs typeface="Calibri" panose="020F0502020204030204" pitchFamily="34" charset="0"/>
              </a:rPr>
              <a:t>fois</a:t>
            </a:r>
            <a:r>
              <a:rPr sz="1050" dirty="0">
                <a:latin typeface="Calibri" panose="020F0502020204030204" pitchFamily="34" charset="0"/>
                <a:cs typeface="Calibri" panose="020F0502020204030204" pitchFamily="34" charset="0"/>
              </a:rPr>
              <a:t> </a:t>
            </a:r>
            <a:r>
              <a:rPr sz="1050" dirty="0" err="1">
                <a:latin typeface="Calibri" panose="020F0502020204030204" pitchFamily="34" charset="0"/>
                <a:cs typeface="Calibri" panose="020F0502020204030204" pitchFamily="34" charset="0"/>
              </a:rPr>
              <a:t>validée</a:t>
            </a:r>
            <a:r>
              <a:rPr sz="1050" dirty="0">
                <a:latin typeface="Calibri" panose="020F0502020204030204" pitchFamily="34" charset="0"/>
                <a:cs typeface="Calibri" panose="020F0502020204030204" pitchFamily="34" charset="0"/>
              </a:rPr>
              <a:t>, se </a:t>
            </a:r>
            <a:r>
              <a:rPr sz="1050" dirty="0" err="1">
                <a:latin typeface="Calibri" panose="020F0502020204030204" pitchFamily="34" charset="0"/>
                <a:cs typeface="Calibri" panose="020F0502020204030204" pitchFamily="34" charset="0"/>
              </a:rPr>
              <a:t>transforme</a:t>
            </a:r>
            <a:r>
              <a:rPr sz="1050" dirty="0">
                <a:latin typeface="Calibri" panose="020F0502020204030204" pitchFamily="34" charset="0"/>
                <a:cs typeface="Calibri" panose="020F0502020204030204" pitchFamily="34" charset="0"/>
              </a:rPr>
              <a:t> en archive </a:t>
            </a:r>
            <a:r>
              <a:rPr sz="1050" dirty="0" err="1">
                <a:latin typeface="Calibri" panose="020F0502020204030204" pitchFamily="34" charset="0"/>
                <a:cs typeface="Calibri" panose="020F0502020204030204" pitchFamily="34" charset="0"/>
              </a:rPr>
              <a:t>définitive</a:t>
            </a:r>
            <a:r>
              <a:rPr sz="1050" dirty="0">
                <a:latin typeface="Calibri" panose="020F0502020204030204" pitchFamily="34" charset="0"/>
                <a:cs typeface="Calibri" panose="020F0502020204030204" pitchFamily="34" charset="0"/>
              </a:rPr>
              <a:t> au </a:t>
            </a:r>
            <a:r>
              <a:rPr sz="1050" dirty="0" err="1">
                <a:latin typeface="Calibri" panose="020F0502020204030204" pitchFamily="34" charset="0"/>
                <a:cs typeface="Calibri" panose="020F0502020204030204" pitchFamily="34" charset="0"/>
              </a:rPr>
              <a:t>sein</a:t>
            </a:r>
            <a:r>
              <a:rPr sz="1050" dirty="0">
                <a:latin typeface="Calibri" panose="020F0502020204030204" pitchFamily="34" charset="0"/>
                <a:cs typeface="Calibri" panose="020F0502020204030204" pitchFamily="34" charset="0"/>
              </a:rPr>
              <a:t> du </a:t>
            </a:r>
            <a:r>
              <a:rPr sz="1050" dirty="0" err="1">
                <a:latin typeface="Calibri" panose="020F0502020204030204" pitchFamily="34" charset="0"/>
                <a:cs typeface="Calibri" panose="020F0502020204030204" pitchFamily="34" charset="0"/>
              </a:rPr>
              <a:t>coffre</a:t>
            </a:r>
            <a:r>
              <a:rPr sz="1050" dirty="0">
                <a:latin typeface="Calibri" panose="020F0502020204030204" pitchFamily="34" charset="0"/>
                <a:cs typeface="Calibri" panose="020F0502020204030204" pitchFamily="34" charset="0"/>
              </a:rPr>
              <a:t>-fort </a:t>
            </a:r>
            <a:r>
              <a:rPr sz="1050" dirty="0" err="1">
                <a:latin typeface="Calibri" panose="020F0502020204030204" pitchFamily="34" charset="0"/>
                <a:cs typeface="Calibri" panose="020F0502020204030204" pitchFamily="34" charset="0"/>
              </a:rPr>
              <a:t>numérique</a:t>
            </a:r>
            <a:r>
              <a:rPr sz="1050" dirty="0">
                <a:latin typeface="Calibri" panose="020F0502020204030204" pitchFamily="34" charset="0"/>
                <a:cs typeface="Calibri" panose="020F0502020204030204" pitchFamily="34" charset="0"/>
              </a:rPr>
              <a:t> SIADOC.</a:t>
            </a:r>
          </a:p>
        </p:txBody>
      </p:sp>
      <p:grpSp>
        <p:nvGrpSpPr>
          <p:cNvPr id="20" name="Group 32"/>
          <p:cNvGrpSpPr/>
          <p:nvPr/>
        </p:nvGrpSpPr>
        <p:grpSpPr>
          <a:xfrm>
            <a:off x="91440" y="-24458"/>
            <a:ext cx="9052560" cy="778837"/>
            <a:chOff x="330" y="182"/>
            <a:chExt cx="18543" cy="1604"/>
          </a:xfrm>
        </p:grpSpPr>
        <p:sp>
          <p:nvSpPr>
            <p:cNvPr id="21" name="Freeform 3"/>
            <p:cNvSpPr/>
            <p:nvPr/>
          </p:nvSpPr>
          <p:spPr>
            <a:xfrm>
              <a:off x="330" y="182"/>
              <a:ext cx="1640" cy="1604"/>
            </a:xfrm>
            <a:custGeom>
              <a:avLst/>
              <a:gdLst/>
              <a:ahLst/>
              <a:cxnLst/>
              <a:rect l="l" t="t" r="r" b="b"/>
              <a:pathLst>
                <a:path w="6263628" h="7097595">
                  <a:moveTo>
                    <a:pt x="0" y="0"/>
                  </a:moveTo>
                  <a:lnTo>
                    <a:pt x="6263628" y="0"/>
                  </a:lnTo>
                  <a:lnTo>
                    <a:pt x="6263628" y="7097595"/>
                  </a:lnTo>
                  <a:lnTo>
                    <a:pt x="0" y="7097595"/>
                  </a:lnTo>
                  <a:lnTo>
                    <a:pt x="0" y="0"/>
                  </a:lnTo>
                  <a:close/>
                </a:path>
              </a:pathLst>
            </a:custGeom>
            <a:blipFill>
              <a:blip r:embed="rId2"/>
              <a:stretch>
                <a:fillRect/>
              </a:stretch>
            </a:blipFill>
          </p:spPr>
        </p:sp>
        <p:pic>
          <p:nvPicPr>
            <p:cNvPr id="22" name="Picture 3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953" y="182"/>
              <a:ext cx="1920" cy="1604"/>
            </a:xfrm>
            <a:prstGeom prst="rect">
              <a:avLst/>
            </a:prstGeom>
          </p:spPr>
        </p:pic>
      </p:grpSp>
      <p:sp>
        <p:nvSpPr>
          <p:cNvPr id="23" name="Google Shape;34;p4"/>
          <p:cNvSpPr/>
          <p:nvPr/>
        </p:nvSpPr>
        <p:spPr>
          <a:xfrm>
            <a:off x="0" y="4800600"/>
            <a:ext cx="9144000" cy="480060"/>
          </a:xfrm>
          <a:prstGeom prst="rect">
            <a:avLst/>
          </a:prstGeom>
          <a:solidFill>
            <a:srgbClr val="C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35;p4"/>
          <p:cNvSpPr/>
          <p:nvPr/>
        </p:nvSpPr>
        <p:spPr>
          <a:xfrm>
            <a:off x="101453" y="4849670"/>
            <a:ext cx="640080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ADCFC"/>
              </a:buClr>
              <a:buSzPts val="900"/>
              <a:buFont typeface="Calibri"/>
              <a:buNone/>
            </a:pPr>
            <a:r>
              <a:rPr lang="en-US" sz="900" b="0" i="0" u="none" strike="noStrike" cap="none" dirty="0">
                <a:solidFill>
                  <a:srgbClr val="CADCFC"/>
                </a:solidFill>
                <a:latin typeface="Calibri"/>
                <a:ea typeface="Calibri"/>
                <a:cs typeface="Calibri"/>
                <a:sym typeface="Calibri"/>
              </a:rPr>
              <a:t>MINDEF - Direction des </a:t>
            </a:r>
            <a:r>
              <a:rPr lang="en-US" sz="900" b="0" i="0" u="none" strike="noStrike" cap="none" dirty="0" err="1">
                <a:solidFill>
                  <a:srgbClr val="CADCFC"/>
                </a:solidFill>
                <a:latin typeface="Calibri"/>
                <a:ea typeface="Calibri"/>
                <a:cs typeface="Calibri"/>
                <a:sym typeface="Calibri"/>
              </a:rPr>
              <a:t>Ressources</a:t>
            </a:r>
            <a:r>
              <a:rPr lang="en-US" sz="900" b="0" i="0" u="none" strike="noStrike" cap="none" dirty="0">
                <a:solidFill>
                  <a:srgbClr val="CADCFC"/>
                </a:solidFill>
                <a:latin typeface="Calibri"/>
                <a:ea typeface="Calibri"/>
                <a:cs typeface="Calibri"/>
                <a:sym typeface="Calibri"/>
              </a:rPr>
              <a:t> </a:t>
            </a:r>
            <a:r>
              <a:rPr lang="en-US" sz="900" b="0" i="0" u="none" strike="noStrike" cap="none" dirty="0" err="1">
                <a:solidFill>
                  <a:srgbClr val="CADCFC"/>
                </a:solidFill>
                <a:latin typeface="Calibri"/>
                <a:ea typeface="Calibri"/>
                <a:cs typeface="Calibri"/>
                <a:sym typeface="Calibri"/>
              </a:rPr>
              <a:t>Humaines</a:t>
            </a:r>
            <a:endParaRPr sz="900" b="0" i="0" u="none" strike="noStrike" cap="none" dirty="0">
              <a:solidFill>
                <a:schemeClr val="dk1"/>
              </a:solidFill>
              <a:latin typeface="Calibri"/>
              <a:ea typeface="Calibri"/>
              <a:cs typeface="Calibri"/>
              <a:sym typeface="Calibri"/>
            </a:endParaRPr>
          </a:p>
        </p:txBody>
      </p:sp>
      <p:sp>
        <p:nvSpPr>
          <p:cNvPr id="25" name="Google Shape;36;p4"/>
          <p:cNvSpPr/>
          <p:nvPr/>
        </p:nvSpPr>
        <p:spPr>
          <a:xfrm>
            <a:off x="7818120" y="4857750"/>
            <a:ext cx="914400" cy="365760"/>
          </a:xfrm>
          <a:prstGeom prst="rect">
            <a:avLst/>
          </a:prstGeom>
          <a:noFill/>
          <a:ln>
            <a:noFill/>
          </a:ln>
        </p:spPr>
        <p:txBody>
          <a:bodyPr spcFirstLastPara="1" wrap="square" lIns="91425" tIns="45700" rIns="91425" bIns="45700" anchor="ctr" anchorCtr="0">
            <a:noAutofit/>
          </a:bodyPr>
          <a:lstStyle/>
          <a:p>
            <a:pPr lvl="0" algn="r">
              <a:buClr>
                <a:srgbClr val="CADCFC"/>
              </a:buClr>
              <a:buSzPts val="900"/>
            </a:pPr>
            <a:r>
              <a:rPr lang="en-US" sz="900" dirty="0">
                <a:solidFill>
                  <a:srgbClr val="CADCFC"/>
                </a:solidFill>
                <a:latin typeface="Calibri"/>
                <a:ea typeface="Calibri"/>
                <a:cs typeface="Calibri"/>
                <a:sym typeface="Calibri"/>
              </a:rPr>
              <a:t>14</a:t>
            </a:r>
            <a:r>
              <a:rPr lang="en-US" sz="900" b="0" i="0" u="none" strike="noStrike" cap="none" dirty="0">
                <a:solidFill>
                  <a:srgbClr val="CADCFC"/>
                </a:solidFill>
                <a:latin typeface="Calibri"/>
                <a:ea typeface="Calibri"/>
                <a:cs typeface="Calibri"/>
                <a:sym typeface="Calibri"/>
              </a:rPr>
              <a:t> / </a:t>
            </a:r>
            <a:r>
              <a:rPr lang="en-US" sz="900" dirty="0">
                <a:solidFill>
                  <a:srgbClr val="CADCFC"/>
                </a:solidFill>
                <a:latin typeface="Calibri"/>
                <a:ea typeface="Calibri"/>
                <a:cs typeface="Calibri"/>
                <a:sym typeface="Calibri"/>
              </a:rPr>
              <a:t>27</a:t>
            </a:r>
            <a:endParaRPr lang="en-US" sz="9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6103403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9143771" cy="822960"/>
          </a:xfrm>
          <a:prstGeom prst="rect">
            <a:avLst/>
          </a:prstGeom>
          <a:solidFill>
            <a:srgbClr val="FCD1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 name="TextBox 2"/>
          <p:cNvSpPr txBox="1"/>
          <p:nvPr/>
        </p:nvSpPr>
        <p:spPr>
          <a:xfrm>
            <a:off x="2315499" y="180647"/>
            <a:ext cx="3701654" cy="461665"/>
          </a:xfrm>
          <a:prstGeom prst="rect">
            <a:avLst/>
          </a:prstGeom>
          <a:noFill/>
        </p:spPr>
        <p:txBody>
          <a:bodyPr wrap="none">
            <a:spAutoFit/>
          </a:bodyPr>
          <a:lstStyle/>
          <a:p>
            <a:pPr>
              <a:defRPr sz="3200" b="1">
                <a:solidFill>
                  <a:srgbClr val="FFFFFF"/>
                </a:solidFill>
              </a:defRPr>
            </a:pPr>
            <a:r>
              <a:rPr sz="2400" dirty="0">
                <a:latin typeface="Calibri" panose="020F0502020204030204" pitchFamily="34" charset="0"/>
                <a:cs typeface="Calibri" panose="020F0502020204030204" pitchFamily="34" charset="0"/>
              </a:rPr>
              <a:t>ARCHITECTURE TECHNIQUE</a:t>
            </a:r>
          </a:p>
        </p:txBody>
      </p:sp>
      <p:sp>
        <p:nvSpPr>
          <p:cNvPr id="4" name="Rounded Rectangle 3"/>
          <p:cNvSpPr/>
          <p:nvPr/>
        </p:nvSpPr>
        <p:spPr>
          <a:xfrm>
            <a:off x="685800" y="1028700"/>
            <a:ext cx="3429000" cy="1028700"/>
          </a:xfrm>
          <a:prstGeom prst="round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FFFFFF"/>
                </a:solidFill>
              </a:defRPr>
            </a:pPr>
            <a:r>
              <a:rPr sz="1200" dirty="0">
                <a:latin typeface="Calibri" panose="020F0502020204030204" pitchFamily="34" charset="0"/>
                <a:cs typeface="Calibri" panose="020F0502020204030204" pitchFamily="34" charset="0"/>
              </a:rPr>
              <a:t>PRÉSENTATION</a:t>
            </a:r>
          </a:p>
          <a:p>
            <a:pPr>
              <a:defRPr sz="1100">
                <a:solidFill>
                  <a:srgbClr val="FFFFFF"/>
                </a:solidFill>
              </a:defRPr>
            </a:pPr>
            <a:r>
              <a:rPr sz="825" dirty="0">
                <a:latin typeface="Calibri" panose="020F0502020204030204" pitchFamily="34" charset="0"/>
                <a:cs typeface="Calibri" panose="020F0502020204030204" pitchFamily="34" charset="0"/>
              </a:rPr>
              <a:t>Angular + Electron</a:t>
            </a:r>
            <a:br>
              <a:rPr sz="825" dirty="0">
                <a:latin typeface="Calibri" panose="020F0502020204030204" pitchFamily="34" charset="0"/>
                <a:cs typeface="Calibri" panose="020F0502020204030204" pitchFamily="34" charset="0"/>
              </a:rPr>
            </a:br>
            <a:r>
              <a:rPr sz="825" dirty="0">
                <a:latin typeface="Calibri" panose="020F0502020204030204" pitchFamily="34" charset="0"/>
                <a:cs typeface="Calibri" panose="020F0502020204030204" pitchFamily="34" charset="0"/>
              </a:rPr>
              <a:t>Interface </a:t>
            </a:r>
            <a:r>
              <a:rPr sz="825" dirty="0" err="1">
                <a:latin typeface="Calibri" panose="020F0502020204030204" pitchFamily="34" charset="0"/>
                <a:cs typeface="Calibri" panose="020F0502020204030204" pitchFamily="34" charset="0"/>
              </a:rPr>
              <a:t>utilisateur</a:t>
            </a:r>
            <a:r>
              <a:rPr sz="825" dirty="0">
                <a:latin typeface="Calibri" panose="020F0502020204030204" pitchFamily="34" charset="0"/>
                <a:cs typeface="Calibri" panose="020F0502020204030204" pitchFamily="34" charset="0"/>
              </a:rPr>
              <a:t> (.exe)</a:t>
            </a:r>
          </a:p>
        </p:txBody>
      </p:sp>
      <p:sp>
        <p:nvSpPr>
          <p:cNvPr id="5" name="Rounded Rectangle 4"/>
          <p:cNvSpPr/>
          <p:nvPr/>
        </p:nvSpPr>
        <p:spPr>
          <a:xfrm>
            <a:off x="685800" y="2263140"/>
            <a:ext cx="3429000" cy="102870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FFFFFF"/>
                </a:solidFill>
              </a:defRPr>
            </a:pPr>
            <a:r>
              <a:rPr sz="1200">
                <a:latin typeface="Calibri" panose="020F0502020204030204" pitchFamily="34" charset="0"/>
                <a:cs typeface="Calibri" panose="020F0502020204030204" pitchFamily="34" charset="0"/>
              </a:rPr>
              <a:t>APPLICATION</a:t>
            </a:r>
          </a:p>
          <a:p>
            <a:pPr>
              <a:defRPr sz="1100">
                <a:solidFill>
                  <a:srgbClr val="FFFFFF"/>
                </a:solidFill>
              </a:defRPr>
            </a:pPr>
            <a:r>
              <a:rPr sz="825">
                <a:latin typeface="Calibri" panose="020F0502020204030204" pitchFamily="34" charset="0"/>
                <a:cs typeface="Calibri" panose="020F0502020204030204" pitchFamily="34" charset="0"/>
              </a:rPr>
              <a:t>Spring Boot API REST</a:t>
            </a:r>
            <a:br>
              <a:rPr sz="825">
                <a:latin typeface="Calibri" panose="020F0502020204030204" pitchFamily="34" charset="0"/>
                <a:cs typeface="Calibri" panose="020F0502020204030204" pitchFamily="34" charset="0"/>
              </a:rPr>
            </a:br>
            <a:r>
              <a:rPr sz="825">
                <a:latin typeface="Calibri" panose="020F0502020204030204" pitchFamily="34" charset="0"/>
                <a:cs typeface="Calibri" panose="020F0502020204030204" pitchFamily="34" charset="0"/>
              </a:rPr>
              <a:t>Logique métier &amp; sécurité</a:t>
            </a:r>
          </a:p>
        </p:txBody>
      </p:sp>
      <p:sp>
        <p:nvSpPr>
          <p:cNvPr id="6" name="Rounded Rectangle 5"/>
          <p:cNvSpPr/>
          <p:nvPr/>
        </p:nvSpPr>
        <p:spPr>
          <a:xfrm>
            <a:off x="685800" y="3497580"/>
            <a:ext cx="3429000" cy="1028700"/>
          </a:xfrm>
          <a:prstGeom prst="roundRect">
            <a:avLst/>
          </a:prstGeom>
          <a:solidFill>
            <a:srgbClr val="80808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FFFFFF"/>
                </a:solidFill>
              </a:defRPr>
            </a:pPr>
            <a:r>
              <a:rPr sz="1200">
                <a:latin typeface="Calibri" panose="020F0502020204030204" pitchFamily="34" charset="0"/>
                <a:cs typeface="Calibri" panose="020F0502020204030204" pitchFamily="34" charset="0"/>
              </a:rPr>
              <a:t>DONNÉES</a:t>
            </a:r>
          </a:p>
          <a:p>
            <a:pPr>
              <a:defRPr sz="1100">
                <a:solidFill>
                  <a:srgbClr val="FFFFFF"/>
                </a:solidFill>
              </a:defRPr>
            </a:pPr>
            <a:r>
              <a:rPr sz="825">
                <a:latin typeface="Calibri" panose="020F0502020204030204" pitchFamily="34" charset="0"/>
                <a:cs typeface="Calibri" panose="020F0502020204030204" pitchFamily="34" charset="0"/>
              </a:rPr>
              <a:t>PostgreSQL + Stockage fichiers</a:t>
            </a:r>
            <a:br>
              <a:rPr sz="825">
                <a:latin typeface="Calibri" panose="020F0502020204030204" pitchFamily="34" charset="0"/>
                <a:cs typeface="Calibri" panose="020F0502020204030204" pitchFamily="34" charset="0"/>
              </a:rPr>
            </a:br>
            <a:r>
              <a:rPr sz="825">
                <a:latin typeface="Calibri" panose="020F0502020204030204" pitchFamily="34" charset="0"/>
                <a:cs typeface="Calibri" panose="020F0502020204030204" pitchFamily="34" charset="0"/>
              </a:rPr>
              <a:t>Base de données structurée</a:t>
            </a:r>
          </a:p>
        </p:txBody>
      </p:sp>
      <p:sp>
        <p:nvSpPr>
          <p:cNvPr id="7" name="Down Arrow 6"/>
          <p:cNvSpPr/>
          <p:nvPr/>
        </p:nvSpPr>
        <p:spPr>
          <a:xfrm>
            <a:off x="2194560" y="2057400"/>
            <a:ext cx="411480" cy="342900"/>
          </a:xfrm>
          <a:prstGeom prst="downArrow">
            <a:avLst/>
          </a:prstGeom>
          <a:solidFill>
            <a:srgbClr val="1A20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Calibri" panose="020F0502020204030204" pitchFamily="34" charset="0"/>
              <a:cs typeface="Calibri" panose="020F0502020204030204" pitchFamily="34" charset="0"/>
            </a:endParaRPr>
          </a:p>
        </p:txBody>
      </p:sp>
      <p:sp>
        <p:nvSpPr>
          <p:cNvPr id="8" name="Down Arrow 7"/>
          <p:cNvSpPr/>
          <p:nvPr/>
        </p:nvSpPr>
        <p:spPr>
          <a:xfrm>
            <a:off x="2194560" y="3291840"/>
            <a:ext cx="411480" cy="342900"/>
          </a:xfrm>
          <a:prstGeom prst="downArrow">
            <a:avLst/>
          </a:prstGeom>
          <a:solidFill>
            <a:srgbClr val="1A20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Calibri" panose="020F0502020204030204" pitchFamily="34" charset="0"/>
              <a:cs typeface="Calibri" panose="020F0502020204030204" pitchFamily="34" charset="0"/>
            </a:endParaRPr>
          </a:p>
        </p:txBody>
      </p:sp>
      <p:sp>
        <p:nvSpPr>
          <p:cNvPr id="9" name="Rectangle 8"/>
          <p:cNvSpPr/>
          <p:nvPr/>
        </p:nvSpPr>
        <p:spPr>
          <a:xfrm>
            <a:off x="4800600" y="1028700"/>
            <a:ext cx="137160" cy="34290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Calibri" panose="020F0502020204030204" pitchFamily="34" charset="0"/>
              <a:cs typeface="Calibri" panose="020F0502020204030204" pitchFamily="34" charset="0"/>
            </a:endParaRPr>
          </a:p>
        </p:txBody>
      </p:sp>
      <p:sp>
        <p:nvSpPr>
          <p:cNvPr id="10" name="TextBox 9"/>
          <p:cNvSpPr txBox="1"/>
          <p:nvPr/>
        </p:nvSpPr>
        <p:spPr>
          <a:xfrm>
            <a:off x="5006340" y="960121"/>
            <a:ext cx="1330814" cy="276999"/>
          </a:xfrm>
          <a:prstGeom prst="rect">
            <a:avLst/>
          </a:prstGeom>
          <a:noFill/>
        </p:spPr>
        <p:txBody>
          <a:bodyPr wrap="none">
            <a:spAutoFit/>
          </a:bodyPr>
          <a:lstStyle/>
          <a:p>
            <a:pPr>
              <a:defRPr sz="1600" b="1">
                <a:solidFill>
                  <a:srgbClr val="1A202C"/>
                </a:solidFill>
              </a:defRPr>
            </a:pPr>
            <a:r>
              <a:rPr sz="1200"/>
              <a:t>Multiplateforme</a:t>
            </a:r>
          </a:p>
        </p:txBody>
      </p:sp>
      <p:sp>
        <p:nvSpPr>
          <p:cNvPr id="11" name="TextBox 10"/>
          <p:cNvSpPr txBox="1"/>
          <p:nvPr/>
        </p:nvSpPr>
        <p:spPr>
          <a:xfrm>
            <a:off x="5006340" y="1200150"/>
            <a:ext cx="1120820" cy="230832"/>
          </a:xfrm>
          <a:prstGeom prst="rect">
            <a:avLst/>
          </a:prstGeom>
          <a:noFill/>
        </p:spPr>
        <p:txBody>
          <a:bodyPr wrap="none">
            <a:spAutoFit/>
          </a:bodyPr>
          <a:lstStyle/>
          <a:p>
            <a:pPr>
              <a:defRPr sz="1200">
                <a:solidFill>
                  <a:srgbClr val="3C3C3C"/>
                </a:solidFill>
              </a:defRPr>
            </a:pPr>
            <a:r>
              <a:rPr sz="900">
                <a:latin typeface="Calibri" panose="020F0502020204030204" pitchFamily="34" charset="0"/>
                <a:cs typeface="Calibri" panose="020F0502020204030204" pitchFamily="34" charset="0"/>
              </a:rPr>
              <a:t>Application desktop</a:t>
            </a:r>
          </a:p>
        </p:txBody>
      </p:sp>
      <p:sp>
        <p:nvSpPr>
          <p:cNvPr id="12" name="Rectangle 11"/>
          <p:cNvSpPr/>
          <p:nvPr/>
        </p:nvSpPr>
        <p:spPr>
          <a:xfrm>
            <a:off x="4800600" y="1988820"/>
            <a:ext cx="137160" cy="342900"/>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Calibri" panose="020F0502020204030204" pitchFamily="34" charset="0"/>
              <a:cs typeface="Calibri" panose="020F0502020204030204" pitchFamily="34" charset="0"/>
            </a:endParaRPr>
          </a:p>
        </p:txBody>
      </p:sp>
      <p:sp>
        <p:nvSpPr>
          <p:cNvPr id="13" name="TextBox 12"/>
          <p:cNvSpPr txBox="1"/>
          <p:nvPr/>
        </p:nvSpPr>
        <p:spPr>
          <a:xfrm>
            <a:off x="5006340" y="1920241"/>
            <a:ext cx="704039" cy="276999"/>
          </a:xfrm>
          <a:prstGeom prst="rect">
            <a:avLst/>
          </a:prstGeom>
          <a:noFill/>
        </p:spPr>
        <p:txBody>
          <a:bodyPr wrap="none">
            <a:spAutoFit/>
          </a:bodyPr>
          <a:lstStyle/>
          <a:p>
            <a:pPr>
              <a:defRPr sz="1600" b="1">
                <a:solidFill>
                  <a:srgbClr val="1A202C"/>
                </a:solidFill>
              </a:defRPr>
            </a:pPr>
            <a:r>
              <a:rPr sz="1200">
                <a:latin typeface="Calibri" panose="020F0502020204030204" pitchFamily="34" charset="0"/>
                <a:cs typeface="Calibri" panose="020F0502020204030204" pitchFamily="34" charset="0"/>
              </a:rPr>
              <a:t>Sécurité</a:t>
            </a:r>
          </a:p>
        </p:txBody>
      </p:sp>
      <p:sp>
        <p:nvSpPr>
          <p:cNvPr id="14" name="TextBox 13"/>
          <p:cNvSpPr txBox="1"/>
          <p:nvPr/>
        </p:nvSpPr>
        <p:spPr>
          <a:xfrm>
            <a:off x="5006340" y="2160270"/>
            <a:ext cx="1106393" cy="230832"/>
          </a:xfrm>
          <a:prstGeom prst="rect">
            <a:avLst/>
          </a:prstGeom>
          <a:noFill/>
        </p:spPr>
        <p:txBody>
          <a:bodyPr wrap="none">
            <a:spAutoFit/>
          </a:bodyPr>
          <a:lstStyle/>
          <a:p>
            <a:pPr>
              <a:defRPr sz="1200">
                <a:solidFill>
                  <a:srgbClr val="3C3C3C"/>
                </a:solidFill>
              </a:defRPr>
            </a:pPr>
            <a:r>
              <a:rPr sz="900">
                <a:latin typeface="Calibri" panose="020F0502020204030204" pitchFamily="34" charset="0"/>
                <a:cs typeface="Calibri" panose="020F0502020204030204" pitchFamily="34" charset="0"/>
              </a:rPr>
              <a:t>JWT + RBAC + Audit</a:t>
            </a:r>
          </a:p>
        </p:txBody>
      </p:sp>
      <p:sp>
        <p:nvSpPr>
          <p:cNvPr id="15" name="Rectangle 14"/>
          <p:cNvSpPr/>
          <p:nvPr/>
        </p:nvSpPr>
        <p:spPr>
          <a:xfrm>
            <a:off x="4800600" y="2948940"/>
            <a:ext cx="137160" cy="34290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Calibri" panose="020F0502020204030204" pitchFamily="34" charset="0"/>
              <a:cs typeface="Calibri" panose="020F0502020204030204" pitchFamily="34" charset="0"/>
            </a:endParaRPr>
          </a:p>
        </p:txBody>
      </p:sp>
      <p:sp>
        <p:nvSpPr>
          <p:cNvPr id="16" name="TextBox 15"/>
          <p:cNvSpPr txBox="1"/>
          <p:nvPr/>
        </p:nvSpPr>
        <p:spPr>
          <a:xfrm>
            <a:off x="5006340" y="2880361"/>
            <a:ext cx="869149" cy="276999"/>
          </a:xfrm>
          <a:prstGeom prst="rect">
            <a:avLst/>
          </a:prstGeom>
          <a:noFill/>
        </p:spPr>
        <p:txBody>
          <a:bodyPr wrap="none">
            <a:spAutoFit/>
          </a:bodyPr>
          <a:lstStyle/>
          <a:p>
            <a:pPr>
              <a:defRPr sz="1600" b="1">
                <a:solidFill>
                  <a:srgbClr val="1A202C"/>
                </a:solidFill>
              </a:defRPr>
            </a:pPr>
            <a:r>
              <a:rPr sz="1200">
                <a:latin typeface="Calibri" panose="020F0502020204030204" pitchFamily="34" charset="0"/>
                <a:cs typeface="Calibri" panose="020F0502020204030204" pitchFamily="34" charset="0"/>
              </a:rPr>
              <a:t>Évolutivité</a:t>
            </a:r>
          </a:p>
        </p:txBody>
      </p:sp>
      <p:sp>
        <p:nvSpPr>
          <p:cNvPr id="17" name="TextBox 16"/>
          <p:cNvSpPr txBox="1"/>
          <p:nvPr/>
        </p:nvSpPr>
        <p:spPr>
          <a:xfrm>
            <a:off x="5006340" y="3120390"/>
            <a:ext cx="1277914" cy="230832"/>
          </a:xfrm>
          <a:prstGeom prst="rect">
            <a:avLst/>
          </a:prstGeom>
          <a:noFill/>
        </p:spPr>
        <p:txBody>
          <a:bodyPr wrap="none">
            <a:spAutoFit/>
          </a:bodyPr>
          <a:lstStyle/>
          <a:p>
            <a:pPr>
              <a:defRPr sz="1200">
                <a:solidFill>
                  <a:srgbClr val="3C3C3C"/>
                </a:solidFill>
              </a:defRPr>
            </a:pPr>
            <a:r>
              <a:rPr sz="900">
                <a:latin typeface="Calibri" panose="020F0502020204030204" pitchFamily="34" charset="0"/>
                <a:cs typeface="Calibri" panose="020F0502020204030204" pitchFamily="34" charset="0"/>
              </a:rPr>
              <a:t>Architecture modulaire</a:t>
            </a:r>
          </a:p>
        </p:txBody>
      </p:sp>
      <p:sp>
        <p:nvSpPr>
          <p:cNvPr id="18" name="Rectangle 17"/>
          <p:cNvSpPr/>
          <p:nvPr/>
        </p:nvSpPr>
        <p:spPr>
          <a:xfrm>
            <a:off x="4800600" y="3909059"/>
            <a:ext cx="137160" cy="342900"/>
          </a:xfrm>
          <a:prstGeom prst="rect">
            <a:avLst/>
          </a:prstGeom>
          <a:solidFill>
            <a:srgbClr val="FCD1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Calibri" panose="020F0502020204030204" pitchFamily="34" charset="0"/>
              <a:cs typeface="Calibri" panose="020F0502020204030204" pitchFamily="34" charset="0"/>
            </a:endParaRPr>
          </a:p>
        </p:txBody>
      </p:sp>
      <p:sp>
        <p:nvSpPr>
          <p:cNvPr id="19" name="TextBox 18"/>
          <p:cNvSpPr txBox="1"/>
          <p:nvPr/>
        </p:nvSpPr>
        <p:spPr>
          <a:xfrm>
            <a:off x="5006340" y="3840481"/>
            <a:ext cx="1196161" cy="276999"/>
          </a:xfrm>
          <a:prstGeom prst="rect">
            <a:avLst/>
          </a:prstGeom>
          <a:noFill/>
        </p:spPr>
        <p:txBody>
          <a:bodyPr wrap="none">
            <a:spAutoFit/>
          </a:bodyPr>
          <a:lstStyle/>
          <a:p>
            <a:pPr>
              <a:defRPr sz="1600" b="1">
                <a:solidFill>
                  <a:srgbClr val="1A202C"/>
                </a:solidFill>
              </a:defRPr>
            </a:pPr>
            <a:r>
              <a:rPr sz="1200">
                <a:latin typeface="Calibri" panose="020F0502020204030204" pitchFamily="34" charset="0"/>
                <a:cs typeface="Calibri" panose="020F0502020204030204" pitchFamily="34" charset="0"/>
              </a:rPr>
              <a:t>Interopérabilité</a:t>
            </a:r>
          </a:p>
        </p:txBody>
      </p:sp>
      <p:sp>
        <p:nvSpPr>
          <p:cNvPr id="20" name="TextBox 19"/>
          <p:cNvSpPr txBox="1"/>
          <p:nvPr/>
        </p:nvSpPr>
        <p:spPr>
          <a:xfrm>
            <a:off x="5006340" y="4080509"/>
            <a:ext cx="1489510" cy="230832"/>
          </a:xfrm>
          <a:prstGeom prst="rect">
            <a:avLst/>
          </a:prstGeom>
          <a:noFill/>
        </p:spPr>
        <p:txBody>
          <a:bodyPr wrap="none">
            <a:spAutoFit/>
          </a:bodyPr>
          <a:lstStyle/>
          <a:p>
            <a:pPr>
              <a:defRPr sz="1200">
                <a:solidFill>
                  <a:srgbClr val="3C3C3C"/>
                </a:solidFill>
              </a:defRPr>
            </a:pPr>
            <a:r>
              <a:rPr sz="900">
                <a:latin typeface="Calibri" panose="020F0502020204030204" pitchFamily="34" charset="0"/>
                <a:cs typeface="Calibri" panose="020F0502020204030204" pitchFamily="34" charset="0"/>
              </a:rPr>
              <a:t>Synchronisation GESMIL 2.0</a:t>
            </a:r>
          </a:p>
        </p:txBody>
      </p:sp>
      <p:sp>
        <p:nvSpPr>
          <p:cNvPr id="21" name="Google Shape;49;p5"/>
          <p:cNvSpPr/>
          <p:nvPr/>
        </p:nvSpPr>
        <p:spPr>
          <a:xfrm>
            <a:off x="1" y="4716126"/>
            <a:ext cx="9144000" cy="480060"/>
          </a:xfrm>
          <a:prstGeom prst="rect">
            <a:avLst/>
          </a:prstGeom>
          <a:solidFill>
            <a:srgbClr val="FFC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 name="Group 32"/>
          <p:cNvGrpSpPr/>
          <p:nvPr/>
        </p:nvGrpSpPr>
        <p:grpSpPr>
          <a:xfrm>
            <a:off x="91440" y="-24458"/>
            <a:ext cx="9052560" cy="778837"/>
            <a:chOff x="330" y="182"/>
            <a:chExt cx="18543" cy="1604"/>
          </a:xfrm>
        </p:grpSpPr>
        <p:sp>
          <p:nvSpPr>
            <p:cNvPr id="23" name="Freeform 3"/>
            <p:cNvSpPr/>
            <p:nvPr/>
          </p:nvSpPr>
          <p:spPr>
            <a:xfrm>
              <a:off x="330" y="182"/>
              <a:ext cx="1640" cy="1604"/>
            </a:xfrm>
            <a:custGeom>
              <a:avLst/>
              <a:gdLst/>
              <a:ahLst/>
              <a:cxnLst/>
              <a:rect l="l" t="t" r="r" b="b"/>
              <a:pathLst>
                <a:path w="6263628" h="7097595">
                  <a:moveTo>
                    <a:pt x="0" y="0"/>
                  </a:moveTo>
                  <a:lnTo>
                    <a:pt x="6263628" y="0"/>
                  </a:lnTo>
                  <a:lnTo>
                    <a:pt x="6263628" y="7097595"/>
                  </a:lnTo>
                  <a:lnTo>
                    <a:pt x="0" y="7097595"/>
                  </a:lnTo>
                  <a:lnTo>
                    <a:pt x="0" y="0"/>
                  </a:lnTo>
                  <a:close/>
                </a:path>
              </a:pathLst>
            </a:custGeom>
            <a:blipFill>
              <a:blip r:embed="rId2"/>
              <a:stretch>
                <a:fillRect/>
              </a:stretch>
            </a:blipFill>
          </p:spPr>
        </p:sp>
        <p:pic>
          <p:nvPicPr>
            <p:cNvPr id="24" name="Picture 3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953" y="182"/>
              <a:ext cx="1920" cy="1604"/>
            </a:xfrm>
            <a:prstGeom prst="rect">
              <a:avLst/>
            </a:prstGeom>
          </p:spPr>
        </p:pic>
      </p:grpSp>
      <p:sp>
        <p:nvSpPr>
          <p:cNvPr id="25" name="Google Shape;35;p4"/>
          <p:cNvSpPr/>
          <p:nvPr/>
        </p:nvSpPr>
        <p:spPr>
          <a:xfrm>
            <a:off x="95050" y="4787862"/>
            <a:ext cx="640080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ADCFC"/>
              </a:buClr>
              <a:buSzPts val="900"/>
              <a:buFont typeface="Calibri"/>
              <a:buNone/>
            </a:pPr>
            <a:r>
              <a:rPr lang="en-US" sz="900" b="0" i="0" u="none" strike="noStrike" cap="none" dirty="0">
                <a:solidFill>
                  <a:srgbClr val="CADCFC"/>
                </a:solidFill>
                <a:latin typeface="Calibri"/>
                <a:ea typeface="Calibri"/>
                <a:cs typeface="Calibri"/>
                <a:sym typeface="Calibri"/>
              </a:rPr>
              <a:t>MINDEF - Direction des </a:t>
            </a:r>
            <a:r>
              <a:rPr lang="en-US" sz="900" b="0" i="0" u="none" strike="noStrike" cap="none" dirty="0" err="1">
                <a:solidFill>
                  <a:srgbClr val="CADCFC"/>
                </a:solidFill>
                <a:latin typeface="Calibri"/>
                <a:ea typeface="Calibri"/>
                <a:cs typeface="Calibri"/>
                <a:sym typeface="Calibri"/>
              </a:rPr>
              <a:t>Ressources</a:t>
            </a:r>
            <a:r>
              <a:rPr lang="en-US" sz="900" b="0" i="0" u="none" strike="noStrike" cap="none" dirty="0">
                <a:solidFill>
                  <a:srgbClr val="CADCFC"/>
                </a:solidFill>
                <a:latin typeface="Calibri"/>
                <a:ea typeface="Calibri"/>
                <a:cs typeface="Calibri"/>
                <a:sym typeface="Calibri"/>
              </a:rPr>
              <a:t> </a:t>
            </a:r>
            <a:r>
              <a:rPr lang="en-US" sz="900" b="0" i="0" u="none" strike="noStrike" cap="none" dirty="0" err="1">
                <a:solidFill>
                  <a:srgbClr val="CADCFC"/>
                </a:solidFill>
                <a:latin typeface="Calibri"/>
                <a:ea typeface="Calibri"/>
                <a:cs typeface="Calibri"/>
                <a:sym typeface="Calibri"/>
              </a:rPr>
              <a:t>Humaines</a:t>
            </a:r>
            <a:endParaRPr sz="900" b="0" i="0" u="none" strike="noStrike" cap="none" dirty="0">
              <a:solidFill>
                <a:schemeClr val="dk1"/>
              </a:solidFill>
              <a:latin typeface="Calibri"/>
              <a:ea typeface="Calibri"/>
              <a:cs typeface="Calibri"/>
              <a:sym typeface="Calibri"/>
            </a:endParaRPr>
          </a:p>
        </p:txBody>
      </p:sp>
      <p:sp>
        <p:nvSpPr>
          <p:cNvPr id="26" name="Google Shape;36;p4"/>
          <p:cNvSpPr/>
          <p:nvPr/>
        </p:nvSpPr>
        <p:spPr>
          <a:xfrm>
            <a:off x="7772400" y="4709160"/>
            <a:ext cx="914400" cy="365760"/>
          </a:xfrm>
          <a:prstGeom prst="rect">
            <a:avLst/>
          </a:prstGeom>
          <a:noFill/>
          <a:ln>
            <a:noFill/>
          </a:ln>
        </p:spPr>
        <p:txBody>
          <a:bodyPr spcFirstLastPara="1" wrap="square" lIns="91425" tIns="45700" rIns="91425" bIns="45700" anchor="ctr" anchorCtr="0">
            <a:noAutofit/>
          </a:bodyPr>
          <a:lstStyle/>
          <a:p>
            <a:pPr lvl="0" algn="r">
              <a:buClr>
                <a:srgbClr val="CADCFC"/>
              </a:buClr>
              <a:buSzPts val="900"/>
            </a:pPr>
            <a:r>
              <a:rPr lang="en-US" sz="900" dirty="0">
                <a:solidFill>
                  <a:srgbClr val="CADCFC"/>
                </a:solidFill>
                <a:latin typeface="Calibri"/>
                <a:ea typeface="Calibri"/>
                <a:cs typeface="Calibri"/>
                <a:sym typeface="Calibri"/>
              </a:rPr>
              <a:t>15</a:t>
            </a:r>
            <a:r>
              <a:rPr lang="en-US" sz="900" b="0" i="0" u="none" strike="noStrike" cap="none" dirty="0">
                <a:solidFill>
                  <a:srgbClr val="CADCFC"/>
                </a:solidFill>
                <a:latin typeface="Calibri"/>
                <a:ea typeface="Calibri"/>
                <a:cs typeface="Calibri"/>
                <a:sym typeface="Calibri"/>
              </a:rPr>
              <a:t> / </a:t>
            </a:r>
            <a:r>
              <a:rPr lang="en-US" sz="900" dirty="0">
                <a:solidFill>
                  <a:srgbClr val="CADCFC"/>
                </a:solidFill>
                <a:latin typeface="Calibri"/>
                <a:ea typeface="Calibri"/>
                <a:cs typeface="Calibri"/>
                <a:sym typeface="Calibri"/>
              </a:rPr>
              <a:t>27</a:t>
            </a:r>
            <a:endParaRPr lang="en-US" sz="9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0719176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9143771" cy="82296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 name="TextBox 2"/>
          <p:cNvSpPr txBox="1"/>
          <p:nvPr/>
        </p:nvSpPr>
        <p:spPr>
          <a:xfrm>
            <a:off x="1037104" y="203730"/>
            <a:ext cx="5888150" cy="415498"/>
          </a:xfrm>
          <a:prstGeom prst="rect">
            <a:avLst/>
          </a:prstGeom>
          <a:noFill/>
        </p:spPr>
        <p:txBody>
          <a:bodyPr wrap="none">
            <a:spAutoFit/>
          </a:bodyPr>
          <a:lstStyle/>
          <a:p>
            <a:pPr>
              <a:defRPr sz="2800" b="1">
                <a:solidFill>
                  <a:srgbClr val="FFFFFF"/>
                </a:solidFill>
              </a:defRPr>
            </a:pPr>
            <a:r>
              <a:rPr sz="2100" dirty="0">
                <a:latin typeface="Calibri" panose="020F0502020204030204" pitchFamily="34" charset="0"/>
                <a:cs typeface="Calibri" panose="020F0502020204030204" pitchFamily="34" charset="0"/>
              </a:rPr>
              <a:t>ORGANISATION HIÉRARCHIQUE &amp; DROITS D'ACCÈS</a:t>
            </a:r>
          </a:p>
        </p:txBody>
      </p:sp>
      <p:sp>
        <p:nvSpPr>
          <p:cNvPr id="4" name="Rounded Rectangle 3"/>
          <p:cNvSpPr/>
          <p:nvPr/>
        </p:nvSpPr>
        <p:spPr>
          <a:xfrm>
            <a:off x="2743200" y="1028700"/>
            <a:ext cx="3429000" cy="411480"/>
          </a:xfrm>
          <a:prstGeom prst="round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rPr sz="900"/>
              <a:t>MINISTÈRE DE LA DÉFENSE / DRH</a:t>
            </a:r>
          </a:p>
        </p:txBody>
      </p:sp>
      <p:sp>
        <p:nvSpPr>
          <p:cNvPr id="5" name="Rounded Rectangle 4"/>
          <p:cNvSpPr/>
          <p:nvPr/>
        </p:nvSpPr>
        <p:spPr>
          <a:xfrm>
            <a:off x="2914650" y="1783080"/>
            <a:ext cx="3086100" cy="411480"/>
          </a:xfrm>
          <a:prstGeom prst="roundRect">
            <a:avLst/>
          </a:prstGeom>
          <a:solidFill>
            <a:srgbClr val="1A2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rPr sz="900"/>
              <a:t>ÉTAT-MAJOR (Terre, Air, Marine, Gendarmerie)</a:t>
            </a:r>
          </a:p>
        </p:txBody>
      </p:sp>
      <p:sp>
        <p:nvSpPr>
          <p:cNvPr id="6" name="Rounded Rectangle 5"/>
          <p:cNvSpPr/>
          <p:nvPr/>
        </p:nvSpPr>
        <p:spPr>
          <a:xfrm>
            <a:off x="3086100" y="2468880"/>
            <a:ext cx="2743200" cy="41148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rPr sz="900"/>
              <a:t>5 RÉGIONS MILITAIRES INTERARMES (RMIA)</a:t>
            </a:r>
          </a:p>
        </p:txBody>
      </p:sp>
      <p:sp>
        <p:nvSpPr>
          <p:cNvPr id="8" name="Rounded Rectangle 7"/>
          <p:cNvSpPr/>
          <p:nvPr/>
        </p:nvSpPr>
        <p:spPr>
          <a:xfrm>
            <a:off x="3429000" y="3634740"/>
            <a:ext cx="2057400" cy="411480"/>
          </a:xfrm>
          <a:prstGeom prst="roundRect">
            <a:avLst/>
          </a:prstGeom>
          <a:solidFill>
            <a:srgbClr val="8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rPr sz="900"/>
              <a:t>BRIGADES / BATAILLONS / COMPAGNIES</a:t>
            </a:r>
          </a:p>
        </p:txBody>
      </p:sp>
      <p:sp>
        <p:nvSpPr>
          <p:cNvPr id="9" name="TextBox 8"/>
          <p:cNvSpPr txBox="1"/>
          <p:nvPr/>
        </p:nvSpPr>
        <p:spPr>
          <a:xfrm>
            <a:off x="1565722" y="4251961"/>
            <a:ext cx="5783956" cy="276999"/>
          </a:xfrm>
          <a:prstGeom prst="rect">
            <a:avLst/>
          </a:prstGeom>
          <a:noFill/>
        </p:spPr>
        <p:txBody>
          <a:bodyPr wrap="none">
            <a:spAutoFit/>
          </a:bodyPr>
          <a:lstStyle/>
          <a:p>
            <a:pPr algn="ctr">
              <a:defRPr sz="1600">
                <a:solidFill>
                  <a:srgbClr val="1A202C"/>
                </a:solidFill>
              </a:defRPr>
            </a:pPr>
            <a:r>
              <a:rPr sz="1200"/>
              <a:t>🔒 Validation hiérarchique    📋 Traçabilité complète    👁️ Principe 'Need to Know'</a:t>
            </a:r>
          </a:p>
        </p:txBody>
      </p:sp>
      <p:sp>
        <p:nvSpPr>
          <p:cNvPr id="10" name="Google Shape;49;p5"/>
          <p:cNvSpPr/>
          <p:nvPr/>
        </p:nvSpPr>
        <p:spPr>
          <a:xfrm>
            <a:off x="0" y="4677551"/>
            <a:ext cx="9144000" cy="480060"/>
          </a:xfrm>
          <a:prstGeom prst="rect">
            <a:avLst/>
          </a:prstGeom>
          <a:solidFill>
            <a:srgbClr val="2E7D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roup 32"/>
          <p:cNvGrpSpPr/>
          <p:nvPr/>
        </p:nvGrpSpPr>
        <p:grpSpPr>
          <a:xfrm>
            <a:off x="91440" y="-24458"/>
            <a:ext cx="9052560" cy="778837"/>
            <a:chOff x="330" y="182"/>
            <a:chExt cx="18543" cy="1604"/>
          </a:xfrm>
        </p:grpSpPr>
        <p:sp>
          <p:nvSpPr>
            <p:cNvPr id="12" name="Freeform 3"/>
            <p:cNvSpPr/>
            <p:nvPr/>
          </p:nvSpPr>
          <p:spPr>
            <a:xfrm>
              <a:off x="330" y="182"/>
              <a:ext cx="1640" cy="1604"/>
            </a:xfrm>
            <a:custGeom>
              <a:avLst/>
              <a:gdLst/>
              <a:ahLst/>
              <a:cxnLst/>
              <a:rect l="l" t="t" r="r" b="b"/>
              <a:pathLst>
                <a:path w="6263628" h="7097595">
                  <a:moveTo>
                    <a:pt x="0" y="0"/>
                  </a:moveTo>
                  <a:lnTo>
                    <a:pt x="6263628" y="0"/>
                  </a:lnTo>
                  <a:lnTo>
                    <a:pt x="6263628" y="7097595"/>
                  </a:lnTo>
                  <a:lnTo>
                    <a:pt x="0" y="7097595"/>
                  </a:lnTo>
                  <a:lnTo>
                    <a:pt x="0" y="0"/>
                  </a:lnTo>
                  <a:close/>
                </a:path>
              </a:pathLst>
            </a:custGeom>
            <a:blipFill>
              <a:blip r:embed="rId2"/>
              <a:stretch>
                <a:fillRect/>
              </a:stretch>
            </a:blipFill>
          </p:spPr>
        </p:sp>
        <p:pic>
          <p:nvPicPr>
            <p:cNvPr id="13" name="Picture 3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953" y="182"/>
              <a:ext cx="1920" cy="1604"/>
            </a:xfrm>
            <a:prstGeom prst="rect">
              <a:avLst/>
            </a:prstGeom>
          </p:spPr>
        </p:pic>
      </p:grpSp>
      <p:sp>
        <p:nvSpPr>
          <p:cNvPr id="14" name="Google Shape;35;p4"/>
          <p:cNvSpPr/>
          <p:nvPr/>
        </p:nvSpPr>
        <p:spPr>
          <a:xfrm>
            <a:off x="91440" y="4719461"/>
            <a:ext cx="640080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ADCFC"/>
              </a:buClr>
              <a:buSzPts val="900"/>
              <a:buFont typeface="Calibri"/>
              <a:buNone/>
            </a:pPr>
            <a:r>
              <a:rPr lang="en-US" sz="900" b="0" i="0" u="none" strike="noStrike" cap="none" dirty="0">
                <a:solidFill>
                  <a:srgbClr val="CADCFC"/>
                </a:solidFill>
                <a:latin typeface="Calibri"/>
                <a:ea typeface="Calibri"/>
                <a:cs typeface="Calibri"/>
                <a:sym typeface="Calibri"/>
              </a:rPr>
              <a:t>MINDEF - Direction des </a:t>
            </a:r>
            <a:r>
              <a:rPr lang="en-US" sz="900" b="0" i="0" u="none" strike="noStrike" cap="none" dirty="0" err="1">
                <a:solidFill>
                  <a:srgbClr val="CADCFC"/>
                </a:solidFill>
                <a:latin typeface="Calibri"/>
                <a:ea typeface="Calibri"/>
                <a:cs typeface="Calibri"/>
                <a:sym typeface="Calibri"/>
              </a:rPr>
              <a:t>Ressources</a:t>
            </a:r>
            <a:r>
              <a:rPr lang="en-US" sz="900" b="0" i="0" u="none" strike="noStrike" cap="none" dirty="0">
                <a:solidFill>
                  <a:srgbClr val="CADCFC"/>
                </a:solidFill>
                <a:latin typeface="Calibri"/>
                <a:ea typeface="Calibri"/>
                <a:cs typeface="Calibri"/>
                <a:sym typeface="Calibri"/>
              </a:rPr>
              <a:t> </a:t>
            </a:r>
            <a:r>
              <a:rPr lang="en-US" sz="900" b="0" i="0" u="none" strike="noStrike" cap="none" dirty="0" err="1">
                <a:solidFill>
                  <a:srgbClr val="CADCFC"/>
                </a:solidFill>
                <a:latin typeface="Calibri"/>
                <a:ea typeface="Calibri"/>
                <a:cs typeface="Calibri"/>
                <a:sym typeface="Calibri"/>
              </a:rPr>
              <a:t>Humaines</a:t>
            </a:r>
            <a:endParaRPr sz="900" b="0" i="0" u="none" strike="noStrike" cap="none" dirty="0">
              <a:solidFill>
                <a:schemeClr val="dk1"/>
              </a:solidFill>
              <a:latin typeface="Calibri"/>
              <a:ea typeface="Calibri"/>
              <a:cs typeface="Calibri"/>
              <a:sym typeface="Calibri"/>
            </a:endParaRPr>
          </a:p>
        </p:txBody>
      </p:sp>
      <p:sp>
        <p:nvSpPr>
          <p:cNvPr id="15" name="Google Shape;36;p4"/>
          <p:cNvSpPr/>
          <p:nvPr/>
        </p:nvSpPr>
        <p:spPr>
          <a:xfrm>
            <a:off x="7772400" y="4709160"/>
            <a:ext cx="914400" cy="365760"/>
          </a:xfrm>
          <a:prstGeom prst="rect">
            <a:avLst/>
          </a:prstGeom>
          <a:noFill/>
          <a:ln>
            <a:noFill/>
          </a:ln>
        </p:spPr>
        <p:txBody>
          <a:bodyPr spcFirstLastPara="1" wrap="square" lIns="91425" tIns="45700" rIns="91425" bIns="45700" anchor="ctr" anchorCtr="0">
            <a:noAutofit/>
          </a:bodyPr>
          <a:lstStyle/>
          <a:p>
            <a:pPr lvl="0" algn="r">
              <a:buClr>
                <a:srgbClr val="CADCFC"/>
              </a:buClr>
              <a:buSzPts val="900"/>
            </a:pPr>
            <a:r>
              <a:rPr lang="en-US" sz="900" dirty="0">
                <a:solidFill>
                  <a:srgbClr val="CADCFC"/>
                </a:solidFill>
                <a:latin typeface="Calibri"/>
                <a:ea typeface="Calibri"/>
                <a:cs typeface="Calibri"/>
                <a:sym typeface="Calibri"/>
              </a:rPr>
              <a:t>16</a:t>
            </a:r>
            <a:r>
              <a:rPr lang="en-US" sz="900" b="0" i="0" u="none" strike="noStrike" cap="none" dirty="0">
                <a:solidFill>
                  <a:srgbClr val="CADCFC"/>
                </a:solidFill>
                <a:latin typeface="Calibri"/>
                <a:ea typeface="Calibri"/>
                <a:cs typeface="Calibri"/>
                <a:sym typeface="Calibri"/>
              </a:rPr>
              <a:t>/ </a:t>
            </a:r>
            <a:r>
              <a:rPr lang="en-US" sz="900" dirty="0">
                <a:solidFill>
                  <a:srgbClr val="CADCFC"/>
                </a:solidFill>
                <a:latin typeface="Calibri"/>
                <a:ea typeface="Calibri"/>
                <a:cs typeface="Calibri"/>
                <a:sym typeface="Calibri"/>
              </a:rPr>
              <a:t>27</a:t>
            </a:r>
            <a:endParaRPr lang="en-US" sz="9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7107570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9143771" cy="82296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 name="TextBox 2"/>
          <p:cNvSpPr txBox="1"/>
          <p:nvPr/>
        </p:nvSpPr>
        <p:spPr>
          <a:xfrm>
            <a:off x="2251380" y="164753"/>
            <a:ext cx="4435830" cy="461665"/>
          </a:xfrm>
          <a:prstGeom prst="rect">
            <a:avLst/>
          </a:prstGeom>
          <a:noFill/>
        </p:spPr>
        <p:txBody>
          <a:bodyPr wrap="none">
            <a:spAutoFit/>
          </a:bodyPr>
          <a:lstStyle/>
          <a:p>
            <a:pPr>
              <a:defRPr sz="3200" b="1">
                <a:solidFill>
                  <a:srgbClr val="FFFFFF"/>
                </a:solidFill>
              </a:defRPr>
            </a:pPr>
            <a:r>
              <a:rPr sz="2400" dirty="0">
                <a:latin typeface="Calibri" panose="020F0502020204030204" pitchFamily="34" charset="0"/>
                <a:cs typeface="Calibri" panose="020F0502020204030204" pitchFamily="34" charset="0"/>
              </a:rPr>
              <a:t>DASHBOARD &amp; STATISTIQUES RH</a:t>
            </a:r>
          </a:p>
        </p:txBody>
      </p:sp>
      <p:sp>
        <p:nvSpPr>
          <p:cNvPr id="4" name="Rounded Rectangle 3"/>
          <p:cNvSpPr/>
          <p:nvPr/>
        </p:nvSpPr>
        <p:spPr>
          <a:xfrm>
            <a:off x="342900" y="1028700"/>
            <a:ext cx="2743200" cy="1508760"/>
          </a:xfrm>
          <a:prstGeom prst="round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5" name="TextBox 4"/>
          <p:cNvSpPr txBox="1"/>
          <p:nvPr/>
        </p:nvSpPr>
        <p:spPr>
          <a:xfrm>
            <a:off x="480060" y="1234440"/>
            <a:ext cx="415498" cy="369332"/>
          </a:xfrm>
          <a:prstGeom prst="rect">
            <a:avLst/>
          </a:prstGeom>
          <a:noFill/>
        </p:spPr>
        <p:txBody>
          <a:bodyPr wrap="none">
            <a:spAutoFit/>
          </a:bodyPr>
          <a:lstStyle/>
          <a:p>
            <a:pPr>
              <a:defRPr sz="2400"/>
            </a:pPr>
            <a:r>
              <a:rPr sz="1800"/>
              <a:t>📊</a:t>
            </a:r>
          </a:p>
        </p:txBody>
      </p:sp>
      <p:sp>
        <p:nvSpPr>
          <p:cNvPr id="6" name="TextBox 5"/>
          <p:cNvSpPr txBox="1"/>
          <p:nvPr/>
        </p:nvSpPr>
        <p:spPr>
          <a:xfrm>
            <a:off x="1028701" y="1268731"/>
            <a:ext cx="1798890" cy="276999"/>
          </a:xfrm>
          <a:prstGeom prst="rect">
            <a:avLst/>
          </a:prstGeom>
          <a:noFill/>
        </p:spPr>
        <p:txBody>
          <a:bodyPr wrap="none">
            <a:spAutoFit/>
          </a:bodyPr>
          <a:lstStyle/>
          <a:p>
            <a:pPr>
              <a:defRPr sz="1600" b="1">
                <a:solidFill>
                  <a:srgbClr val="FFFFFF"/>
                </a:solidFill>
              </a:defRPr>
            </a:pPr>
            <a:r>
              <a:rPr sz="1200" dirty="0" err="1"/>
              <a:t>Répartition</a:t>
            </a:r>
            <a:r>
              <a:rPr sz="1200" dirty="0"/>
              <a:t> par Arm</a:t>
            </a:r>
            <a:r>
              <a:rPr lang="fr-FR" sz="1200" dirty="0" err="1"/>
              <a:t>ée</a:t>
            </a:r>
            <a:endParaRPr sz="1200" dirty="0"/>
          </a:p>
        </p:txBody>
      </p:sp>
      <p:sp>
        <p:nvSpPr>
          <p:cNvPr id="7" name="TextBox 6"/>
          <p:cNvSpPr txBox="1"/>
          <p:nvPr/>
        </p:nvSpPr>
        <p:spPr>
          <a:xfrm>
            <a:off x="480060" y="1714500"/>
            <a:ext cx="2468880" cy="230832"/>
          </a:xfrm>
          <a:prstGeom prst="rect">
            <a:avLst/>
          </a:prstGeom>
          <a:noFill/>
        </p:spPr>
        <p:txBody>
          <a:bodyPr wrap="square">
            <a:spAutoFit/>
          </a:bodyPr>
          <a:lstStyle/>
          <a:p>
            <a:pPr>
              <a:defRPr sz="1200">
                <a:solidFill>
                  <a:srgbClr val="FFFFFF"/>
                </a:solidFill>
              </a:defRPr>
            </a:pPr>
            <a:r>
              <a:rPr sz="900"/>
              <a:t>Terre, Air, Marine, Gendarmerie</a:t>
            </a:r>
          </a:p>
        </p:txBody>
      </p:sp>
      <p:sp>
        <p:nvSpPr>
          <p:cNvPr id="8" name="Rounded Rectangle 7"/>
          <p:cNvSpPr/>
          <p:nvPr/>
        </p:nvSpPr>
        <p:spPr>
          <a:xfrm>
            <a:off x="3291840" y="1028700"/>
            <a:ext cx="2743200" cy="150876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9" name="TextBox 8"/>
          <p:cNvSpPr txBox="1"/>
          <p:nvPr/>
        </p:nvSpPr>
        <p:spPr>
          <a:xfrm>
            <a:off x="3429000" y="1234440"/>
            <a:ext cx="415498" cy="369332"/>
          </a:xfrm>
          <a:prstGeom prst="rect">
            <a:avLst/>
          </a:prstGeom>
          <a:noFill/>
        </p:spPr>
        <p:txBody>
          <a:bodyPr wrap="none">
            <a:spAutoFit/>
          </a:bodyPr>
          <a:lstStyle/>
          <a:p>
            <a:pPr>
              <a:defRPr sz="2400"/>
            </a:pPr>
            <a:r>
              <a:rPr sz="1800"/>
              <a:t>👥</a:t>
            </a:r>
          </a:p>
        </p:txBody>
      </p:sp>
      <p:sp>
        <p:nvSpPr>
          <p:cNvPr id="10" name="TextBox 9"/>
          <p:cNvSpPr txBox="1"/>
          <p:nvPr/>
        </p:nvSpPr>
        <p:spPr>
          <a:xfrm>
            <a:off x="3977640" y="1268731"/>
            <a:ext cx="790601" cy="276999"/>
          </a:xfrm>
          <a:prstGeom prst="rect">
            <a:avLst/>
          </a:prstGeom>
          <a:noFill/>
        </p:spPr>
        <p:txBody>
          <a:bodyPr wrap="none">
            <a:spAutoFit/>
          </a:bodyPr>
          <a:lstStyle/>
          <a:p>
            <a:pPr>
              <a:defRPr sz="1600" b="1">
                <a:solidFill>
                  <a:srgbClr val="FFFFFF"/>
                </a:solidFill>
              </a:defRPr>
            </a:pPr>
            <a:r>
              <a:rPr sz="1200"/>
              <a:t>Effectifs</a:t>
            </a:r>
          </a:p>
        </p:txBody>
      </p:sp>
      <p:sp>
        <p:nvSpPr>
          <p:cNvPr id="11" name="TextBox 10"/>
          <p:cNvSpPr txBox="1"/>
          <p:nvPr/>
        </p:nvSpPr>
        <p:spPr>
          <a:xfrm>
            <a:off x="3429000" y="1714500"/>
            <a:ext cx="2468880" cy="230832"/>
          </a:xfrm>
          <a:prstGeom prst="rect">
            <a:avLst/>
          </a:prstGeom>
          <a:noFill/>
        </p:spPr>
        <p:txBody>
          <a:bodyPr wrap="square">
            <a:spAutoFit/>
          </a:bodyPr>
          <a:lstStyle/>
          <a:p>
            <a:pPr>
              <a:defRPr sz="1200">
                <a:solidFill>
                  <a:srgbClr val="FFFFFF"/>
                </a:solidFill>
              </a:defRPr>
            </a:pPr>
            <a:r>
              <a:rPr sz="900"/>
              <a:t>Total par unité hiérarchique</a:t>
            </a:r>
          </a:p>
        </p:txBody>
      </p:sp>
      <p:sp>
        <p:nvSpPr>
          <p:cNvPr id="12" name="Rounded Rectangle 11"/>
          <p:cNvSpPr/>
          <p:nvPr/>
        </p:nvSpPr>
        <p:spPr>
          <a:xfrm>
            <a:off x="6240780" y="1028700"/>
            <a:ext cx="2743200" cy="150876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3" name="TextBox 12"/>
          <p:cNvSpPr txBox="1"/>
          <p:nvPr/>
        </p:nvSpPr>
        <p:spPr>
          <a:xfrm>
            <a:off x="6377939" y="1234440"/>
            <a:ext cx="383438" cy="369332"/>
          </a:xfrm>
          <a:prstGeom prst="rect">
            <a:avLst/>
          </a:prstGeom>
          <a:noFill/>
        </p:spPr>
        <p:txBody>
          <a:bodyPr wrap="none">
            <a:spAutoFit/>
          </a:bodyPr>
          <a:lstStyle/>
          <a:p>
            <a:pPr>
              <a:defRPr sz="2400"/>
            </a:pPr>
            <a:r>
              <a:rPr sz="1800"/>
              <a:t>⭐</a:t>
            </a:r>
          </a:p>
        </p:txBody>
      </p:sp>
      <p:sp>
        <p:nvSpPr>
          <p:cNvPr id="14" name="TextBox 13"/>
          <p:cNvSpPr txBox="1"/>
          <p:nvPr/>
        </p:nvSpPr>
        <p:spPr>
          <a:xfrm>
            <a:off x="6926580" y="1268731"/>
            <a:ext cx="1183337" cy="276999"/>
          </a:xfrm>
          <a:prstGeom prst="rect">
            <a:avLst/>
          </a:prstGeom>
          <a:noFill/>
        </p:spPr>
        <p:txBody>
          <a:bodyPr wrap="none">
            <a:spAutoFit/>
          </a:bodyPr>
          <a:lstStyle/>
          <a:p>
            <a:pPr>
              <a:defRPr sz="1600" b="1">
                <a:solidFill>
                  <a:srgbClr val="FFFFFF"/>
                </a:solidFill>
              </a:defRPr>
            </a:pPr>
            <a:r>
              <a:rPr sz="1200"/>
              <a:t>Par Catégorie</a:t>
            </a:r>
          </a:p>
        </p:txBody>
      </p:sp>
      <p:sp>
        <p:nvSpPr>
          <p:cNvPr id="15" name="TextBox 14"/>
          <p:cNvSpPr txBox="1"/>
          <p:nvPr/>
        </p:nvSpPr>
        <p:spPr>
          <a:xfrm>
            <a:off x="6377939" y="1714500"/>
            <a:ext cx="2468880" cy="230832"/>
          </a:xfrm>
          <a:prstGeom prst="rect">
            <a:avLst/>
          </a:prstGeom>
          <a:noFill/>
        </p:spPr>
        <p:txBody>
          <a:bodyPr wrap="square">
            <a:spAutoFit/>
          </a:bodyPr>
          <a:lstStyle/>
          <a:p>
            <a:pPr>
              <a:defRPr sz="1200">
                <a:solidFill>
                  <a:srgbClr val="FFFFFF"/>
                </a:solidFill>
              </a:defRPr>
            </a:pPr>
            <a:r>
              <a:rPr sz="900"/>
              <a:t>Officiers, Sous-Officiers, MDL</a:t>
            </a:r>
          </a:p>
        </p:txBody>
      </p:sp>
      <p:sp>
        <p:nvSpPr>
          <p:cNvPr id="16" name="Rounded Rectangle 15"/>
          <p:cNvSpPr/>
          <p:nvPr/>
        </p:nvSpPr>
        <p:spPr>
          <a:xfrm>
            <a:off x="342900" y="2948940"/>
            <a:ext cx="2743200" cy="1508760"/>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7" name="TextBox 16"/>
          <p:cNvSpPr txBox="1"/>
          <p:nvPr/>
        </p:nvSpPr>
        <p:spPr>
          <a:xfrm>
            <a:off x="480060" y="3154680"/>
            <a:ext cx="410690" cy="369332"/>
          </a:xfrm>
          <a:prstGeom prst="rect">
            <a:avLst/>
          </a:prstGeom>
          <a:noFill/>
        </p:spPr>
        <p:txBody>
          <a:bodyPr wrap="none">
            <a:spAutoFit/>
          </a:bodyPr>
          <a:lstStyle/>
          <a:p>
            <a:pPr>
              <a:defRPr sz="2400"/>
            </a:pPr>
            <a:r>
              <a:rPr sz="1800"/>
              <a:t>🆕</a:t>
            </a:r>
          </a:p>
        </p:txBody>
      </p:sp>
      <p:sp>
        <p:nvSpPr>
          <p:cNvPr id="18" name="TextBox 17"/>
          <p:cNvSpPr txBox="1"/>
          <p:nvPr/>
        </p:nvSpPr>
        <p:spPr>
          <a:xfrm>
            <a:off x="1028701" y="3188970"/>
            <a:ext cx="1835759" cy="276999"/>
          </a:xfrm>
          <a:prstGeom prst="rect">
            <a:avLst/>
          </a:prstGeom>
          <a:noFill/>
        </p:spPr>
        <p:txBody>
          <a:bodyPr wrap="none">
            <a:spAutoFit/>
          </a:bodyPr>
          <a:lstStyle/>
          <a:p>
            <a:pPr>
              <a:defRPr sz="1600" b="1">
                <a:solidFill>
                  <a:srgbClr val="FFFFFF"/>
                </a:solidFill>
              </a:defRPr>
            </a:pPr>
            <a:r>
              <a:rPr sz="1200"/>
              <a:t>Nouvelles Intégrations</a:t>
            </a:r>
          </a:p>
        </p:txBody>
      </p:sp>
      <p:sp>
        <p:nvSpPr>
          <p:cNvPr id="19" name="TextBox 18"/>
          <p:cNvSpPr txBox="1"/>
          <p:nvPr/>
        </p:nvSpPr>
        <p:spPr>
          <a:xfrm>
            <a:off x="480060" y="3634740"/>
            <a:ext cx="2468880" cy="230832"/>
          </a:xfrm>
          <a:prstGeom prst="rect">
            <a:avLst/>
          </a:prstGeom>
          <a:noFill/>
        </p:spPr>
        <p:txBody>
          <a:bodyPr wrap="square">
            <a:spAutoFit/>
          </a:bodyPr>
          <a:lstStyle/>
          <a:p>
            <a:pPr>
              <a:defRPr sz="1200">
                <a:solidFill>
                  <a:srgbClr val="FFFFFF"/>
                </a:solidFill>
              </a:defRPr>
            </a:pPr>
            <a:r>
              <a:rPr sz="900"/>
              <a:t>Suivi des recrues</a:t>
            </a:r>
          </a:p>
        </p:txBody>
      </p:sp>
      <p:sp>
        <p:nvSpPr>
          <p:cNvPr id="20" name="Rounded Rectangle 19"/>
          <p:cNvSpPr/>
          <p:nvPr/>
        </p:nvSpPr>
        <p:spPr>
          <a:xfrm>
            <a:off x="3291840" y="2948940"/>
            <a:ext cx="2743200" cy="1508760"/>
          </a:xfrm>
          <a:prstGeom prst="roundRect">
            <a:avLst/>
          </a:prstGeom>
          <a:solidFill>
            <a:srgbClr val="1A2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1" name="TextBox 20"/>
          <p:cNvSpPr txBox="1"/>
          <p:nvPr/>
        </p:nvSpPr>
        <p:spPr>
          <a:xfrm>
            <a:off x="3429000" y="3154680"/>
            <a:ext cx="383438" cy="369332"/>
          </a:xfrm>
          <a:prstGeom prst="rect">
            <a:avLst/>
          </a:prstGeom>
          <a:noFill/>
        </p:spPr>
        <p:txBody>
          <a:bodyPr wrap="none">
            <a:spAutoFit/>
          </a:bodyPr>
          <a:lstStyle/>
          <a:p>
            <a:pPr>
              <a:defRPr sz="2400"/>
            </a:pPr>
            <a:r>
              <a:rPr sz="1800"/>
              <a:t>⏳</a:t>
            </a:r>
          </a:p>
        </p:txBody>
      </p:sp>
      <p:sp>
        <p:nvSpPr>
          <p:cNvPr id="22" name="TextBox 21"/>
          <p:cNvSpPr txBox="1"/>
          <p:nvPr/>
        </p:nvSpPr>
        <p:spPr>
          <a:xfrm>
            <a:off x="3977640" y="3188970"/>
            <a:ext cx="1489510" cy="276999"/>
          </a:xfrm>
          <a:prstGeom prst="rect">
            <a:avLst/>
          </a:prstGeom>
          <a:noFill/>
        </p:spPr>
        <p:txBody>
          <a:bodyPr wrap="none">
            <a:spAutoFit/>
          </a:bodyPr>
          <a:lstStyle/>
          <a:p>
            <a:pPr>
              <a:defRPr sz="1600" b="1">
                <a:solidFill>
                  <a:srgbClr val="FFFFFF"/>
                </a:solidFill>
              </a:defRPr>
            </a:pPr>
            <a:r>
              <a:rPr sz="1200"/>
              <a:t>Retraites Proches</a:t>
            </a:r>
          </a:p>
        </p:txBody>
      </p:sp>
      <p:sp>
        <p:nvSpPr>
          <p:cNvPr id="23" name="TextBox 22"/>
          <p:cNvSpPr txBox="1"/>
          <p:nvPr/>
        </p:nvSpPr>
        <p:spPr>
          <a:xfrm>
            <a:off x="3429000" y="3634740"/>
            <a:ext cx="2468880" cy="230832"/>
          </a:xfrm>
          <a:prstGeom prst="rect">
            <a:avLst/>
          </a:prstGeom>
          <a:noFill/>
        </p:spPr>
        <p:txBody>
          <a:bodyPr wrap="square">
            <a:spAutoFit/>
          </a:bodyPr>
          <a:lstStyle/>
          <a:p>
            <a:pPr>
              <a:defRPr sz="1200">
                <a:solidFill>
                  <a:srgbClr val="FFFFFF"/>
                </a:solidFill>
              </a:defRPr>
            </a:pPr>
            <a:r>
              <a:rPr sz="900"/>
              <a:t>Alertes 6 mois avant</a:t>
            </a:r>
          </a:p>
        </p:txBody>
      </p:sp>
      <p:sp>
        <p:nvSpPr>
          <p:cNvPr id="24" name="Rounded Rectangle 23"/>
          <p:cNvSpPr/>
          <p:nvPr/>
        </p:nvSpPr>
        <p:spPr>
          <a:xfrm>
            <a:off x="6240780" y="2948940"/>
            <a:ext cx="2743200" cy="1508760"/>
          </a:xfrm>
          <a:prstGeom prst="roundRect">
            <a:avLst/>
          </a:prstGeom>
          <a:solidFill>
            <a:srgbClr val="8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5" name="TextBox 24"/>
          <p:cNvSpPr txBox="1"/>
          <p:nvPr/>
        </p:nvSpPr>
        <p:spPr>
          <a:xfrm>
            <a:off x="6377939" y="3154680"/>
            <a:ext cx="415498" cy="369332"/>
          </a:xfrm>
          <a:prstGeom prst="rect">
            <a:avLst/>
          </a:prstGeom>
          <a:noFill/>
        </p:spPr>
        <p:txBody>
          <a:bodyPr wrap="none">
            <a:spAutoFit/>
          </a:bodyPr>
          <a:lstStyle/>
          <a:p>
            <a:pPr>
              <a:defRPr sz="2400"/>
            </a:pPr>
            <a:r>
              <a:rPr sz="1800"/>
              <a:t>📈</a:t>
            </a:r>
          </a:p>
        </p:txBody>
      </p:sp>
      <p:sp>
        <p:nvSpPr>
          <p:cNvPr id="26" name="TextBox 25"/>
          <p:cNvSpPr txBox="1"/>
          <p:nvPr/>
        </p:nvSpPr>
        <p:spPr>
          <a:xfrm>
            <a:off x="6926580" y="3188970"/>
            <a:ext cx="1125629" cy="276999"/>
          </a:xfrm>
          <a:prstGeom prst="rect">
            <a:avLst/>
          </a:prstGeom>
          <a:noFill/>
        </p:spPr>
        <p:txBody>
          <a:bodyPr wrap="none">
            <a:spAutoFit/>
          </a:bodyPr>
          <a:lstStyle/>
          <a:p>
            <a:pPr>
              <a:defRPr sz="1600" b="1">
                <a:solidFill>
                  <a:srgbClr val="FFFFFF"/>
                </a:solidFill>
              </a:defRPr>
            </a:pPr>
            <a:r>
              <a:rPr sz="1200" dirty="0"/>
              <a:t>Export TE</a:t>
            </a:r>
            <a:r>
              <a:rPr lang="fr-CM" sz="1200" dirty="0"/>
              <a:t>E</a:t>
            </a:r>
            <a:r>
              <a:rPr sz="1200" dirty="0"/>
              <a:t>C</a:t>
            </a:r>
          </a:p>
        </p:txBody>
      </p:sp>
      <p:sp>
        <p:nvSpPr>
          <p:cNvPr id="27" name="TextBox 26"/>
          <p:cNvSpPr txBox="1"/>
          <p:nvPr/>
        </p:nvSpPr>
        <p:spPr>
          <a:xfrm>
            <a:off x="6377939" y="3634740"/>
            <a:ext cx="2468880" cy="369332"/>
          </a:xfrm>
          <a:prstGeom prst="rect">
            <a:avLst/>
          </a:prstGeom>
          <a:noFill/>
        </p:spPr>
        <p:txBody>
          <a:bodyPr wrap="square">
            <a:spAutoFit/>
          </a:bodyPr>
          <a:lstStyle/>
          <a:p>
            <a:pPr>
              <a:defRPr sz="1200">
                <a:solidFill>
                  <a:srgbClr val="FFFFFF"/>
                </a:solidFill>
              </a:defRPr>
            </a:pPr>
            <a:r>
              <a:rPr sz="900" dirty="0"/>
              <a:t>Tableau</a:t>
            </a:r>
            <a:r>
              <a:rPr lang="fr-CM" sz="900" dirty="0"/>
              <a:t> des</a:t>
            </a:r>
            <a:r>
              <a:rPr sz="900" dirty="0"/>
              <a:t> </a:t>
            </a:r>
            <a:r>
              <a:rPr sz="900" dirty="0" err="1"/>
              <a:t>Effectifs</a:t>
            </a:r>
            <a:r>
              <a:rPr lang="fr-CM" sz="900" dirty="0"/>
              <a:t>, des Emplois et des</a:t>
            </a:r>
            <a:r>
              <a:rPr sz="900" dirty="0"/>
              <a:t> </a:t>
            </a:r>
            <a:r>
              <a:rPr sz="900" dirty="0" err="1"/>
              <a:t>Compétences</a:t>
            </a:r>
            <a:endParaRPr sz="900" dirty="0"/>
          </a:p>
        </p:txBody>
      </p:sp>
      <p:sp>
        <p:nvSpPr>
          <p:cNvPr id="28" name="Google Shape;34;p4"/>
          <p:cNvSpPr/>
          <p:nvPr/>
        </p:nvSpPr>
        <p:spPr>
          <a:xfrm>
            <a:off x="-228" y="4674870"/>
            <a:ext cx="9144000" cy="480060"/>
          </a:xfrm>
          <a:prstGeom prst="rect">
            <a:avLst/>
          </a:prstGeom>
          <a:solidFill>
            <a:srgbClr val="C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 name="Group 32"/>
          <p:cNvGrpSpPr/>
          <p:nvPr/>
        </p:nvGrpSpPr>
        <p:grpSpPr>
          <a:xfrm>
            <a:off x="91440" y="-24458"/>
            <a:ext cx="9052560" cy="778837"/>
            <a:chOff x="330" y="182"/>
            <a:chExt cx="18543" cy="1604"/>
          </a:xfrm>
        </p:grpSpPr>
        <p:sp>
          <p:nvSpPr>
            <p:cNvPr id="30" name="Freeform 3"/>
            <p:cNvSpPr/>
            <p:nvPr/>
          </p:nvSpPr>
          <p:spPr>
            <a:xfrm>
              <a:off x="330" y="182"/>
              <a:ext cx="1640" cy="1604"/>
            </a:xfrm>
            <a:custGeom>
              <a:avLst/>
              <a:gdLst/>
              <a:ahLst/>
              <a:cxnLst/>
              <a:rect l="l" t="t" r="r" b="b"/>
              <a:pathLst>
                <a:path w="6263628" h="7097595">
                  <a:moveTo>
                    <a:pt x="0" y="0"/>
                  </a:moveTo>
                  <a:lnTo>
                    <a:pt x="6263628" y="0"/>
                  </a:lnTo>
                  <a:lnTo>
                    <a:pt x="6263628" y="7097595"/>
                  </a:lnTo>
                  <a:lnTo>
                    <a:pt x="0" y="7097595"/>
                  </a:lnTo>
                  <a:lnTo>
                    <a:pt x="0" y="0"/>
                  </a:lnTo>
                  <a:close/>
                </a:path>
              </a:pathLst>
            </a:custGeom>
            <a:blipFill>
              <a:blip r:embed="rId2"/>
              <a:stretch>
                <a:fillRect/>
              </a:stretch>
            </a:blipFill>
          </p:spPr>
        </p:sp>
        <p:pic>
          <p:nvPicPr>
            <p:cNvPr id="31" name="Picture 3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953" y="182"/>
              <a:ext cx="1920" cy="1604"/>
            </a:xfrm>
            <a:prstGeom prst="rect">
              <a:avLst/>
            </a:prstGeom>
          </p:spPr>
        </p:pic>
      </p:grpSp>
      <p:sp>
        <p:nvSpPr>
          <p:cNvPr id="32" name="Google Shape;35;p4"/>
          <p:cNvSpPr/>
          <p:nvPr/>
        </p:nvSpPr>
        <p:spPr>
          <a:xfrm>
            <a:off x="154013" y="4732020"/>
            <a:ext cx="640080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ADCFC"/>
              </a:buClr>
              <a:buSzPts val="900"/>
              <a:buFont typeface="Calibri"/>
              <a:buNone/>
            </a:pPr>
            <a:r>
              <a:rPr lang="en-US" sz="900" b="0" i="0" u="none" strike="noStrike" cap="none" dirty="0">
                <a:solidFill>
                  <a:srgbClr val="CADCFC"/>
                </a:solidFill>
                <a:latin typeface="Calibri"/>
                <a:ea typeface="Calibri"/>
                <a:cs typeface="Calibri"/>
                <a:sym typeface="Calibri"/>
              </a:rPr>
              <a:t>MINDEF - Direction des </a:t>
            </a:r>
            <a:r>
              <a:rPr lang="en-US" sz="900" b="0" i="0" u="none" strike="noStrike" cap="none" dirty="0" err="1">
                <a:solidFill>
                  <a:srgbClr val="CADCFC"/>
                </a:solidFill>
                <a:latin typeface="Calibri"/>
                <a:ea typeface="Calibri"/>
                <a:cs typeface="Calibri"/>
                <a:sym typeface="Calibri"/>
              </a:rPr>
              <a:t>Ressources</a:t>
            </a:r>
            <a:r>
              <a:rPr lang="en-US" sz="900" b="0" i="0" u="none" strike="noStrike" cap="none" dirty="0">
                <a:solidFill>
                  <a:srgbClr val="CADCFC"/>
                </a:solidFill>
                <a:latin typeface="Calibri"/>
                <a:ea typeface="Calibri"/>
                <a:cs typeface="Calibri"/>
                <a:sym typeface="Calibri"/>
              </a:rPr>
              <a:t> </a:t>
            </a:r>
            <a:r>
              <a:rPr lang="en-US" sz="900" b="0" i="0" u="none" strike="noStrike" cap="none" dirty="0" err="1">
                <a:solidFill>
                  <a:srgbClr val="CADCFC"/>
                </a:solidFill>
                <a:latin typeface="Calibri"/>
                <a:ea typeface="Calibri"/>
                <a:cs typeface="Calibri"/>
                <a:sym typeface="Calibri"/>
              </a:rPr>
              <a:t>Humaines</a:t>
            </a:r>
            <a:endParaRPr sz="900" b="0" i="0" u="none" strike="noStrike" cap="none" dirty="0">
              <a:solidFill>
                <a:schemeClr val="dk1"/>
              </a:solidFill>
              <a:latin typeface="Calibri"/>
              <a:ea typeface="Calibri"/>
              <a:cs typeface="Calibri"/>
              <a:sym typeface="Calibri"/>
            </a:endParaRPr>
          </a:p>
        </p:txBody>
      </p:sp>
      <p:sp>
        <p:nvSpPr>
          <p:cNvPr id="33" name="Google Shape;36;p4"/>
          <p:cNvSpPr/>
          <p:nvPr/>
        </p:nvSpPr>
        <p:spPr>
          <a:xfrm>
            <a:off x="7772400" y="4709160"/>
            <a:ext cx="914400" cy="365760"/>
          </a:xfrm>
          <a:prstGeom prst="rect">
            <a:avLst/>
          </a:prstGeom>
          <a:noFill/>
          <a:ln>
            <a:noFill/>
          </a:ln>
        </p:spPr>
        <p:txBody>
          <a:bodyPr spcFirstLastPara="1" wrap="square" lIns="91425" tIns="45700" rIns="91425" bIns="45700" anchor="ctr" anchorCtr="0">
            <a:noAutofit/>
          </a:bodyPr>
          <a:lstStyle/>
          <a:p>
            <a:pPr lvl="0" algn="r">
              <a:buClr>
                <a:srgbClr val="CADCFC"/>
              </a:buClr>
              <a:buSzPts val="900"/>
            </a:pPr>
            <a:r>
              <a:rPr lang="en-US" sz="900" dirty="0">
                <a:solidFill>
                  <a:srgbClr val="CADCFC"/>
                </a:solidFill>
                <a:latin typeface="Calibri"/>
                <a:ea typeface="Calibri"/>
                <a:cs typeface="Calibri"/>
                <a:sym typeface="Calibri"/>
              </a:rPr>
              <a:t>17 </a:t>
            </a:r>
            <a:r>
              <a:rPr lang="en-US" sz="900" b="0" i="0" u="none" strike="noStrike" cap="none" dirty="0">
                <a:solidFill>
                  <a:srgbClr val="CADCFC"/>
                </a:solidFill>
                <a:latin typeface="Calibri"/>
                <a:ea typeface="Calibri"/>
                <a:cs typeface="Calibri"/>
                <a:sym typeface="Calibri"/>
              </a:rPr>
              <a:t>/ </a:t>
            </a:r>
            <a:r>
              <a:rPr lang="en-US" sz="900" dirty="0">
                <a:solidFill>
                  <a:srgbClr val="CADCFC"/>
                </a:solidFill>
                <a:latin typeface="Calibri"/>
                <a:ea typeface="Calibri"/>
                <a:cs typeface="Calibri"/>
                <a:sym typeface="Calibri"/>
              </a:rPr>
              <a:t>27</a:t>
            </a:r>
            <a:endParaRPr lang="en-US" sz="9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5120346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9143771" cy="822960"/>
          </a:xfrm>
          <a:prstGeom prst="rect">
            <a:avLst/>
          </a:prstGeom>
          <a:solidFill>
            <a:srgbClr val="FCD1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 name="TextBox 2"/>
          <p:cNvSpPr txBox="1"/>
          <p:nvPr/>
        </p:nvSpPr>
        <p:spPr>
          <a:xfrm>
            <a:off x="2071578" y="205324"/>
            <a:ext cx="5115503" cy="415498"/>
          </a:xfrm>
          <a:prstGeom prst="rect">
            <a:avLst/>
          </a:prstGeom>
          <a:noFill/>
        </p:spPr>
        <p:txBody>
          <a:bodyPr wrap="none">
            <a:spAutoFit/>
          </a:bodyPr>
          <a:lstStyle/>
          <a:p>
            <a:pPr>
              <a:defRPr sz="2800" b="1">
                <a:solidFill>
                  <a:srgbClr val="FFFFFF"/>
                </a:solidFill>
              </a:defRPr>
            </a:pPr>
            <a:r>
              <a:rPr sz="2100" dirty="0">
                <a:latin typeface="Calibri" panose="020F0502020204030204" pitchFamily="34" charset="0"/>
                <a:cs typeface="Calibri" panose="020F0502020204030204" pitchFamily="34" charset="0"/>
              </a:rPr>
              <a:t>GESTION DES MUTATIONS &amp; AFFECTATIONS</a:t>
            </a:r>
          </a:p>
        </p:txBody>
      </p:sp>
      <p:sp>
        <p:nvSpPr>
          <p:cNvPr id="4" name="Oval 3"/>
          <p:cNvSpPr/>
          <p:nvPr/>
        </p:nvSpPr>
        <p:spPr>
          <a:xfrm>
            <a:off x="960120" y="1097280"/>
            <a:ext cx="548640" cy="54864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a:pPr>
            <a:r>
              <a:rPr sz="1500"/>
              <a:t>📄</a:t>
            </a:r>
          </a:p>
        </p:txBody>
      </p:sp>
      <p:sp>
        <p:nvSpPr>
          <p:cNvPr id="5" name="Right Arrow 4"/>
          <p:cNvSpPr/>
          <p:nvPr/>
        </p:nvSpPr>
        <p:spPr>
          <a:xfrm>
            <a:off x="1577340" y="1234440"/>
            <a:ext cx="342900" cy="274320"/>
          </a:xfrm>
          <a:prstGeom prst="rightArrow">
            <a:avLst/>
          </a:prstGeom>
          <a:solidFill>
            <a:srgbClr val="80808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6" name="TextBox 5"/>
          <p:cNvSpPr txBox="1"/>
          <p:nvPr/>
        </p:nvSpPr>
        <p:spPr>
          <a:xfrm>
            <a:off x="491288" y="1783080"/>
            <a:ext cx="1486305" cy="253916"/>
          </a:xfrm>
          <a:prstGeom prst="rect">
            <a:avLst/>
          </a:prstGeom>
          <a:noFill/>
        </p:spPr>
        <p:txBody>
          <a:bodyPr wrap="none">
            <a:spAutoFit/>
          </a:bodyPr>
          <a:lstStyle/>
          <a:p>
            <a:pPr algn="ctr">
              <a:defRPr sz="1400" b="1">
                <a:solidFill>
                  <a:srgbClr val="1A202C"/>
                </a:solidFill>
              </a:defRPr>
            </a:pPr>
            <a:r>
              <a:rPr sz="1050"/>
              <a:t>Nouvelle Affectation</a:t>
            </a:r>
          </a:p>
        </p:txBody>
      </p:sp>
      <p:sp>
        <p:nvSpPr>
          <p:cNvPr id="7" name="TextBox 6"/>
          <p:cNvSpPr txBox="1"/>
          <p:nvPr/>
        </p:nvSpPr>
        <p:spPr>
          <a:xfrm>
            <a:off x="274320" y="2125981"/>
            <a:ext cx="1920240" cy="219291"/>
          </a:xfrm>
          <a:prstGeom prst="rect">
            <a:avLst/>
          </a:prstGeom>
          <a:noFill/>
        </p:spPr>
        <p:txBody>
          <a:bodyPr wrap="square">
            <a:spAutoFit/>
          </a:bodyPr>
          <a:lstStyle/>
          <a:p>
            <a:pPr algn="ctr">
              <a:defRPr sz="1100">
                <a:solidFill>
                  <a:srgbClr val="3C3C3C"/>
                </a:solidFill>
              </a:defRPr>
            </a:pPr>
            <a:r>
              <a:rPr sz="825"/>
              <a:t>Création ordre de mutation</a:t>
            </a:r>
          </a:p>
        </p:txBody>
      </p:sp>
      <p:sp>
        <p:nvSpPr>
          <p:cNvPr id="8" name="Oval 7"/>
          <p:cNvSpPr/>
          <p:nvPr/>
        </p:nvSpPr>
        <p:spPr>
          <a:xfrm>
            <a:off x="3223259" y="1097280"/>
            <a:ext cx="548640" cy="548640"/>
          </a:xfrm>
          <a:prstGeom prst="ellipse">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a:pPr>
            <a:r>
              <a:rPr sz="1500"/>
              <a:t>✓</a:t>
            </a:r>
          </a:p>
        </p:txBody>
      </p:sp>
      <p:sp>
        <p:nvSpPr>
          <p:cNvPr id="9" name="Right Arrow 8"/>
          <p:cNvSpPr/>
          <p:nvPr/>
        </p:nvSpPr>
        <p:spPr>
          <a:xfrm>
            <a:off x="3840480" y="1234440"/>
            <a:ext cx="342900" cy="274320"/>
          </a:xfrm>
          <a:prstGeom prst="rightArrow">
            <a:avLst/>
          </a:prstGeom>
          <a:solidFill>
            <a:srgbClr val="80808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0" name="TextBox 9"/>
          <p:cNvSpPr txBox="1"/>
          <p:nvPr/>
        </p:nvSpPr>
        <p:spPr>
          <a:xfrm>
            <a:off x="3084645" y="1783080"/>
            <a:ext cx="825868" cy="253916"/>
          </a:xfrm>
          <a:prstGeom prst="rect">
            <a:avLst/>
          </a:prstGeom>
          <a:noFill/>
        </p:spPr>
        <p:txBody>
          <a:bodyPr wrap="none">
            <a:spAutoFit/>
          </a:bodyPr>
          <a:lstStyle/>
          <a:p>
            <a:pPr algn="ctr">
              <a:defRPr sz="1400" b="1">
                <a:solidFill>
                  <a:srgbClr val="1A202C"/>
                </a:solidFill>
              </a:defRPr>
            </a:pPr>
            <a:r>
              <a:rPr sz="1050"/>
              <a:t>Validation</a:t>
            </a:r>
          </a:p>
        </p:txBody>
      </p:sp>
      <p:sp>
        <p:nvSpPr>
          <p:cNvPr id="11" name="TextBox 10"/>
          <p:cNvSpPr txBox="1"/>
          <p:nvPr/>
        </p:nvSpPr>
        <p:spPr>
          <a:xfrm>
            <a:off x="2537459" y="2125981"/>
            <a:ext cx="1920240" cy="219291"/>
          </a:xfrm>
          <a:prstGeom prst="rect">
            <a:avLst/>
          </a:prstGeom>
          <a:noFill/>
        </p:spPr>
        <p:txBody>
          <a:bodyPr wrap="square">
            <a:spAutoFit/>
          </a:bodyPr>
          <a:lstStyle/>
          <a:p>
            <a:pPr algn="ctr">
              <a:defRPr sz="1100">
                <a:solidFill>
                  <a:srgbClr val="3C3C3C"/>
                </a:solidFill>
              </a:defRPr>
            </a:pPr>
            <a:r>
              <a:rPr sz="825"/>
              <a:t>Approbation hiérarchique</a:t>
            </a:r>
          </a:p>
        </p:txBody>
      </p:sp>
      <p:sp>
        <p:nvSpPr>
          <p:cNvPr id="12" name="Oval 11"/>
          <p:cNvSpPr/>
          <p:nvPr/>
        </p:nvSpPr>
        <p:spPr>
          <a:xfrm>
            <a:off x="5486400" y="1097280"/>
            <a:ext cx="548640" cy="548640"/>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a:pPr>
            <a:r>
              <a:rPr sz="1500"/>
              <a:t>🔄</a:t>
            </a:r>
          </a:p>
        </p:txBody>
      </p:sp>
      <p:sp>
        <p:nvSpPr>
          <p:cNvPr id="13" name="Right Arrow 12"/>
          <p:cNvSpPr/>
          <p:nvPr/>
        </p:nvSpPr>
        <p:spPr>
          <a:xfrm>
            <a:off x="6103620" y="1234440"/>
            <a:ext cx="342900" cy="274320"/>
          </a:xfrm>
          <a:prstGeom prst="rightArrow">
            <a:avLst/>
          </a:prstGeom>
          <a:solidFill>
            <a:srgbClr val="80808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4" name="TextBox 13"/>
          <p:cNvSpPr txBox="1"/>
          <p:nvPr/>
        </p:nvSpPr>
        <p:spPr>
          <a:xfrm>
            <a:off x="5375839" y="1783080"/>
            <a:ext cx="769763" cy="253916"/>
          </a:xfrm>
          <a:prstGeom prst="rect">
            <a:avLst/>
          </a:prstGeom>
          <a:noFill/>
        </p:spPr>
        <p:txBody>
          <a:bodyPr wrap="none">
            <a:spAutoFit/>
          </a:bodyPr>
          <a:lstStyle/>
          <a:p>
            <a:pPr algn="ctr">
              <a:defRPr sz="1400" b="1">
                <a:solidFill>
                  <a:srgbClr val="1A202C"/>
                </a:solidFill>
              </a:defRPr>
            </a:pPr>
            <a:r>
              <a:rPr sz="1050"/>
              <a:t>Transfert</a:t>
            </a:r>
          </a:p>
        </p:txBody>
      </p:sp>
      <p:sp>
        <p:nvSpPr>
          <p:cNvPr id="15" name="TextBox 14"/>
          <p:cNvSpPr txBox="1"/>
          <p:nvPr/>
        </p:nvSpPr>
        <p:spPr>
          <a:xfrm>
            <a:off x="4800600" y="2125981"/>
            <a:ext cx="1920240" cy="219291"/>
          </a:xfrm>
          <a:prstGeom prst="rect">
            <a:avLst/>
          </a:prstGeom>
          <a:noFill/>
        </p:spPr>
        <p:txBody>
          <a:bodyPr wrap="square">
            <a:spAutoFit/>
          </a:bodyPr>
          <a:lstStyle/>
          <a:p>
            <a:pPr algn="ctr">
              <a:defRPr sz="1100">
                <a:solidFill>
                  <a:srgbClr val="3C3C3C"/>
                </a:solidFill>
              </a:defRPr>
            </a:pPr>
            <a:r>
              <a:rPr sz="825"/>
              <a:t>Envoi vers nouvelle unité</a:t>
            </a:r>
          </a:p>
        </p:txBody>
      </p:sp>
      <p:sp>
        <p:nvSpPr>
          <p:cNvPr id="16" name="Oval 15"/>
          <p:cNvSpPr/>
          <p:nvPr/>
        </p:nvSpPr>
        <p:spPr>
          <a:xfrm>
            <a:off x="7749539" y="1097280"/>
            <a:ext cx="548640" cy="548640"/>
          </a:xfrm>
          <a:prstGeom prst="ellipse">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a:pPr>
            <a:r>
              <a:rPr sz="1500"/>
              <a:t>📥</a:t>
            </a:r>
          </a:p>
        </p:txBody>
      </p:sp>
      <p:sp>
        <p:nvSpPr>
          <p:cNvPr id="17" name="TextBox 16"/>
          <p:cNvSpPr txBox="1"/>
          <p:nvPr/>
        </p:nvSpPr>
        <p:spPr>
          <a:xfrm>
            <a:off x="7606116" y="1783080"/>
            <a:ext cx="835486" cy="253916"/>
          </a:xfrm>
          <a:prstGeom prst="rect">
            <a:avLst/>
          </a:prstGeom>
          <a:noFill/>
        </p:spPr>
        <p:txBody>
          <a:bodyPr wrap="none">
            <a:spAutoFit/>
          </a:bodyPr>
          <a:lstStyle/>
          <a:p>
            <a:pPr algn="ctr">
              <a:defRPr sz="1400" b="1">
                <a:solidFill>
                  <a:srgbClr val="1A202C"/>
                </a:solidFill>
              </a:defRPr>
            </a:pPr>
            <a:r>
              <a:rPr sz="1050"/>
              <a:t>Réception</a:t>
            </a:r>
          </a:p>
        </p:txBody>
      </p:sp>
      <p:sp>
        <p:nvSpPr>
          <p:cNvPr id="18" name="TextBox 17"/>
          <p:cNvSpPr txBox="1"/>
          <p:nvPr/>
        </p:nvSpPr>
        <p:spPr>
          <a:xfrm>
            <a:off x="7063739" y="2125981"/>
            <a:ext cx="1920240" cy="219291"/>
          </a:xfrm>
          <a:prstGeom prst="rect">
            <a:avLst/>
          </a:prstGeom>
          <a:noFill/>
        </p:spPr>
        <p:txBody>
          <a:bodyPr wrap="square">
            <a:spAutoFit/>
          </a:bodyPr>
          <a:lstStyle/>
          <a:p>
            <a:pPr algn="ctr">
              <a:defRPr sz="1100">
                <a:solidFill>
                  <a:srgbClr val="3C3C3C"/>
                </a:solidFill>
              </a:defRPr>
            </a:pPr>
            <a:r>
              <a:rPr sz="825"/>
              <a:t>Accusé de réception</a:t>
            </a:r>
          </a:p>
        </p:txBody>
      </p:sp>
      <p:sp>
        <p:nvSpPr>
          <p:cNvPr id="19" name="TextBox 18"/>
          <p:cNvSpPr txBox="1"/>
          <p:nvPr/>
        </p:nvSpPr>
        <p:spPr>
          <a:xfrm>
            <a:off x="342900" y="2743201"/>
            <a:ext cx="8229600" cy="1426031"/>
          </a:xfrm>
          <a:prstGeom prst="rect">
            <a:avLst/>
          </a:prstGeom>
          <a:noFill/>
        </p:spPr>
        <p:txBody>
          <a:bodyPr wrap="square">
            <a:spAutoFit/>
          </a:bodyPr>
          <a:lstStyle/>
          <a:p>
            <a:pPr>
              <a:spcBef>
                <a:spcPts val="750"/>
              </a:spcBef>
              <a:defRPr sz="1600">
                <a:solidFill>
                  <a:srgbClr val="1A202C"/>
                </a:solidFill>
              </a:defRPr>
            </a:pPr>
            <a:r>
              <a:rPr sz="1200" dirty="0"/>
              <a:t>▸ </a:t>
            </a:r>
            <a:r>
              <a:rPr sz="1200" dirty="0" err="1"/>
              <a:t>Historique</a:t>
            </a:r>
            <a:r>
              <a:rPr sz="1200" dirty="0"/>
              <a:t> </a:t>
            </a:r>
            <a:r>
              <a:rPr sz="1200" dirty="0" err="1"/>
              <a:t>complet</a:t>
            </a:r>
            <a:r>
              <a:rPr sz="1200" dirty="0"/>
              <a:t> des affectations avec documents </a:t>
            </a:r>
            <a:r>
              <a:rPr sz="1200" dirty="0" err="1"/>
              <a:t>numérisés</a:t>
            </a:r>
            <a:endParaRPr sz="1200" dirty="0"/>
          </a:p>
          <a:p>
            <a:pPr>
              <a:spcBef>
                <a:spcPts val="750"/>
              </a:spcBef>
              <a:defRPr sz="1600">
                <a:solidFill>
                  <a:srgbClr val="1A202C"/>
                </a:solidFill>
              </a:defRPr>
            </a:pPr>
            <a:r>
              <a:rPr sz="1200" dirty="0"/>
              <a:t>▸ </a:t>
            </a:r>
            <a:r>
              <a:rPr sz="1200" dirty="0" err="1"/>
              <a:t>Traçabilité</a:t>
            </a:r>
            <a:r>
              <a:rPr sz="1200" dirty="0"/>
              <a:t> des </a:t>
            </a:r>
            <a:r>
              <a:rPr sz="1200" dirty="0" err="1"/>
              <a:t>transferts</a:t>
            </a:r>
            <a:r>
              <a:rPr sz="1200" dirty="0"/>
              <a:t> entre </a:t>
            </a:r>
            <a:r>
              <a:rPr sz="1200" dirty="0" err="1"/>
              <a:t>unités</a:t>
            </a:r>
            <a:r>
              <a:rPr sz="1200" dirty="0"/>
              <a:t> (Compagnie → </a:t>
            </a:r>
            <a:r>
              <a:rPr sz="1200" dirty="0" err="1"/>
              <a:t>Bataillon</a:t>
            </a:r>
            <a:r>
              <a:rPr sz="1200" dirty="0"/>
              <a:t> → Brigade → RMIA)</a:t>
            </a:r>
          </a:p>
          <a:p>
            <a:pPr>
              <a:spcBef>
                <a:spcPts val="750"/>
              </a:spcBef>
              <a:defRPr sz="1600">
                <a:solidFill>
                  <a:srgbClr val="1A202C"/>
                </a:solidFill>
              </a:defRPr>
            </a:pPr>
            <a:r>
              <a:rPr sz="1200" dirty="0"/>
              <a:t>▸ Notifications </a:t>
            </a:r>
            <a:r>
              <a:rPr sz="1200" dirty="0" err="1"/>
              <a:t>automatiques</a:t>
            </a:r>
            <a:r>
              <a:rPr sz="1200" dirty="0"/>
              <a:t> aux </a:t>
            </a:r>
            <a:r>
              <a:rPr sz="1200" dirty="0" err="1"/>
              <a:t>unités</a:t>
            </a:r>
            <a:r>
              <a:rPr sz="1200" dirty="0"/>
              <a:t> </a:t>
            </a:r>
            <a:r>
              <a:rPr sz="1200" dirty="0" err="1"/>
              <a:t>concernées</a:t>
            </a:r>
            <a:endParaRPr sz="1200" dirty="0"/>
          </a:p>
          <a:p>
            <a:pPr>
              <a:spcBef>
                <a:spcPts val="750"/>
              </a:spcBef>
              <a:defRPr sz="1600">
                <a:solidFill>
                  <a:srgbClr val="1A202C"/>
                </a:solidFill>
              </a:defRPr>
            </a:pPr>
            <a:r>
              <a:rPr sz="1200" dirty="0"/>
              <a:t>▸ </a:t>
            </a:r>
            <a:r>
              <a:rPr sz="1200" dirty="0" err="1"/>
              <a:t>Génération</a:t>
            </a:r>
            <a:r>
              <a:rPr sz="1200" dirty="0"/>
              <a:t> des </a:t>
            </a:r>
            <a:r>
              <a:rPr sz="1200" dirty="0" err="1"/>
              <a:t>ordres</a:t>
            </a:r>
            <a:r>
              <a:rPr sz="1200" dirty="0"/>
              <a:t> de mutation avec </a:t>
            </a:r>
            <a:r>
              <a:rPr sz="1200" dirty="0" err="1"/>
              <a:t>référencement</a:t>
            </a:r>
            <a:r>
              <a:rPr sz="1200" dirty="0"/>
              <a:t> </a:t>
            </a:r>
            <a:r>
              <a:rPr sz="1200" dirty="0" err="1"/>
              <a:t>texte</a:t>
            </a:r>
            <a:r>
              <a:rPr sz="1200" dirty="0"/>
              <a:t> </a:t>
            </a:r>
            <a:r>
              <a:rPr sz="1200" dirty="0" err="1"/>
              <a:t>officiel</a:t>
            </a:r>
            <a:endParaRPr sz="1200" dirty="0"/>
          </a:p>
          <a:p>
            <a:pPr>
              <a:spcBef>
                <a:spcPts val="750"/>
              </a:spcBef>
              <a:defRPr sz="1600">
                <a:solidFill>
                  <a:srgbClr val="1A202C"/>
                </a:solidFill>
              </a:defRPr>
            </a:pPr>
            <a:r>
              <a:rPr sz="1200" dirty="0"/>
              <a:t>▸ </a:t>
            </a:r>
            <a:r>
              <a:rPr sz="1200" dirty="0" err="1"/>
              <a:t>Intégration</a:t>
            </a:r>
            <a:r>
              <a:rPr sz="1200" dirty="0"/>
              <a:t> avec le T</a:t>
            </a:r>
            <a:r>
              <a:rPr lang="fr-CM" sz="1200" dirty="0"/>
              <a:t>E</a:t>
            </a:r>
            <a:r>
              <a:rPr sz="1200" dirty="0"/>
              <a:t>EC (Tableau des </a:t>
            </a:r>
            <a:r>
              <a:rPr sz="1200" dirty="0" err="1"/>
              <a:t>Effectifs</a:t>
            </a:r>
            <a:r>
              <a:rPr lang="fr-CM" sz="1200" dirty="0"/>
              <a:t>, des Emplois </a:t>
            </a:r>
            <a:r>
              <a:rPr sz="1200" dirty="0"/>
              <a:t>et </a:t>
            </a:r>
            <a:r>
              <a:rPr lang="fr-CM" sz="1200" dirty="0"/>
              <a:t>des </a:t>
            </a:r>
            <a:r>
              <a:rPr sz="1200" dirty="0" err="1"/>
              <a:t>Compétences</a:t>
            </a:r>
            <a:r>
              <a:rPr sz="1200" dirty="0"/>
              <a:t>)</a:t>
            </a:r>
          </a:p>
        </p:txBody>
      </p:sp>
      <p:grpSp>
        <p:nvGrpSpPr>
          <p:cNvPr id="20" name="Group 32"/>
          <p:cNvGrpSpPr/>
          <p:nvPr/>
        </p:nvGrpSpPr>
        <p:grpSpPr>
          <a:xfrm>
            <a:off x="91440" y="-24458"/>
            <a:ext cx="9052560" cy="778837"/>
            <a:chOff x="330" y="182"/>
            <a:chExt cx="18543" cy="1604"/>
          </a:xfrm>
        </p:grpSpPr>
        <p:sp>
          <p:nvSpPr>
            <p:cNvPr id="21" name="Freeform 3"/>
            <p:cNvSpPr/>
            <p:nvPr/>
          </p:nvSpPr>
          <p:spPr>
            <a:xfrm>
              <a:off x="330" y="182"/>
              <a:ext cx="1640" cy="1604"/>
            </a:xfrm>
            <a:custGeom>
              <a:avLst/>
              <a:gdLst/>
              <a:ahLst/>
              <a:cxnLst/>
              <a:rect l="l" t="t" r="r" b="b"/>
              <a:pathLst>
                <a:path w="6263628" h="7097595">
                  <a:moveTo>
                    <a:pt x="0" y="0"/>
                  </a:moveTo>
                  <a:lnTo>
                    <a:pt x="6263628" y="0"/>
                  </a:lnTo>
                  <a:lnTo>
                    <a:pt x="6263628" y="7097595"/>
                  </a:lnTo>
                  <a:lnTo>
                    <a:pt x="0" y="7097595"/>
                  </a:lnTo>
                  <a:lnTo>
                    <a:pt x="0" y="0"/>
                  </a:lnTo>
                  <a:close/>
                </a:path>
              </a:pathLst>
            </a:custGeom>
            <a:blipFill>
              <a:blip r:embed="rId2"/>
              <a:stretch>
                <a:fillRect/>
              </a:stretch>
            </a:blipFill>
          </p:spPr>
        </p:sp>
        <p:pic>
          <p:nvPicPr>
            <p:cNvPr id="22" name="Picture 3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953" y="182"/>
              <a:ext cx="1920" cy="1604"/>
            </a:xfrm>
            <a:prstGeom prst="rect">
              <a:avLst/>
            </a:prstGeom>
          </p:spPr>
        </p:pic>
      </p:grpSp>
      <p:sp>
        <p:nvSpPr>
          <p:cNvPr id="23" name="Google Shape;49;p5"/>
          <p:cNvSpPr/>
          <p:nvPr/>
        </p:nvSpPr>
        <p:spPr>
          <a:xfrm>
            <a:off x="0" y="4709160"/>
            <a:ext cx="9144000" cy="480060"/>
          </a:xfrm>
          <a:prstGeom prst="rect">
            <a:avLst/>
          </a:prstGeom>
          <a:solidFill>
            <a:srgbClr val="FFC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35;p4"/>
          <p:cNvSpPr/>
          <p:nvPr/>
        </p:nvSpPr>
        <p:spPr>
          <a:xfrm>
            <a:off x="457200" y="4709160"/>
            <a:ext cx="640080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ADCFC"/>
              </a:buClr>
              <a:buSzPts val="900"/>
              <a:buFont typeface="Calibri"/>
              <a:buNone/>
            </a:pPr>
            <a:r>
              <a:rPr lang="en-US" sz="900" b="0" i="0" u="none" strike="noStrike" cap="none" dirty="0">
                <a:solidFill>
                  <a:srgbClr val="CADCFC"/>
                </a:solidFill>
                <a:latin typeface="Calibri"/>
                <a:ea typeface="Calibri"/>
                <a:cs typeface="Calibri"/>
                <a:sym typeface="Calibri"/>
              </a:rPr>
              <a:t>MINDEF - Direction des </a:t>
            </a:r>
            <a:r>
              <a:rPr lang="en-US" sz="900" b="0" i="0" u="none" strike="noStrike" cap="none" dirty="0" err="1">
                <a:solidFill>
                  <a:srgbClr val="CADCFC"/>
                </a:solidFill>
                <a:latin typeface="Calibri"/>
                <a:ea typeface="Calibri"/>
                <a:cs typeface="Calibri"/>
                <a:sym typeface="Calibri"/>
              </a:rPr>
              <a:t>Ressources</a:t>
            </a:r>
            <a:r>
              <a:rPr lang="en-US" sz="900" b="0" i="0" u="none" strike="noStrike" cap="none" dirty="0">
                <a:solidFill>
                  <a:srgbClr val="CADCFC"/>
                </a:solidFill>
                <a:latin typeface="Calibri"/>
                <a:ea typeface="Calibri"/>
                <a:cs typeface="Calibri"/>
                <a:sym typeface="Calibri"/>
              </a:rPr>
              <a:t> </a:t>
            </a:r>
            <a:r>
              <a:rPr lang="en-US" sz="900" b="0" i="0" u="none" strike="noStrike" cap="none" dirty="0" err="1">
                <a:solidFill>
                  <a:srgbClr val="CADCFC"/>
                </a:solidFill>
                <a:latin typeface="Calibri"/>
                <a:ea typeface="Calibri"/>
                <a:cs typeface="Calibri"/>
                <a:sym typeface="Calibri"/>
              </a:rPr>
              <a:t>Humaines</a:t>
            </a:r>
            <a:endParaRPr sz="900" b="0" i="0" u="none" strike="noStrike" cap="none" dirty="0">
              <a:solidFill>
                <a:schemeClr val="dk1"/>
              </a:solidFill>
              <a:latin typeface="Calibri"/>
              <a:ea typeface="Calibri"/>
              <a:cs typeface="Calibri"/>
              <a:sym typeface="Calibri"/>
            </a:endParaRPr>
          </a:p>
        </p:txBody>
      </p:sp>
      <p:sp>
        <p:nvSpPr>
          <p:cNvPr id="25" name="Google Shape;36;p4"/>
          <p:cNvSpPr/>
          <p:nvPr/>
        </p:nvSpPr>
        <p:spPr>
          <a:xfrm>
            <a:off x="7772400" y="4709160"/>
            <a:ext cx="914400" cy="365760"/>
          </a:xfrm>
          <a:prstGeom prst="rect">
            <a:avLst/>
          </a:prstGeom>
          <a:noFill/>
          <a:ln>
            <a:noFill/>
          </a:ln>
        </p:spPr>
        <p:txBody>
          <a:bodyPr spcFirstLastPara="1" wrap="square" lIns="91425" tIns="45700" rIns="91425" bIns="45700" anchor="ctr" anchorCtr="0">
            <a:noAutofit/>
          </a:bodyPr>
          <a:lstStyle/>
          <a:p>
            <a:pPr lvl="0" algn="r">
              <a:buClr>
                <a:srgbClr val="CADCFC"/>
              </a:buClr>
              <a:buSzPts val="900"/>
            </a:pPr>
            <a:r>
              <a:rPr lang="en-US" sz="900" dirty="0">
                <a:solidFill>
                  <a:srgbClr val="CADCFC"/>
                </a:solidFill>
                <a:latin typeface="Calibri"/>
                <a:ea typeface="Calibri"/>
                <a:cs typeface="Calibri"/>
                <a:sym typeface="Calibri"/>
              </a:rPr>
              <a:t>18</a:t>
            </a:r>
            <a:r>
              <a:rPr lang="en-US" sz="900" b="0" i="0" u="none" strike="noStrike" cap="none" dirty="0">
                <a:solidFill>
                  <a:srgbClr val="CADCFC"/>
                </a:solidFill>
                <a:latin typeface="Calibri"/>
                <a:ea typeface="Calibri"/>
                <a:cs typeface="Calibri"/>
                <a:sym typeface="Calibri"/>
              </a:rPr>
              <a:t> / </a:t>
            </a:r>
            <a:r>
              <a:rPr lang="en-US" sz="900" dirty="0">
                <a:solidFill>
                  <a:srgbClr val="CADCFC"/>
                </a:solidFill>
                <a:latin typeface="Calibri"/>
                <a:ea typeface="Calibri"/>
                <a:cs typeface="Calibri"/>
                <a:sym typeface="Calibri"/>
              </a:rPr>
              <a:t>27</a:t>
            </a:r>
            <a:endParaRPr lang="en-US" sz="9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2104138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9143771" cy="82296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 name="TextBox 2"/>
          <p:cNvSpPr txBox="1"/>
          <p:nvPr/>
        </p:nvSpPr>
        <p:spPr>
          <a:xfrm>
            <a:off x="1925969" y="180647"/>
            <a:ext cx="5291833" cy="461665"/>
          </a:xfrm>
          <a:prstGeom prst="rect">
            <a:avLst/>
          </a:prstGeom>
          <a:noFill/>
        </p:spPr>
        <p:txBody>
          <a:bodyPr wrap="none">
            <a:spAutoFit/>
          </a:bodyPr>
          <a:lstStyle/>
          <a:p>
            <a:pPr>
              <a:defRPr sz="3200" b="1">
                <a:solidFill>
                  <a:srgbClr val="FFFFFF"/>
                </a:solidFill>
              </a:defRPr>
            </a:pPr>
            <a:r>
              <a:rPr sz="2400" dirty="0">
                <a:latin typeface="Calibri" panose="020F0502020204030204" pitchFamily="34" charset="0"/>
                <a:cs typeface="Calibri" panose="020F0502020204030204" pitchFamily="34" charset="0"/>
              </a:rPr>
              <a:t>SYSTÈME DE NOTIFICATIONS &amp; ALERTES</a:t>
            </a:r>
          </a:p>
        </p:txBody>
      </p:sp>
      <p:sp>
        <p:nvSpPr>
          <p:cNvPr id="4" name="Rounded Rectangle 3"/>
          <p:cNvSpPr/>
          <p:nvPr/>
        </p:nvSpPr>
        <p:spPr>
          <a:xfrm>
            <a:off x="342900" y="1234440"/>
            <a:ext cx="1988820" cy="1371600"/>
          </a:xfrm>
          <a:prstGeom prst="round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5" name="TextBox 4"/>
          <p:cNvSpPr txBox="1"/>
          <p:nvPr/>
        </p:nvSpPr>
        <p:spPr>
          <a:xfrm>
            <a:off x="1110325" y="1371600"/>
            <a:ext cx="453970" cy="415498"/>
          </a:xfrm>
          <a:prstGeom prst="rect">
            <a:avLst/>
          </a:prstGeom>
          <a:noFill/>
        </p:spPr>
        <p:txBody>
          <a:bodyPr wrap="none">
            <a:spAutoFit/>
          </a:bodyPr>
          <a:lstStyle/>
          <a:p>
            <a:pPr algn="ctr">
              <a:defRPr sz="2800"/>
            </a:pPr>
            <a:r>
              <a:rPr sz="2100"/>
              <a:t>📋</a:t>
            </a:r>
          </a:p>
        </p:txBody>
      </p:sp>
      <p:sp>
        <p:nvSpPr>
          <p:cNvPr id="6" name="TextBox 5"/>
          <p:cNvSpPr txBox="1"/>
          <p:nvPr/>
        </p:nvSpPr>
        <p:spPr>
          <a:xfrm>
            <a:off x="411480" y="1783080"/>
            <a:ext cx="1851660" cy="253916"/>
          </a:xfrm>
          <a:prstGeom prst="rect">
            <a:avLst/>
          </a:prstGeom>
          <a:noFill/>
        </p:spPr>
        <p:txBody>
          <a:bodyPr wrap="square">
            <a:spAutoFit/>
          </a:bodyPr>
          <a:lstStyle/>
          <a:p>
            <a:pPr algn="ctr">
              <a:defRPr sz="1400" b="1">
                <a:solidFill>
                  <a:srgbClr val="FFFFFF"/>
                </a:solidFill>
              </a:defRPr>
            </a:pPr>
            <a:r>
              <a:rPr sz="1050"/>
              <a:t>Dossiers Incomplets</a:t>
            </a:r>
          </a:p>
        </p:txBody>
      </p:sp>
      <p:sp>
        <p:nvSpPr>
          <p:cNvPr id="7" name="TextBox 6"/>
          <p:cNvSpPr txBox="1"/>
          <p:nvPr/>
        </p:nvSpPr>
        <p:spPr>
          <a:xfrm>
            <a:off x="411480" y="2194561"/>
            <a:ext cx="1851660" cy="219291"/>
          </a:xfrm>
          <a:prstGeom prst="rect">
            <a:avLst/>
          </a:prstGeom>
          <a:noFill/>
        </p:spPr>
        <p:txBody>
          <a:bodyPr wrap="square">
            <a:spAutoFit/>
          </a:bodyPr>
          <a:lstStyle/>
          <a:p>
            <a:pPr algn="ctr">
              <a:defRPr sz="1100">
                <a:solidFill>
                  <a:srgbClr val="FFFFFF"/>
                </a:solidFill>
              </a:defRPr>
            </a:pPr>
            <a:r>
              <a:rPr sz="825"/>
              <a:t>Alerte documents manquants</a:t>
            </a:r>
          </a:p>
        </p:txBody>
      </p:sp>
      <p:sp>
        <p:nvSpPr>
          <p:cNvPr id="8" name="Rounded Rectangle 7"/>
          <p:cNvSpPr/>
          <p:nvPr/>
        </p:nvSpPr>
        <p:spPr>
          <a:xfrm>
            <a:off x="2606040" y="1234440"/>
            <a:ext cx="1988820" cy="137160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9" name="TextBox 8"/>
          <p:cNvSpPr txBox="1"/>
          <p:nvPr/>
        </p:nvSpPr>
        <p:spPr>
          <a:xfrm>
            <a:off x="3352626" y="1371600"/>
            <a:ext cx="495649" cy="415498"/>
          </a:xfrm>
          <a:prstGeom prst="rect">
            <a:avLst/>
          </a:prstGeom>
          <a:noFill/>
        </p:spPr>
        <p:txBody>
          <a:bodyPr wrap="none">
            <a:spAutoFit/>
          </a:bodyPr>
          <a:lstStyle/>
          <a:p>
            <a:pPr algn="ctr">
              <a:defRPr sz="2800"/>
            </a:pPr>
            <a:r>
              <a:rPr sz="2100"/>
              <a:t>⏰</a:t>
            </a:r>
          </a:p>
        </p:txBody>
      </p:sp>
      <p:sp>
        <p:nvSpPr>
          <p:cNvPr id="10" name="TextBox 9"/>
          <p:cNvSpPr txBox="1"/>
          <p:nvPr/>
        </p:nvSpPr>
        <p:spPr>
          <a:xfrm>
            <a:off x="2674620" y="1783080"/>
            <a:ext cx="1851660" cy="253916"/>
          </a:xfrm>
          <a:prstGeom prst="rect">
            <a:avLst/>
          </a:prstGeom>
          <a:noFill/>
        </p:spPr>
        <p:txBody>
          <a:bodyPr wrap="square">
            <a:spAutoFit/>
          </a:bodyPr>
          <a:lstStyle/>
          <a:p>
            <a:pPr algn="ctr">
              <a:defRPr sz="1400" b="1">
                <a:solidFill>
                  <a:srgbClr val="FFFFFF"/>
                </a:solidFill>
              </a:defRPr>
            </a:pPr>
            <a:r>
              <a:rPr sz="1050"/>
              <a:t>Départs Retraite</a:t>
            </a:r>
          </a:p>
        </p:txBody>
      </p:sp>
      <p:sp>
        <p:nvSpPr>
          <p:cNvPr id="11" name="TextBox 10"/>
          <p:cNvSpPr txBox="1"/>
          <p:nvPr/>
        </p:nvSpPr>
        <p:spPr>
          <a:xfrm>
            <a:off x="2674620" y="2194561"/>
            <a:ext cx="1851660" cy="219291"/>
          </a:xfrm>
          <a:prstGeom prst="rect">
            <a:avLst/>
          </a:prstGeom>
          <a:noFill/>
        </p:spPr>
        <p:txBody>
          <a:bodyPr wrap="square">
            <a:spAutoFit/>
          </a:bodyPr>
          <a:lstStyle/>
          <a:p>
            <a:pPr algn="ctr">
              <a:defRPr sz="1100">
                <a:solidFill>
                  <a:srgbClr val="FFFFFF"/>
                </a:solidFill>
              </a:defRPr>
            </a:pPr>
            <a:r>
              <a:rPr sz="825"/>
              <a:t>Notification 6 mois avant</a:t>
            </a:r>
          </a:p>
        </p:txBody>
      </p:sp>
      <p:sp>
        <p:nvSpPr>
          <p:cNvPr id="12" name="Rounded Rectangle 11"/>
          <p:cNvSpPr/>
          <p:nvPr/>
        </p:nvSpPr>
        <p:spPr>
          <a:xfrm>
            <a:off x="4869180" y="1234440"/>
            <a:ext cx="1988820" cy="137160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3" name="TextBox 12"/>
          <p:cNvSpPr txBox="1"/>
          <p:nvPr/>
        </p:nvSpPr>
        <p:spPr>
          <a:xfrm>
            <a:off x="5670268" y="1371600"/>
            <a:ext cx="386645" cy="415498"/>
          </a:xfrm>
          <a:prstGeom prst="rect">
            <a:avLst/>
          </a:prstGeom>
          <a:noFill/>
        </p:spPr>
        <p:txBody>
          <a:bodyPr wrap="none">
            <a:spAutoFit/>
          </a:bodyPr>
          <a:lstStyle/>
          <a:p>
            <a:pPr algn="ctr">
              <a:defRPr sz="2800"/>
            </a:pPr>
            <a:r>
              <a:rPr sz="2100"/>
              <a:t>✓</a:t>
            </a:r>
          </a:p>
        </p:txBody>
      </p:sp>
      <p:sp>
        <p:nvSpPr>
          <p:cNvPr id="14" name="TextBox 13"/>
          <p:cNvSpPr txBox="1"/>
          <p:nvPr/>
        </p:nvSpPr>
        <p:spPr>
          <a:xfrm>
            <a:off x="4937759" y="1783080"/>
            <a:ext cx="1851660" cy="253916"/>
          </a:xfrm>
          <a:prstGeom prst="rect">
            <a:avLst/>
          </a:prstGeom>
          <a:noFill/>
        </p:spPr>
        <p:txBody>
          <a:bodyPr wrap="square">
            <a:spAutoFit/>
          </a:bodyPr>
          <a:lstStyle/>
          <a:p>
            <a:pPr algn="ctr">
              <a:defRPr sz="1400" b="1">
                <a:solidFill>
                  <a:srgbClr val="FFFFFF"/>
                </a:solidFill>
              </a:defRPr>
            </a:pPr>
            <a:r>
              <a:rPr sz="1050"/>
              <a:t>Validations en Attente</a:t>
            </a:r>
          </a:p>
        </p:txBody>
      </p:sp>
      <p:sp>
        <p:nvSpPr>
          <p:cNvPr id="15" name="TextBox 14"/>
          <p:cNvSpPr txBox="1"/>
          <p:nvPr/>
        </p:nvSpPr>
        <p:spPr>
          <a:xfrm>
            <a:off x="4937759" y="2194561"/>
            <a:ext cx="1851660" cy="219291"/>
          </a:xfrm>
          <a:prstGeom prst="rect">
            <a:avLst/>
          </a:prstGeom>
          <a:noFill/>
        </p:spPr>
        <p:txBody>
          <a:bodyPr wrap="square">
            <a:spAutoFit/>
          </a:bodyPr>
          <a:lstStyle/>
          <a:p>
            <a:pPr algn="ctr">
              <a:defRPr sz="1100">
                <a:solidFill>
                  <a:srgbClr val="FFFFFF"/>
                </a:solidFill>
              </a:defRPr>
            </a:pPr>
            <a:r>
              <a:rPr sz="825"/>
              <a:t>Actions requises hiérarchie</a:t>
            </a:r>
          </a:p>
        </p:txBody>
      </p:sp>
      <p:sp>
        <p:nvSpPr>
          <p:cNvPr id="16" name="Rounded Rectangle 15"/>
          <p:cNvSpPr/>
          <p:nvPr/>
        </p:nvSpPr>
        <p:spPr>
          <a:xfrm>
            <a:off x="7132319" y="1234440"/>
            <a:ext cx="1988820" cy="1371600"/>
          </a:xfrm>
          <a:prstGeom prst="roundRect">
            <a:avLst/>
          </a:prstGeom>
          <a:solidFill>
            <a:srgbClr val="8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7" name="TextBox 16"/>
          <p:cNvSpPr txBox="1"/>
          <p:nvPr/>
        </p:nvSpPr>
        <p:spPr>
          <a:xfrm>
            <a:off x="7899744" y="1371600"/>
            <a:ext cx="453970" cy="415498"/>
          </a:xfrm>
          <a:prstGeom prst="rect">
            <a:avLst/>
          </a:prstGeom>
          <a:noFill/>
        </p:spPr>
        <p:txBody>
          <a:bodyPr wrap="none">
            <a:spAutoFit/>
          </a:bodyPr>
          <a:lstStyle/>
          <a:p>
            <a:pPr algn="ctr">
              <a:defRPr sz="2800"/>
            </a:pPr>
            <a:r>
              <a:rPr sz="2100"/>
              <a:t>📦</a:t>
            </a:r>
          </a:p>
        </p:txBody>
      </p:sp>
      <p:sp>
        <p:nvSpPr>
          <p:cNvPr id="18" name="TextBox 17"/>
          <p:cNvSpPr txBox="1"/>
          <p:nvPr/>
        </p:nvSpPr>
        <p:spPr>
          <a:xfrm>
            <a:off x="7200899" y="1783080"/>
            <a:ext cx="1851660" cy="253916"/>
          </a:xfrm>
          <a:prstGeom prst="rect">
            <a:avLst/>
          </a:prstGeom>
          <a:noFill/>
        </p:spPr>
        <p:txBody>
          <a:bodyPr wrap="square">
            <a:spAutoFit/>
          </a:bodyPr>
          <a:lstStyle/>
          <a:p>
            <a:pPr algn="ctr">
              <a:defRPr sz="1400" b="1">
                <a:solidFill>
                  <a:srgbClr val="FFFFFF"/>
                </a:solidFill>
              </a:defRPr>
            </a:pPr>
            <a:r>
              <a:rPr sz="1050"/>
              <a:t>Réception Dossiers</a:t>
            </a:r>
          </a:p>
        </p:txBody>
      </p:sp>
      <p:sp>
        <p:nvSpPr>
          <p:cNvPr id="19" name="TextBox 18"/>
          <p:cNvSpPr txBox="1"/>
          <p:nvPr/>
        </p:nvSpPr>
        <p:spPr>
          <a:xfrm>
            <a:off x="7200899" y="2194561"/>
            <a:ext cx="1851660" cy="219291"/>
          </a:xfrm>
          <a:prstGeom prst="rect">
            <a:avLst/>
          </a:prstGeom>
          <a:noFill/>
        </p:spPr>
        <p:txBody>
          <a:bodyPr wrap="square">
            <a:spAutoFit/>
          </a:bodyPr>
          <a:lstStyle/>
          <a:p>
            <a:pPr algn="ctr">
              <a:defRPr sz="1100">
                <a:solidFill>
                  <a:srgbClr val="FFFFFF"/>
                </a:solidFill>
              </a:defRPr>
            </a:pPr>
            <a:r>
              <a:rPr sz="825"/>
              <a:t>Nouveaux dossiers à traiter</a:t>
            </a:r>
          </a:p>
        </p:txBody>
      </p:sp>
      <p:sp>
        <p:nvSpPr>
          <p:cNvPr id="20" name="TextBox 19"/>
          <p:cNvSpPr txBox="1"/>
          <p:nvPr/>
        </p:nvSpPr>
        <p:spPr>
          <a:xfrm>
            <a:off x="342900" y="2880361"/>
            <a:ext cx="8229600" cy="1323439"/>
          </a:xfrm>
          <a:prstGeom prst="rect">
            <a:avLst/>
          </a:prstGeom>
          <a:noFill/>
        </p:spPr>
        <p:txBody>
          <a:bodyPr wrap="square">
            <a:spAutoFit/>
          </a:bodyPr>
          <a:lstStyle/>
          <a:p>
            <a:pPr>
              <a:spcBef>
                <a:spcPts val="600"/>
              </a:spcBef>
              <a:defRPr sz="1600">
                <a:solidFill>
                  <a:srgbClr val="1A202C"/>
                </a:solidFill>
              </a:defRPr>
            </a:pPr>
            <a:r>
              <a:rPr sz="1200"/>
              <a:t>▸ 1. Événement déclencheur (Création, modification, échéance)</a:t>
            </a:r>
          </a:p>
          <a:p>
            <a:pPr>
              <a:spcBef>
                <a:spcPts val="600"/>
              </a:spcBef>
              <a:defRPr sz="1600">
                <a:solidFill>
                  <a:srgbClr val="1A202C"/>
                </a:solidFill>
              </a:defRPr>
            </a:pPr>
            <a:r>
              <a:rPr sz="1200"/>
              <a:t>▸ 2. Génération automatique de la notification</a:t>
            </a:r>
          </a:p>
          <a:p>
            <a:pPr>
              <a:spcBef>
                <a:spcPts val="600"/>
              </a:spcBef>
              <a:defRPr sz="1600">
                <a:solidFill>
                  <a:srgbClr val="1A202C"/>
                </a:solidFill>
              </a:defRPr>
            </a:pPr>
            <a:r>
              <a:rPr sz="1200"/>
              <a:t>▸ 3. Distribution aux utilisateurs concernés</a:t>
            </a:r>
          </a:p>
          <a:p>
            <a:pPr>
              <a:spcBef>
                <a:spcPts val="600"/>
              </a:spcBef>
              <a:defRPr sz="1600">
                <a:solidFill>
                  <a:srgbClr val="1A202C"/>
                </a:solidFill>
              </a:defRPr>
            </a:pPr>
            <a:r>
              <a:rPr sz="1200"/>
              <a:t>▸ 4. Suivi de lecture et accusé de réception</a:t>
            </a:r>
          </a:p>
          <a:p>
            <a:pPr>
              <a:spcBef>
                <a:spcPts val="600"/>
              </a:spcBef>
              <a:defRPr sz="1600">
                <a:solidFill>
                  <a:srgbClr val="1A202C"/>
                </a:solidFill>
              </a:defRPr>
            </a:pPr>
            <a:r>
              <a:rPr sz="1200"/>
              <a:t>▸ 5. Archivage dans le journal d'audit</a:t>
            </a:r>
          </a:p>
        </p:txBody>
      </p:sp>
      <p:grpSp>
        <p:nvGrpSpPr>
          <p:cNvPr id="21" name="Group 32"/>
          <p:cNvGrpSpPr/>
          <p:nvPr/>
        </p:nvGrpSpPr>
        <p:grpSpPr>
          <a:xfrm>
            <a:off x="91440" y="0"/>
            <a:ext cx="9052560" cy="778837"/>
            <a:chOff x="330" y="182"/>
            <a:chExt cx="18543" cy="1604"/>
          </a:xfrm>
        </p:grpSpPr>
        <p:sp>
          <p:nvSpPr>
            <p:cNvPr id="22" name="Freeform 3"/>
            <p:cNvSpPr/>
            <p:nvPr/>
          </p:nvSpPr>
          <p:spPr>
            <a:xfrm>
              <a:off x="330" y="182"/>
              <a:ext cx="1640" cy="1604"/>
            </a:xfrm>
            <a:custGeom>
              <a:avLst/>
              <a:gdLst/>
              <a:ahLst/>
              <a:cxnLst/>
              <a:rect l="l" t="t" r="r" b="b"/>
              <a:pathLst>
                <a:path w="6263628" h="7097595">
                  <a:moveTo>
                    <a:pt x="0" y="0"/>
                  </a:moveTo>
                  <a:lnTo>
                    <a:pt x="6263628" y="0"/>
                  </a:lnTo>
                  <a:lnTo>
                    <a:pt x="6263628" y="7097595"/>
                  </a:lnTo>
                  <a:lnTo>
                    <a:pt x="0" y="7097595"/>
                  </a:lnTo>
                  <a:lnTo>
                    <a:pt x="0" y="0"/>
                  </a:lnTo>
                  <a:close/>
                </a:path>
              </a:pathLst>
            </a:custGeom>
            <a:blipFill>
              <a:blip r:embed="rId2"/>
              <a:stretch>
                <a:fillRect/>
              </a:stretch>
            </a:blipFill>
          </p:spPr>
        </p:sp>
        <p:pic>
          <p:nvPicPr>
            <p:cNvPr id="23" name="Picture 3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953" y="182"/>
              <a:ext cx="1920" cy="1604"/>
            </a:xfrm>
            <a:prstGeom prst="rect">
              <a:avLst/>
            </a:prstGeom>
          </p:spPr>
        </p:pic>
      </p:grpSp>
      <p:sp>
        <p:nvSpPr>
          <p:cNvPr id="24" name="Google Shape;49;p5"/>
          <p:cNvSpPr/>
          <p:nvPr/>
        </p:nvSpPr>
        <p:spPr>
          <a:xfrm>
            <a:off x="-228" y="4663441"/>
            <a:ext cx="9144000" cy="480060"/>
          </a:xfrm>
          <a:prstGeom prst="rect">
            <a:avLst/>
          </a:prstGeom>
          <a:solidFill>
            <a:srgbClr val="2E7D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35;p4"/>
          <p:cNvSpPr/>
          <p:nvPr/>
        </p:nvSpPr>
        <p:spPr>
          <a:xfrm>
            <a:off x="457200" y="4709160"/>
            <a:ext cx="640080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ADCFC"/>
              </a:buClr>
              <a:buSzPts val="900"/>
              <a:buFont typeface="Calibri"/>
              <a:buNone/>
            </a:pPr>
            <a:r>
              <a:rPr lang="en-US" sz="900" b="0" i="0" u="none" strike="noStrike" cap="none" dirty="0">
                <a:solidFill>
                  <a:srgbClr val="CADCFC"/>
                </a:solidFill>
                <a:latin typeface="Calibri"/>
                <a:ea typeface="Calibri"/>
                <a:cs typeface="Calibri"/>
                <a:sym typeface="Calibri"/>
              </a:rPr>
              <a:t>MINDEF - Direction des </a:t>
            </a:r>
            <a:r>
              <a:rPr lang="en-US" sz="900" b="0" i="0" u="none" strike="noStrike" cap="none" dirty="0" err="1">
                <a:solidFill>
                  <a:srgbClr val="CADCFC"/>
                </a:solidFill>
                <a:latin typeface="Calibri"/>
                <a:ea typeface="Calibri"/>
                <a:cs typeface="Calibri"/>
                <a:sym typeface="Calibri"/>
              </a:rPr>
              <a:t>Ressources</a:t>
            </a:r>
            <a:r>
              <a:rPr lang="en-US" sz="900" b="0" i="0" u="none" strike="noStrike" cap="none" dirty="0">
                <a:solidFill>
                  <a:srgbClr val="CADCFC"/>
                </a:solidFill>
                <a:latin typeface="Calibri"/>
                <a:ea typeface="Calibri"/>
                <a:cs typeface="Calibri"/>
                <a:sym typeface="Calibri"/>
              </a:rPr>
              <a:t> </a:t>
            </a:r>
            <a:r>
              <a:rPr lang="en-US" sz="900" b="0" i="0" u="none" strike="noStrike" cap="none" dirty="0" err="1">
                <a:solidFill>
                  <a:srgbClr val="CADCFC"/>
                </a:solidFill>
                <a:latin typeface="Calibri"/>
                <a:ea typeface="Calibri"/>
                <a:cs typeface="Calibri"/>
                <a:sym typeface="Calibri"/>
              </a:rPr>
              <a:t>Humaines</a:t>
            </a:r>
            <a:endParaRPr sz="900" b="0" i="0" u="none" strike="noStrike" cap="none" dirty="0">
              <a:solidFill>
                <a:schemeClr val="dk1"/>
              </a:solidFill>
              <a:latin typeface="Calibri"/>
              <a:ea typeface="Calibri"/>
              <a:cs typeface="Calibri"/>
              <a:sym typeface="Calibri"/>
            </a:endParaRPr>
          </a:p>
        </p:txBody>
      </p:sp>
      <p:sp>
        <p:nvSpPr>
          <p:cNvPr id="27" name="Google Shape;36;p4"/>
          <p:cNvSpPr/>
          <p:nvPr/>
        </p:nvSpPr>
        <p:spPr>
          <a:xfrm>
            <a:off x="7772400" y="4709160"/>
            <a:ext cx="914400" cy="365760"/>
          </a:xfrm>
          <a:prstGeom prst="rect">
            <a:avLst/>
          </a:prstGeom>
          <a:noFill/>
          <a:ln>
            <a:noFill/>
          </a:ln>
        </p:spPr>
        <p:txBody>
          <a:bodyPr spcFirstLastPara="1" wrap="square" lIns="91425" tIns="45700" rIns="91425" bIns="45700" anchor="ctr" anchorCtr="0">
            <a:noAutofit/>
          </a:bodyPr>
          <a:lstStyle/>
          <a:p>
            <a:pPr lvl="0" algn="r">
              <a:buClr>
                <a:srgbClr val="CADCFC"/>
              </a:buClr>
              <a:buSzPts val="900"/>
            </a:pPr>
            <a:r>
              <a:rPr lang="en-US" sz="900" dirty="0">
                <a:solidFill>
                  <a:srgbClr val="CADCFC"/>
                </a:solidFill>
                <a:latin typeface="Calibri"/>
                <a:ea typeface="Calibri"/>
                <a:cs typeface="Calibri"/>
                <a:sym typeface="Calibri"/>
              </a:rPr>
              <a:t>19</a:t>
            </a:r>
            <a:r>
              <a:rPr lang="en-US" sz="900" b="0" i="0" u="none" strike="noStrike" cap="none" dirty="0">
                <a:solidFill>
                  <a:srgbClr val="CADCFC"/>
                </a:solidFill>
                <a:latin typeface="Calibri"/>
                <a:ea typeface="Calibri"/>
                <a:cs typeface="Calibri"/>
                <a:sym typeface="Calibri"/>
              </a:rPr>
              <a:t> / </a:t>
            </a:r>
            <a:r>
              <a:rPr lang="en-US" sz="900" dirty="0">
                <a:solidFill>
                  <a:srgbClr val="CADCFC"/>
                </a:solidFill>
                <a:latin typeface="Calibri"/>
                <a:ea typeface="Calibri"/>
                <a:cs typeface="Calibri"/>
                <a:sym typeface="Calibri"/>
              </a:rPr>
              <a:t>27</a:t>
            </a:r>
            <a:endParaRPr lang="en-US" sz="9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0655151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9143771" cy="82296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 name="TextBox 2"/>
          <p:cNvSpPr txBox="1"/>
          <p:nvPr/>
        </p:nvSpPr>
        <p:spPr>
          <a:xfrm>
            <a:off x="2048351" y="230544"/>
            <a:ext cx="5093061" cy="415498"/>
          </a:xfrm>
          <a:prstGeom prst="rect">
            <a:avLst/>
          </a:prstGeom>
          <a:noFill/>
        </p:spPr>
        <p:txBody>
          <a:bodyPr wrap="none">
            <a:spAutoFit/>
          </a:bodyPr>
          <a:lstStyle/>
          <a:p>
            <a:pPr>
              <a:defRPr sz="2800" b="1">
                <a:solidFill>
                  <a:srgbClr val="FFFFFF"/>
                </a:solidFill>
              </a:defRPr>
            </a:pPr>
            <a:r>
              <a:rPr sz="2100" dirty="0">
                <a:latin typeface="Calibri" panose="020F0502020204030204" pitchFamily="34" charset="0"/>
                <a:cs typeface="Calibri" panose="020F0502020204030204" pitchFamily="34" charset="0"/>
              </a:rPr>
              <a:t>PHASES DE MISE EN PLACE &amp; DÉPLOIEMENT</a:t>
            </a:r>
          </a:p>
        </p:txBody>
      </p:sp>
      <p:sp>
        <p:nvSpPr>
          <p:cNvPr id="4" name="Rounded Rectangle 3"/>
          <p:cNvSpPr/>
          <p:nvPr/>
        </p:nvSpPr>
        <p:spPr>
          <a:xfrm>
            <a:off x="274320" y="990600"/>
            <a:ext cx="2880360" cy="316992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5" name="TextBox 4"/>
          <p:cNvSpPr txBox="1"/>
          <p:nvPr/>
        </p:nvSpPr>
        <p:spPr>
          <a:xfrm>
            <a:off x="1333627" y="1165860"/>
            <a:ext cx="761747" cy="253916"/>
          </a:xfrm>
          <a:prstGeom prst="rect">
            <a:avLst/>
          </a:prstGeom>
          <a:noFill/>
        </p:spPr>
        <p:txBody>
          <a:bodyPr wrap="none">
            <a:spAutoFit/>
          </a:bodyPr>
          <a:lstStyle/>
          <a:p>
            <a:pPr algn="ctr">
              <a:defRPr sz="1400" b="1">
                <a:solidFill>
                  <a:srgbClr val="FFFFFF"/>
                </a:solidFill>
              </a:defRPr>
            </a:pPr>
            <a:r>
              <a:rPr sz="1050"/>
              <a:t>PHASE 1</a:t>
            </a:r>
          </a:p>
        </p:txBody>
      </p:sp>
      <p:sp>
        <p:nvSpPr>
          <p:cNvPr id="6" name="TextBox 5"/>
          <p:cNvSpPr txBox="1"/>
          <p:nvPr/>
        </p:nvSpPr>
        <p:spPr>
          <a:xfrm>
            <a:off x="1045086" y="1440180"/>
            <a:ext cx="1338829" cy="300082"/>
          </a:xfrm>
          <a:prstGeom prst="rect">
            <a:avLst/>
          </a:prstGeom>
          <a:noFill/>
        </p:spPr>
        <p:txBody>
          <a:bodyPr wrap="none">
            <a:spAutoFit/>
          </a:bodyPr>
          <a:lstStyle/>
          <a:p>
            <a:pPr algn="ctr">
              <a:defRPr sz="1800" b="1">
                <a:solidFill>
                  <a:srgbClr val="FFFFFF"/>
                </a:solidFill>
              </a:defRPr>
            </a:pPr>
            <a:r>
              <a:rPr sz="1350"/>
              <a:t>CONCEPTION</a:t>
            </a:r>
          </a:p>
        </p:txBody>
      </p:sp>
      <p:sp>
        <p:nvSpPr>
          <p:cNvPr id="7" name="TextBox 6"/>
          <p:cNvSpPr txBox="1"/>
          <p:nvPr/>
        </p:nvSpPr>
        <p:spPr>
          <a:xfrm>
            <a:off x="1057109" y="1783081"/>
            <a:ext cx="1314784" cy="219291"/>
          </a:xfrm>
          <a:prstGeom prst="rect">
            <a:avLst/>
          </a:prstGeom>
          <a:noFill/>
        </p:spPr>
        <p:txBody>
          <a:bodyPr wrap="none">
            <a:spAutoFit/>
          </a:bodyPr>
          <a:lstStyle/>
          <a:p>
            <a:pPr algn="ctr">
              <a:defRPr sz="1100" i="1">
                <a:solidFill>
                  <a:srgbClr val="FFFFFF"/>
                </a:solidFill>
              </a:defRPr>
            </a:pPr>
            <a:r>
              <a:rPr sz="825"/>
              <a:t>2 sem + 1 mois + 1 sem</a:t>
            </a:r>
          </a:p>
        </p:txBody>
      </p:sp>
      <p:sp>
        <p:nvSpPr>
          <p:cNvPr id="8" name="TextBox 7"/>
          <p:cNvSpPr txBox="1"/>
          <p:nvPr/>
        </p:nvSpPr>
        <p:spPr>
          <a:xfrm>
            <a:off x="411480" y="2194560"/>
            <a:ext cx="2606040" cy="230832"/>
          </a:xfrm>
          <a:prstGeom prst="rect">
            <a:avLst/>
          </a:prstGeom>
          <a:noFill/>
        </p:spPr>
        <p:txBody>
          <a:bodyPr wrap="square">
            <a:spAutoFit/>
          </a:bodyPr>
          <a:lstStyle/>
          <a:p>
            <a:pPr>
              <a:defRPr sz="1200">
                <a:solidFill>
                  <a:srgbClr val="FFFFFF"/>
                </a:solidFill>
              </a:defRPr>
            </a:pPr>
            <a:r>
              <a:rPr sz="900"/>
              <a:t>✓ Analyse des besoins fonctionnels</a:t>
            </a:r>
          </a:p>
        </p:txBody>
      </p:sp>
      <p:sp>
        <p:nvSpPr>
          <p:cNvPr id="9" name="TextBox 8"/>
          <p:cNvSpPr txBox="1"/>
          <p:nvPr/>
        </p:nvSpPr>
        <p:spPr>
          <a:xfrm>
            <a:off x="411480" y="2606040"/>
            <a:ext cx="2606040" cy="230832"/>
          </a:xfrm>
          <a:prstGeom prst="rect">
            <a:avLst/>
          </a:prstGeom>
          <a:noFill/>
        </p:spPr>
        <p:txBody>
          <a:bodyPr wrap="square">
            <a:spAutoFit/>
          </a:bodyPr>
          <a:lstStyle/>
          <a:p>
            <a:pPr>
              <a:defRPr sz="1200">
                <a:solidFill>
                  <a:srgbClr val="FFFFFF"/>
                </a:solidFill>
              </a:defRPr>
            </a:pPr>
            <a:r>
              <a:rPr sz="900"/>
              <a:t>✓ Conception &amp; Développement</a:t>
            </a:r>
          </a:p>
        </p:txBody>
      </p:sp>
      <p:sp>
        <p:nvSpPr>
          <p:cNvPr id="10" name="TextBox 9"/>
          <p:cNvSpPr txBox="1"/>
          <p:nvPr/>
        </p:nvSpPr>
        <p:spPr>
          <a:xfrm>
            <a:off x="411480" y="3017520"/>
            <a:ext cx="2606040" cy="230832"/>
          </a:xfrm>
          <a:prstGeom prst="rect">
            <a:avLst/>
          </a:prstGeom>
          <a:noFill/>
        </p:spPr>
        <p:txBody>
          <a:bodyPr wrap="square">
            <a:spAutoFit/>
          </a:bodyPr>
          <a:lstStyle/>
          <a:p>
            <a:pPr>
              <a:defRPr sz="1200">
                <a:solidFill>
                  <a:srgbClr val="FFFFFF"/>
                </a:solidFill>
              </a:defRPr>
            </a:pPr>
            <a:r>
              <a:rPr sz="900"/>
              <a:t>✓ Tests &amp; Déploiement</a:t>
            </a:r>
          </a:p>
        </p:txBody>
      </p:sp>
      <p:sp>
        <p:nvSpPr>
          <p:cNvPr id="11" name="TextBox 10"/>
          <p:cNvSpPr txBox="1"/>
          <p:nvPr/>
        </p:nvSpPr>
        <p:spPr>
          <a:xfrm>
            <a:off x="411480" y="3429000"/>
            <a:ext cx="2606040" cy="230832"/>
          </a:xfrm>
          <a:prstGeom prst="rect">
            <a:avLst/>
          </a:prstGeom>
          <a:noFill/>
        </p:spPr>
        <p:txBody>
          <a:bodyPr wrap="square">
            <a:spAutoFit/>
          </a:bodyPr>
          <a:lstStyle/>
          <a:p>
            <a:pPr>
              <a:defRPr sz="1200">
                <a:solidFill>
                  <a:srgbClr val="FFFFFF"/>
                </a:solidFill>
              </a:defRPr>
            </a:pPr>
            <a:r>
              <a:rPr sz="900"/>
              <a:t>✓ Formation utilisateurs</a:t>
            </a:r>
          </a:p>
        </p:txBody>
      </p:sp>
      <p:sp>
        <p:nvSpPr>
          <p:cNvPr id="12" name="Rounded Rectangle 11"/>
          <p:cNvSpPr/>
          <p:nvPr/>
        </p:nvSpPr>
        <p:spPr>
          <a:xfrm>
            <a:off x="3291840" y="1028700"/>
            <a:ext cx="2880360" cy="3131820"/>
          </a:xfrm>
          <a:prstGeom prst="round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3" name="TextBox 12"/>
          <p:cNvSpPr txBox="1"/>
          <p:nvPr/>
        </p:nvSpPr>
        <p:spPr>
          <a:xfrm>
            <a:off x="4351147" y="1165860"/>
            <a:ext cx="761747" cy="253916"/>
          </a:xfrm>
          <a:prstGeom prst="rect">
            <a:avLst/>
          </a:prstGeom>
          <a:noFill/>
        </p:spPr>
        <p:txBody>
          <a:bodyPr wrap="none">
            <a:spAutoFit/>
          </a:bodyPr>
          <a:lstStyle/>
          <a:p>
            <a:pPr algn="ctr">
              <a:defRPr sz="1400" b="1">
                <a:solidFill>
                  <a:srgbClr val="FFFFFF"/>
                </a:solidFill>
              </a:defRPr>
            </a:pPr>
            <a:r>
              <a:rPr sz="1050"/>
              <a:t>PHASE 2</a:t>
            </a:r>
          </a:p>
        </p:txBody>
      </p:sp>
      <p:sp>
        <p:nvSpPr>
          <p:cNvPr id="14" name="TextBox 13"/>
          <p:cNvSpPr txBox="1"/>
          <p:nvPr/>
        </p:nvSpPr>
        <p:spPr>
          <a:xfrm>
            <a:off x="3605750" y="1440180"/>
            <a:ext cx="2252541" cy="300082"/>
          </a:xfrm>
          <a:prstGeom prst="rect">
            <a:avLst/>
          </a:prstGeom>
          <a:noFill/>
        </p:spPr>
        <p:txBody>
          <a:bodyPr wrap="none">
            <a:spAutoFit/>
          </a:bodyPr>
          <a:lstStyle/>
          <a:p>
            <a:pPr algn="ctr">
              <a:defRPr sz="1800" b="1">
                <a:solidFill>
                  <a:srgbClr val="FFFFFF"/>
                </a:solidFill>
              </a:defRPr>
            </a:pPr>
            <a:r>
              <a:rPr sz="1350"/>
              <a:t>DÉPLOIEMENT TERRAIN</a:t>
            </a:r>
          </a:p>
        </p:txBody>
      </p:sp>
      <p:sp>
        <p:nvSpPr>
          <p:cNvPr id="15" name="TextBox 14"/>
          <p:cNvSpPr txBox="1"/>
          <p:nvPr/>
        </p:nvSpPr>
        <p:spPr>
          <a:xfrm>
            <a:off x="4020126" y="1783081"/>
            <a:ext cx="1423788" cy="219291"/>
          </a:xfrm>
          <a:prstGeom prst="rect">
            <a:avLst/>
          </a:prstGeom>
          <a:noFill/>
        </p:spPr>
        <p:txBody>
          <a:bodyPr wrap="none">
            <a:spAutoFit/>
          </a:bodyPr>
          <a:lstStyle/>
          <a:p>
            <a:pPr algn="ctr">
              <a:defRPr sz="1100" i="1">
                <a:solidFill>
                  <a:srgbClr val="FFFFFF"/>
                </a:solidFill>
              </a:defRPr>
            </a:pPr>
            <a:r>
              <a:rPr sz="825"/>
              <a:t>Mission secteurs militaires</a:t>
            </a:r>
          </a:p>
        </p:txBody>
      </p:sp>
      <p:sp>
        <p:nvSpPr>
          <p:cNvPr id="16" name="TextBox 15"/>
          <p:cNvSpPr txBox="1"/>
          <p:nvPr/>
        </p:nvSpPr>
        <p:spPr>
          <a:xfrm>
            <a:off x="3429000" y="2194560"/>
            <a:ext cx="2606040" cy="230832"/>
          </a:xfrm>
          <a:prstGeom prst="rect">
            <a:avLst/>
          </a:prstGeom>
          <a:noFill/>
        </p:spPr>
        <p:txBody>
          <a:bodyPr wrap="square">
            <a:spAutoFit/>
          </a:bodyPr>
          <a:lstStyle/>
          <a:p>
            <a:pPr>
              <a:defRPr sz="1200">
                <a:solidFill>
                  <a:srgbClr val="FFFFFF"/>
                </a:solidFill>
              </a:defRPr>
            </a:pPr>
            <a:r>
              <a:rPr sz="900"/>
              <a:t>✓ Mise à jour informations personnels</a:t>
            </a:r>
          </a:p>
        </p:txBody>
      </p:sp>
      <p:sp>
        <p:nvSpPr>
          <p:cNvPr id="17" name="TextBox 16"/>
          <p:cNvSpPr txBox="1"/>
          <p:nvPr/>
        </p:nvSpPr>
        <p:spPr>
          <a:xfrm>
            <a:off x="3429000" y="2606040"/>
            <a:ext cx="2606040" cy="230832"/>
          </a:xfrm>
          <a:prstGeom prst="rect">
            <a:avLst/>
          </a:prstGeom>
          <a:noFill/>
        </p:spPr>
        <p:txBody>
          <a:bodyPr wrap="square">
            <a:spAutoFit/>
          </a:bodyPr>
          <a:lstStyle/>
          <a:p>
            <a:pPr>
              <a:defRPr sz="1200">
                <a:solidFill>
                  <a:srgbClr val="FFFFFF"/>
                </a:solidFill>
              </a:defRPr>
            </a:pPr>
            <a:r>
              <a:rPr sz="900"/>
              <a:t>✓ Enrôlement personnels inexistants</a:t>
            </a:r>
          </a:p>
        </p:txBody>
      </p:sp>
      <p:sp>
        <p:nvSpPr>
          <p:cNvPr id="18" name="TextBox 17"/>
          <p:cNvSpPr txBox="1"/>
          <p:nvPr/>
        </p:nvSpPr>
        <p:spPr>
          <a:xfrm>
            <a:off x="3429000" y="3017520"/>
            <a:ext cx="2606040" cy="230832"/>
          </a:xfrm>
          <a:prstGeom prst="rect">
            <a:avLst/>
          </a:prstGeom>
          <a:noFill/>
        </p:spPr>
        <p:txBody>
          <a:bodyPr wrap="square">
            <a:spAutoFit/>
          </a:bodyPr>
          <a:lstStyle/>
          <a:p>
            <a:pPr>
              <a:defRPr sz="1200">
                <a:solidFill>
                  <a:srgbClr val="FFFFFF"/>
                </a:solidFill>
              </a:defRPr>
            </a:pPr>
            <a:r>
              <a:rPr sz="900"/>
              <a:t>✓ Numérisation dossiers sur place</a:t>
            </a:r>
          </a:p>
        </p:txBody>
      </p:sp>
      <p:sp>
        <p:nvSpPr>
          <p:cNvPr id="19" name="TextBox 18"/>
          <p:cNvSpPr txBox="1"/>
          <p:nvPr/>
        </p:nvSpPr>
        <p:spPr>
          <a:xfrm>
            <a:off x="3429000" y="3429000"/>
            <a:ext cx="2606040" cy="230832"/>
          </a:xfrm>
          <a:prstGeom prst="rect">
            <a:avLst/>
          </a:prstGeom>
          <a:noFill/>
        </p:spPr>
        <p:txBody>
          <a:bodyPr wrap="square">
            <a:spAutoFit/>
          </a:bodyPr>
          <a:lstStyle/>
          <a:p>
            <a:pPr>
              <a:defRPr sz="1200">
                <a:solidFill>
                  <a:srgbClr val="FFFFFF"/>
                </a:solidFill>
              </a:defRPr>
            </a:pPr>
            <a:r>
              <a:rPr sz="900"/>
              <a:t>✓ Fusion vers GESMIL 2.0</a:t>
            </a:r>
          </a:p>
        </p:txBody>
      </p:sp>
      <p:sp>
        <p:nvSpPr>
          <p:cNvPr id="20" name="Rounded Rectangle 19"/>
          <p:cNvSpPr/>
          <p:nvPr/>
        </p:nvSpPr>
        <p:spPr>
          <a:xfrm>
            <a:off x="6309360" y="1028700"/>
            <a:ext cx="2880360" cy="313182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1" name="TextBox 20"/>
          <p:cNvSpPr txBox="1"/>
          <p:nvPr/>
        </p:nvSpPr>
        <p:spPr>
          <a:xfrm>
            <a:off x="7368667" y="1165860"/>
            <a:ext cx="761747" cy="253916"/>
          </a:xfrm>
          <a:prstGeom prst="rect">
            <a:avLst/>
          </a:prstGeom>
          <a:noFill/>
        </p:spPr>
        <p:txBody>
          <a:bodyPr wrap="none">
            <a:spAutoFit/>
          </a:bodyPr>
          <a:lstStyle/>
          <a:p>
            <a:pPr algn="ctr">
              <a:defRPr sz="1400" b="1">
                <a:solidFill>
                  <a:srgbClr val="FFFFFF"/>
                </a:solidFill>
              </a:defRPr>
            </a:pPr>
            <a:r>
              <a:rPr sz="1050"/>
              <a:t>PHASE 3</a:t>
            </a:r>
          </a:p>
        </p:txBody>
      </p:sp>
      <p:sp>
        <p:nvSpPr>
          <p:cNvPr id="22" name="TextBox 21"/>
          <p:cNvSpPr txBox="1"/>
          <p:nvPr/>
        </p:nvSpPr>
        <p:spPr>
          <a:xfrm>
            <a:off x="6555944" y="1440180"/>
            <a:ext cx="2387193" cy="300082"/>
          </a:xfrm>
          <a:prstGeom prst="rect">
            <a:avLst/>
          </a:prstGeom>
          <a:noFill/>
        </p:spPr>
        <p:txBody>
          <a:bodyPr wrap="none">
            <a:spAutoFit/>
          </a:bodyPr>
          <a:lstStyle/>
          <a:p>
            <a:pPr algn="ctr">
              <a:defRPr sz="1800" b="1">
                <a:solidFill>
                  <a:srgbClr val="FFFFFF"/>
                </a:solidFill>
              </a:defRPr>
            </a:pPr>
            <a:r>
              <a:rPr sz="1350"/>
              <a:t>PRÉPARATION ARCHIVES</a:t>
            </a:r>
          </a:p>
        </p:txBody>
      </p:sp>
      <p:sp>
        <p:nvSpPr>
          <p:cNvPr id="23" name="TextBox 22"/>
          <p:cNvSpPr txBox="1"/>
          <p:nvPr/>
        </p:nvSpPr>
        <p:spPr>
          <a:xfrm>
            <a:off x="7179512" y="1783081"/>
            <a:ext cx="1140056" cy="219291"/>
          </a:xfrm>
          <a:prstGeom prst="rect">
            <a:avLst/>
          </a:prstGeom>
          <a:noFill/>
        </p:spPr>
        <p:txBody>
          <a:bodyPr wrap="none">
            <a:spAutoFit/>
          </a:bodyPr>
          <a:lstStyle/>
          <a:p>
            <a:pPr algn="ctr">
              <a:defRPr sz="1100" i="1">
                <a:solidFill>
                  <a:srgbClr val="FFFFFF"/>
                </a:solidFill>
              </a:defRPr>
            </a:pPr>
            <a:r>
              <a:rPr sz="825"/>
              <a:t>Programme complet</a:t>
            </a:r>
          </a:p>
        </p:txBody>
      </p:sp>
      <p:sp>
        <p:nvSpPr>
          <p:cNvPr id="24" name="TextBox 23"/>
          <p:cNvSpPr txBox="1"/>
          <p:nvPr/>
        </p:nvSpPr>
        <p:spPr>
          <a:xfrm>
            <a:off x="6446520" y="2194560"/>
            <a:ext cx="2606040" cy="230832"/>
          </a:xfrm>
          <a:prstGeom prst="rect">
            <a:avLst/>
          </a:prstGeom>
          <a:noFill/>
        </p:spPr>
        <p:txBody>
          <a:bodyPr wrap="square">
            <a:spAutoFit/>
          </a:bodyPr>
          <a:lstStyle/>
          <a:p>
            <a:pPr>
              <a:defRPr sz="1200">
                <a:solidFill>
                  <a:srgbClr val="FFFFFF"/>
                </a:solidFill>
              </a:defRPr>
            </a:pPr>
            <a:r>
              <a:rPr sz="900"/>
              <a:t>✓ Recherche &amp; Exploitation</a:t>
            </a:r>
          </a:p>
        </p:txBody>
      </p:sp>
      <p:sp>
        <p:nvSpPr>
          <p:cNvPr id="25" name="TextBox 24"/>
          <p:cNvSpPr txBox="1"/>
          <p:nvPr/>
        </p:nvSpPr>
        <p:spPr>
          <a:xfrm>
            <a:off x="6446520" y="2606040"/>
            <a:ext cx="2606040" cy="230832"/>
          </a:xfrm>
          <a:prstGeom prst="rect">
            <a:avLst/>
          </a:prstGeom>
          <a:noFill/>
        </p:spPr>
        <p:txBody>
          <a:bodyPr wrap="square">
            <a:spAutoFit/>
          </a:bodyPr>
          <a:lstStyle/>
          <a:p>
            <a:pPr>
              <a:defRPr sz="1200">
                <a:solidFill>
                  <a:srgbClr val="FFFFFF"/>
                </a:solidFill>
              </a:defRPr>
            </a:pPr>
            <a:r>
              <a:rPr sz="900"/>
              <a:t>✓ Numérisation (Tri &amp; Scan)</a:t>
            </a:r>
          </a:p>
        </p:txBody>
      </p:sp>
      <p:sp>
        <p:nvSpPr>
          <p:cNvPr id="26" name="TextBox 25"/>
          <p:cNvSpPr txBox="1"/>
          <p:nvPr/>
        </p:nvSpPr>
        <p:spPr>
          <a:xfrm>
            <a:off x="6446520" y="3017520"/>
            <a:ext cx="2606040" cy="230832"/>
          </a:xfrm>
          <a:prstGeom prst="rect">
            <a:avLst/>
          </a:prstGeom>
          <a:noFill/>
        </p:spPr>
        <p:txBody>
          <a:bodyPr wrap="square">
            <a:spAutoFit/>
          </a:bodyPr>
          <a:lstStyle/>
          <a:p>
            <a:pPr>
              <a:defRPr sz="1200">
                <a:solidFill>
                  <a:srgbClr val="FFFFFF"/>
                </a:solidFill>
              </a:defRPr>
            </a:pPr>
            <a:r>
              <a:rPr sz="900"/>
              <a:t>✓ Stockage &amp; Archivage</a:t>
            </a:r>
          </a:p>
        </p:txBody>
      </p:sp>
      <p:sp>
        <p:nvSpPr>
          <p:cNvPr id="27" name="TextBox 26"/>
          <p:cNvSpPr txBox="1"/>
          <p:nvPr/>
        </p:nvSpPr>
        <p:spPr>
          <a:xfrm>
            <a:off x="6446520" y="3429000"/>
            <a:ext cx="2606040" cy="230832"/>
          </a:xfrm>
          <a:prstGeom prst="rect">
            <a:avLst/>
          </a:prstGeom>
          <a:noFill/>
        </p:spPr>
        <p:txBody>
          <a:bodyPr wrap="square">
            <a:spAutoFit/>
          </a:bodyPr>
          <a:lstStyle/>
          <a:p>
            <a:pPr>
              <a:defRPr sz="1200">
                <a:solidFill>
                  <a:srgbClr val="FFFFFF"/>
                </a:solidFill>
              </a:defRPr>
            </a:pPr>
            <a:r>
              <a:rPr sz="900"/>
              <a:t>✓ Aménagement &amp; Manutention</a:t>
            </a:r>
          </a:p>
        </p:txBody>
      </p:sp>
      <p:sp>
        <p:nvSpPr>
          <p:cNvPr id="28" name="Google Shape;34;p4"/>
          <p:cNvSpPr/>
          <p:nvPr/>
        </p:nvSpPr>
        <p:spPr>
          <a:xfrm>
            <a:off x="-228" y="4663440"/>
            <a:ext cx="9144000" cy="480060"/>
          </a:xfrm>
          <a:prstGeom prst="rect">
            <a:avLst/>
          </a:prstGeom>
          <a:solidFill>
            <a:srgbClr val="C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 name="Group 32"/>
          <p:cNvGrpSpPr/>
          <p:nvPr/>
        </p:nvGrpSpPr>
        <p:grpSpPr>
          <a:xfrm>
            <a:off x="91440" y="0"/>
            <a:ext cx="9052560" cy="778837"/>
            <a:chOff x="330" y="182"/>
            <a:chExt cx="18543" cy="1604"/>
          </a:xfrm>
        </p:grpSpPr>
        <p:sp>
          <p:nvSpPr>
            <p:cNvPr id="30" name="Freeform 3"/>
            <p:cNvSpPr/>
            <p:nvPr/>
          </p:nvSpPr>
          <p:spPr>
            <a:xfrm>
              <a:off x="330" y="182"/>
              <a:ext cx="1640" cy="1604"/>
            </a:xfrm>
            <a:custGeom>
              <a:avLst/>
              <a:gdLst/>
              <a:ahLst/>
              <a:cxnLst/>
              <a:rect l="l" t="t" r="r" b="b"/>
              <a:pathLst>
                <a:path w="6263628" h="7097595">
                  <a:moveTo>
                    <a:pt x="0" y="0"/>
                  </a:moveTo>
                  <a:lnTo>
                    <a:pt x="6263628" y="0"/>
                  </a:lnTo>
                  <a:lnTo>
                    <a:pt x="6263628" y="7097595"/>
                  </a:lnTo>
                  <a:lnTo>
                    <a:pt x="0" y="7097595"/>
                  </a:lnTo>
                  <a:lnTo>
                    <a:pt x="0" y="0"/>
                  </a:lnTo>
                  <a:close/>
                </a:path>
              </a:pathLst>
            </a:custGeom>
            <a:blipFill>
              <a:blip r:embed="rId2"/>
              <a:stretch>
                <a:fillRect/>
              </a:stretch>
            </a:blipFill>
          </p:spPr>
        </p:sp>
        <p:pic>
          <p:nvPicPr>
            <p:cNvPr id="31" name="Picture 3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953" y="182"/>
              <a:ext cx="1920" cy="1604"/>
            </a:xfrm>
            <a:prstGeom prst="rect">
              <a:avLst/>
            </a:prstGeom>
          </p:spPr>
        </p:pic>
      </p:grpSp>
      <p:sp>
        <p:nvSpPr>
          <p:cNvPr id="32" name="Google Shape;35;p4"/>
          <p:cNvSpPr/>
          <p:nvPr/>
        </p:nvSpPr>
        <p:spPr>
          <a:xfrm>
            <a:off x="457200" y="4709160"/>
            <a:ext cx="640080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ADCFC"/>
              </a:buClr>
              <a:buSzPts val="900"/>
              <a:buFont typeface="Calibri"/>
              <a:buNone/>
            </a:pPr>
            <a:r>
              <a:rPr lang="en-US" sz="900" b="0" i="0" u="none" strike="noStrike" cap="none" dirty="0">
                <a:solidFill>
                  <a:srgbClr val="CADCFC"/>
                </a:solidFill>
                <a:latin typeface="Calibri"/>
                <a:ea typeface="Calibri"/>
                <a:cs typeface="Calibri"/>
                <a:sym typeface="Calibri"/>
              </a:rPr>
              <a:t>MINDEF - Direction des </a:t>
            </a:r>
            <a:r>
              <a:rPr lang="en-US" sz="900" b="0" i="0" u="none" strike="noStrike" cap="none" dirty="0" err="1">
                <a:solidFill>
                  <a:srgbClr val="CADCFC"/>
                </a:solidFill>
                <a:latin typeface="Calibri"/>
                <a:ea typeface="Calibri"/>
                <a:cs typeface="Calibri"/>
                <a:sym typeface="Calibri"/>
              </a:rPr>
              <a:t>Ressources</a:t>
            </a:r>
            <a:r>
              <a:rPr lang="en-US" sz="900" b="0" i="0" u="none" strike="noStrike" cap="none" dirty="0">
                <a:solidFill>
                  <a:srgbClr val="CADCFC"/>
                </a:solidFill>
                <a:latin typeface="Calibri"/>
                <a:ea typeface="Calibri"/>
                <a:cs typeface="Calibri"/>
                <a:sym typeface="Calibri"/>
              </a:rPr>
              <a:t> </a:t>
            </a:r>
            <a:r>
              <a:rPr lang="en-US" sz="900" b="0" i="0" u="none" strike="noStrike" cap="none" dirty="0" err="1">
                <a:solidFill>
                  <a:srgbClr val="CADCFC"/>
                </a:solidFill>
                <a:latin typeface="Calibri"/>
                <a:ea typeface="Calibri"/>
                <a:cs typeface="Calibri"/>
                <a:sym typeface="Calibri"/>
              </a:rPr>
              <a:t>Humaines</a:t>
            </a:r>
            <a:endParaRPr sz="900" b="0" i="0" u="none" strike="noStrike" cap="none" dirty="0">
              <a:solidFill>
                <a:schemeClr val="dk1"/>
              </a:solidFill>
              <a:latin typeface="Calibri"/>
              <a:ea typeface="Calibri"/>
              <a:cs typeface="Calibri"/>
              <a:sym typeface="Calibri"/>
            </a:endParaRPr>
          </a:p>
        </p:txBody>
      </p:sp>
      <p:sp>
        <p:nvSpPr>
          <p:cNvPr id="33" name="Google Shape;36;p4"/>
          <p:cNvSpPr/>
          <p:nvPr/>
        </p:nvSpPr>
        <p:spPr>
          <a:xfrm>
            <a:off x="7772400" y="4709160"/>
            <a:ext cx="914400" cy="365760"/>
          </a:xfrm>
          <a:prstGeom prst="rect">
            <a:avLst/>
          </a:prstGeom>
          <a:noFill/>
          <a:ln>
            <a:noFill/>
          </a:ln>
        </p:spPr>
        <p:txBody>
          <a:bodyPr spcFirstLastPara="1" wrap="square" lIns="91425" tIns="45700" rIns="91425" bIns="45700" anchor="ctr" anchorCtr="0">
            <a:noAutofit/>
          </a:bodyPr>
          <a:lstStyle/>
          <a:p>
            <a:pPr lvl="0" algn="r">
              <a:buClr>
                <a:srgbClr val="CADCFC"/>
              </a:buClr>
              <a:buSzPts val="900"/>
            </a:pPr>
            <a:r>
              <a:rPr lang="en-US" sz="900" dirty="0">
                <a:solidFill>
                  <a:srgbClr val="CADCFC"/>
                </a:solidFill>
                <a:latin typeface="Calibri"/>
                <a:ea typeface="Calibri"/>
                <a:cs typeface="Calibri"/>
                <a:sym typeface="Calibri"/>
              </a:rPr>
              <a:t>20</a:t>
            </a:r>
            <a:r>
              <a:rPr lang="en-US" sz="900" b="0" i="0" u="none" strike="noStrike" cap="none" dirty="0">
                <a:solidFill>
                  <a:srgbClr val="CADCFC"/>
                </a:solidFill>
                <a:latin typeface="Calibri"/>
                <a:ea typeface="Calibri"/>
                <a:cs typeface="Calibri"/>
                <a:sym typeface="Calibri"/>
              </a:rPr>
              <a:t> / </a:t>
            </a:r>
            <a:r>
              <a:rPr lang="en-US" sz="900" dirty="0">
                <a:solidFill>
                  <a:srgbClr val="CADCFC"/>
                </a:solidFill>
                <a:latin typeface="Calibri"/>
                <a:ea typeface="Calibri"/>
                <a:cs typeface="Calibri"/>
                <a:sym typeface="Calibri"/>
              </a:rPr>
              <a:t>27</a:t>
            </a:r>
            <a:endParaRPr lang="en-US" sz="9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7242131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9143771" cy="822960"/>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 name="TextBox 2"/>
          <p:cNvSpPr txBox="1"/>
          <p:nvPr/>
        </p:nvSpPr>
        <p:spPr>
          <a:xfrm>
            <a:off x="2617310" y="180647"/>
            <a:ext cx="4073551" cy="461665"/>
          </a:xfrm>
          <a:prstGeom prst="rect">
            <a:avLst/>
          </a:prstGeom>
          <a:noFill/>
        </p:spPr>
        <p:txBody>
          <a:bodyPr wrap="none">
            <a:spAutoFit/>
          </a:bodyPr>
          <a:lstStyle/>
          <a:p>
            <a:pPr>
              <a:defRPr sz="3200" b="1">
                <a:solidFill>
                  <a:srgbClr val="FFFFFF"/>
                </a:solidFill>
              </a:defRPr>
            </a:pPr>
            <a:r>
              <a:rPr sz="2400" dirty="0">
                <a:latin typeface="Calibri" panose="020F0502020204030204" pitchFamily="34" charset="0"/>
                <a:cs typeface="Calibri" panose="020F0502020204030204" pitchFamily="34" charset="0"/>
              </a:rPr>
              <a:t>SÉCURITÉ &amp; ADMINISTRATION</a:t>
            </a:r>
          </a:p>
        </p:txBody>
      </p:sp>
      <p:sp>
        <p:nvSpPr>
          <p:cNvPr id="4" name="TextBox 3"/>
          <p:cNvSpPr txBox="1"/>
          <p:nvPr/>
        </p:nvSpPr>
        <p:spPr>
          <a:xfrm>
            <a:off x="342901" y="1028700"/>
            <a:ext cx="2055371" cy="323165"/>
          </a:xfrm>
          <a:prstGeom prst="rect">
            <a:avLst/>
          </a:prstGeom>
          <a:noFill/>
        </p:spPr>
        <p:txBody>
          <a:bodyPr wrap="none">
            <a:spAutoFit/>
          </a:bodyPr>
          <a:lstStyle/>
          <a:p>
            <a:pPr>
              <a:defRPr sz="2000" b="1">
                <a:solidFill>
                  <a:srgbClr val="2E7D32"/>
                </a:solidFill>
              </a:defRPr>
            </a:pPr>
            <a:r>
              <a:rPr sz="1500"/>
              <a:t>👤 Rôles Utilisateurs</a:t>
            </a:r>
          </a:p>
        </p:txBody>
      </p:sp>
      <p:sp>
        <p:nvSpPr>
          <p:cNvPr id="5" name="Rectangle 4"/>
          <p:cNvSpPr/>
          <p:nvPr/>
        </p:nvSpPr>
        <p:spPr>
          <a:xfrm>
            <a:off x="342900" y="1508760"/>
            <a:ext cx="102870" cy="342900"/>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6" name="TextBox 5"/>
          <p:cNvSpPr txBox="1"/>
          <p:nvPr/>
        </p:nvSpPr>
        <p:spPr>
          <a:xfrm>
            <a:off x="514350" y="1508760"/>
            <a:ext cx="1091966" cy="242374"/>
          </a:xfrm>
          <a:prstGeom prst="rect">
            <a:avLst/>
          </a:prstGeom>
          <a:noFill/>
        </p:spPr>
        <p:txBody>
          <a:bodyPr wrap="none">
            <a:spAutoFit/>
          </a:bodyPr>
          <a:lstStyle/>
          <a:p>
            <a:pPr>
              <a:defRPr sz="1300" b="1">
                <a:solidFill>
                  <a:srgbClr val="1A202C"/>
                </a:solidFill>
              </a:defRPr>
            </a:pPr>
            <a:r>
              <a:rPr sz="975"/>
              <a:t>SUPER_ADMIN</a:t>
            </a:r>
          </a:p>
        </p:txBody>
      </p:sp>
      <p:sp>
        <p:nvSpPr>
          <p:cNvPr id="7" name="TextBox 6"/>
          <p:cNvSpPr txBox="1"/>
          <p:nvPr/>
        </p:nvSpPr>
        <p:spPr>
          <a:xfrm>
            <a:off x="514350" y="1748791"/>
            <a:ext cx="1241045" cy="219291"/>
          </a:xfrm>
          <a:prstGeom prst="rect">
            <a:avLst/>
          </a:prstGeom>
          <a:noFill/>
        </p:spPr>
        <p:txBody>
          <a:bodyPr wrap="none">
            <a:spAutoFit/>
          </a:bodyPr>
          <a:lstStyle/>
          <a:p>
            <a:pPr>
              <a:defRPr sz="1100">
                <a:solidFill>
                  <a:srgbClr val="3C3C3C"/>
                </a:solidFill>
              </a:defRPr>
            </a:pPr>
            <a:r>
              <a:rPr sz="825" dirty="0"/>
              <a:t>Configuration </a:t>
            </a:r>
            <a:r>
              <a:rPr sz="825" dirty="0" err="1"/>
              <a:t>système</a:t>
            </a:r>
            <a:endParaRPr sz="825" dirty="0"/>
          </a:p>
        </p:txBody>
      </p:sp>
      <p:sp>
        <p:nvSpPr>
          <p:cNvPr id="8" name="Rectangle 7"/>
          <p:cNvSpPr/>
          <p:nvPr/>
        </p:nvSpPr>
        <p:spPr>
          <a:xfrm>
            <a:off x="342900" y="2125980"/>
            <a:ext cx="102870" cy="34290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9" name="TextBox 8"/>
          <p:cNvSpPr txBox="1"/>
          <p:nvPr/>
        </p:nvSpPr>
        <p:spPr>
          <a:xfrm>
            <a:off x="514350" y="2125980"/>
            <a:ext cx="453970" cy="242374"/>
          </a:xfrm>
          <a:prstGeom prst="rect">
            <a:avLst/>
          </a:prstGeom>
          <a:noFill/>
        </p:spPr>
        <p:txBody>
          <a:bodyPr wrap="none">
            <a:spAutoFit/>
          </a:bodyPr>
          <a:lstStyle/>
          <a:p>
            <a:pPr>
              <a:defRPr sz="1300" b="1">
                <a:solidFill>
                  <a:srgbClr val="1A202C"/>
                </a:solidFill>
              </a:defRPr>
            </a:pPr>
            <a:r>
              <a:rPr sz="975"/>
              <a:t>DRH</a:t>
            </a:r>
          </a:p>
        </p:txBody>
      </p:sp>
      <p:sp>
        <p:nvSpPr>
          <p:cNvPr id="10" name="TextBox 9"/>
          <p:cNvSpPr txBox="1"/>
          <p:nvPr/>
        </p:nvSpPr>
        <p:spPr>
          <a:xfrm>
            <a:off x="514350" y="2366011"/>
            <a:ext cx="1406154" cy="219291"/>
          </a:xfrm>
          <a:prstGeom prst="rect">
            <a:avLst/>
          </a:prstGeom>
          <a:noFill/>
        </p:spPr>
        <p:txBody>
          <a:bodyPr wrap="none">
            <a:spAutoFit/>
          </a:bodyPr>
          <a:lstStyle/>
          <a:p>
            <a:pPr>
              <a:defRPr sz="1100">
                <a:solidFill>
                  <a:srgbClr val="3C3C3C"/>
                </a:solidFill>
              </a:defRPr>
            </a:pPr>
            <a:r>
              <a:rPr sz="825"/>
              <a:t>Vue globale &amp; statistiques</a:t>
            </a:r>
          </a:p>
        </p:txBody>
      </p:sp>
      <p:sp>
        <p:nvSpPr>
          <p:cNvPr id="11" name="Rectangle 10"/>
          <p:cNvSpPr/>
          <p:nvPr/>
        </p:nvSpPr>
        <p:spPr>
          <a:xfrm>
            <a:off x="342900" y="2743200"/>
            <a:ext cx="102870" cy="34290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2" name="TextBox 11"/>
          <p:cNvSpPr txBox="1"/>
          <p:nvPr/>
        </p:nvSpPr>
        <p:spPr>
          <a:xfrm>
            <a:off x="514351" y="2743200"/>
            <a:ext cx="1031051" cy="242374"/>
          </a:xfrm>
          <a:prstGeom prst="rect">
            <a:avLst/>
          </a:prstGeom>
          <a:noFill/>
        </p:spPr>
        <p:txBody>
          <a:bodyPr wrap="none">
            <a:spAutoFit/>
          </a:bodyPr>
          <a:lstStyle/>
          <a:p>
            <a:pPr>
              <a:defRPr sz="1300" b="1">
                <a:solidFill>
                  <a:srgbClr val="1A202C"/>
                </a:solidFill>
              </a:defRPr>
            </a:pPr>
            <a:r>
              <a:rPr sz="975"/>
              <a:t>ETAT_MAJOR</a:t>
            </a:r>
          </a:p>
        </p:txBody>
      </p:sp>
      <p:sp>
        <p:nvSpPr>
          <p:cNvPr id="13" name="TextBox 12"/>
          <p:cNvSpPr txBox="1"/>
          <p:nvPr/>
        </p:nvSpPr>
        <p:spPr>
          <a:xfrm>
            <a:off x="514350" y="2983230"/>
            <a:ext cx="1106393" cy="219291"/>
          </a:xfrm>
          <a:prstGeom prst="rect">
            <a:avLst/>
          </a:prstGeom>
          <a:noFill/>
        </p:spPr>
        <p:txBody>
          <a:bodyPr wrap="none">
            <a:spAutoFit/>
          </a:bodyPr>
          <a:lstStyle/>
          <a:p>
            <a:pPr>
              <a:defRPr sz="1100">
                <a:solidFill>
                  <a:srgbClr val="3C3C3C"/>
                </a:solidFill>
              </a:defRPr>
            </a:pPr>
            <a:r>
              <a:rPr sz="825"/>
              <a:t>Consultation armée</a:t>
            </a:r>
          </a:p>
        </p:txBody>
      </p:sp>
      <p:sp>
        <p:nvSpPr>
          <p:cNvPr id="14" name="Rectangle 13"/>
          <p:cNvSpPr/>
          <p:nvPr/>
        </p:nvSpPr>
        <p:spPr>
          <a:xfrm>
            <a:off x="342900" y="3360420"/>
            <a:ext cx="102870" cy="34290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5" name="TextBox 14"/>
          <p:cNvSpPr txBox="1"/>
          <p:nvPr/>
        </p:nvSpPr>
        <p:spPr>
          <a:xfrm>
            <a:off x="514350" y="3360420"/>
            <a:ext cx="1872629" cy="242374"/>
          </a:xfrm>
          <a:prstGeom prst="rect">
            <a:avLst/>
          </a:prstGeom>
          <a:noFill/>
        </p:spPr>
        <p:txBody>
          <a:bodyPr wrap="none">
            <a:spAutoFit/>
          </a:bodyPr>
          <a:lstStyle/>
          <a:p>
            <a:pPr>
              <a:defRPr sz="1300" b="1">
                <a:solidFill>
                  <a:srgbClr val="1A202C"/>
                </a:solidFill>
              </a:defRPr>
            </a:pPr>
            <a:r>
              <a:rPr sz="975"/>
              <a:t>RMIA/BRIGADE/BATAILLON</a:t>
            </a:r>
          </a:p>
        </p:txBody>
      </p:sp>
      <p:sp>
        <p:nvSpPr>
          <p:cNvPr id="16" name="TextBox 15"/>
          <p:cNvSpPr txBox="1"/>
          <p:nvPr/>
        </p:nvSpPr>
        <p:spPr>
          <a:xfrm>
            <a:off x="514350" y="3600451"/>
            <a:ext cx="893193" cy="219291"/>
          </a:xfrm>
          <a:prstGeom prst="rect">
            <a:avLst/>
          </a:prstGeom>
          <a:noFill/>
        </p:spPr>
        <p:txBody>
          <a:bodyPr wrap="none">
            <a:spAutoFit/>
          </a:bodyPr>
          <a:lstStyle/>
          <a:p>
            <a:pPr>
              <a:defRPr sz="1100">
                <a:solidFill>
                  <a:srgbClr val="3C3C3C"/>
                </a:solidFill>
              </a:defRPr>
            </a:pPr>
            <a:r>
              <a:rPr sz="825"/>
              <a:t>Gestion niveau</a:t>
            </a:r>
          </a:p>
        </p:txBody>
      </p:sp>
      <p:sp>
        <p:nvSpPr>
          <p:cNvPr id="17" name="Rectangle 16"/>
          <p:cNvSpPr/>
          <p:nvPr/>
        </p:nvSpPr>
        <p:spPr>
          <a:xfrm>
            <a:off x="342900" y="3977640"/>
            <a:ext cx="102870" cy="342900"/>
          </a:xfrm>
          <a:prstGeom prst="rect">
            <a:avLst/>
          </a:prstGeom>
          <a:solidFill>
            <a:srgbClr val="8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8" name="TextBox 17"/>
          <p:cNvSpPr txBox="1"/>
          <p:nvPr/>
        </p:nvSpPr>
        <p:spPr>
          <a:xfrm>
            <a:off x="514351" y="3977640"/>
            <a:ext cx="1946367" cy="242374"/>
          </a:xfrm>
          <a:prstGeom prst="rect">
            <a:avLst/>
          </a:prstGeom>
          <a:noFill/>
        </p:spPr>
        <p:txBody>
          <a:bodyPr wrap="none">
            <a:spAutoFit/>
          </a:bodyPr>
          <a:lstStyle/>
          <a:p>
            <a:pPr>
              <a:defRPr sz="1300" b="1">
                <a:solidFill>
                  <a:srgbClr val="1A202C"/>
                </a:solidFill>
              </a:defRPr>
            </a:pPr>
            <a:r>
              <a:rPr sz="975"/>
              <a:t>COMMANDANT_COMPAGNIE</a:t>
            </a:r>
          </a:p>
        </p:txBody>
      </p:sp>
      <p:sp>
        <p:nvSpPr>
          <p:cNvPr id="19" name="TextBox 18"/>
          <p:cNvSpPr txBox="1"/>
          <p:nvPr/>
        </p:nvSpPr>
        <p:spPr>
          <a:xfrm>
            <a:off x="514350" y="4217671"/>
            <a:ext cx="1099981" cy="219291"/>
          </a:xfrm>
          <a:prstGeom prst="rect">
            <a:avLst/>
          </a:prstGeom>
          <a:noFill/>
        </p:spPr>
        <p:txBody>
          <a:bodyPr wrap="none">
            <a:spAutoFit/>
          </a:bodyPr>
          <a:lstStyle/>
          <a:p>
            <a:pPr>
              <a:defRPr sz="1100">
                <a:solidFill>
                  <a:srgbClr val="3C3C3C"/>
                </a:solidFill>
              </a:defRPr>
            </a:pPr>
            <a:r>
              <a:rPr sz="825"/>
              <a:t>Gestion compagnie</a:t>
            </a:r>
          </a:p>
        </p:txBody>
      </p:sp>
      <p:sp>
        <p:nvSpPr>
          <p:cNvPr id="20" name="Rectangle 19"/>
          <p:cNvSpPr/>
          <p:nvPr/>
        </p:nvSpPr>
        <p:spPr>
          <a:xfrm>
            <a:off x="4264334" y="897144"/>
            <a:ext cx="13716" cy="3771900"/>
          </a:xfrm>
          <a:prstGeom prst="rect">
            <a:avLst/>
          </a:prstGeom>
          <a:solidFill>
            <a:srgbClr val="8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1" name="TextBox 20"/>
          <p:cNvSpPr txBox="1"/>
          <p:nvPr/>
        </p:nvSpPr>
        <p:spPr>
          <a:xfrm>
            <a:off x="4800600" y="1028700"/>
            <a:ext cx="2302233" cy="323165"/>
          </a:xfrm>
          <a:prstGeom prst="rect">
            <a:avLst/>
          </a:prstGeom>
          <a:noFill/>
        </p:spPr>
        <p:txBody>
          <a:bodyPr wrap="none">
            <a:spAutoFit/>
          </a:bodyPr>
          <a:lstStyle/>
          <a:p>
            <a:pPr>
              <a:defRPr sz="2000" b="1">
                <a:solidFill>
                  <a:srgbClr val="2E7D32"/>
                </a:solidFill>
              </a:defRPr>
            </a:pPr>
            <a:r>
              <a:rPr sz="1500"/>
              <a:t>🔒 Mesures de Sécurité</a:t>
            </a:r>
          </a:p>
        </p:txBody>
      </p:sp>
      <p:sp>
        <p:nvSpPr>
          <p:cNvPr id="22" name="TextBox 21"/>
          <p:cNvSpPr txBox="1"/>
          <p:nvPr/>
        </p:nvSpPr>
        <p:spPr>
          <a:xfrm>
            <a:off x="4800600" y="1508760"/>
            <a:ext cx="1741182" cy="253916"/>
          </a:xfrm>
          <a:prstGeom prst="rect">
            <a:avLst/>
          </a:prstGeom>
          <a:noFill/>
        </p:spPr>
        <p:txBody>
          <a:bodyPr wrap="none">
            <a:spAutoFit/>
          </a:bodyPr>
          <a:lstStyle/>
          <a:p>
            <a:pPr>
              <a:defRPr sz="1400">
                <a:solidFill>
                  <a:srgbClr val="1A202C"/>
                </a:solidFill>
              </a:defRPr>
            </a:pPr>
            <a:r>
              <a:rPr sz="1050"/>
              <a:t>▸ 🔐 Authentification JWT</a:t>
            </a:r>
          </a:p>
        </p:txBody>
      </p:sp>
      <p:sp>
        <p:nvSpPr>
          <p:cNvPr id="23" name="TextBox 22"/>
          <p:cNvSpPr txBox="1"/>
          <p:nvPr/>
        </p:nvSpPr>
        <p:spPr>
          <a:xfrm>
            <a:off x="4800600" y="1885950"/>
            <a:ext cx="1999265" cy="253916"/>
          </a:xfrm>
          <a:prstGeom prst="rect">
            <a:avLst/>
          </a:prstGeom>
          <a:noFill/>
        </p:spPr>
        <p:txBody>
          <a:bodyPr wrap="none">
            <a:spAutoFit/>
          </a:bodyPr>
          <a:lstStyle/>
          <a:p>
            <a:pPr>
              <a:defRPr sz="1400">
                <a:solidFill>
                  <a:srgbClr val="1A202C"/>
                </a:solidFill>
              </a:defRPr>
            </a:pPr>
            <a:r>
              <a:rPr sz="1050"/>
              <a:t>▸ 🔒 Sessions avec expiration</a:t>
            </a:r>
          </a:p>
        </p:txBody>
      </p:sp>
      <p:sp>
        <p:nvSpPr>
          <p:cNvPr id="24" name="TextBox 23"/>
          <p:cNvSpPr txBox="1"/>
          <p:nvPr/>
        </p:nvSpPr>
        <p:spPr>
          <a:xfrm>
            <a:off x="4800600" y="2263140"/>
            <a:ext cx="1890261" cy="253916"/>
          </a:xfrm>
          <a:prstGeom prst="rect">
            <a:avLst/>
          </a:prstGeom>
          <a:noFill/>
        </p:spPr>
        <p:txBody>
          <a:bodyPr wrap="none">
            <a:spAutoFit/>
          </a:bodyPr>
          <a:lstStyle/>
          <a:p>
            <a:pPr>
              <a:defRPr sz="1400">
                <a:solidFill>
                  <a:srgbClr val="1A202C"/>
                </a:solidFill>
              </a:defRPr>
            </a:pPr>
            <a:r>
              <a:rPr sz="1050"/>
              <a:t>▸ 📝 Journal d'audit complet</a:t>
            </a:r>
          </a:p>
        </p:txBody>
      </p:sp>
      <p:sp>
        <p:nvSpPr>
          <p:cNvPr id="25" name="TextBox 24"/>
          <p:cNvSpPr txBox="1"/>
          <p:nvPr/>
        </p:nvSpPr>
        <p:spPr>
          <a:xfrm>
            <a:off x="4800601" y="2640330"/>
            <a:ext cx="1848583" cy="253916"/>
          </a:xfrm>
          <a:prstGeom prst="rect">
            <a:avLst/>
          </a:prstGeom>
          <a:noFill/>
        </p:spPr>
        <p:txBody>
          <a:bodyPr wrap="none">
            <a:spAutoFit/>
          </a:bodyPr>
          <a:lstStyle/>
          <a:p>
            <a:pPr>
              <a:defRPr sz="1400">
                <a:solidFill>
                  <a:srgbClr val="1A202C"/>
                </a:solidFill>
              </a:defRPr>
            </a:pPr>
            <a:r>
              <a:rPr sz="1050"/>
              <a:t>▸ 🔍 Traçabilité des actions</a:t>
            </a:r>
          </a:p>
        </p:txBody>
      </p:sp>
      <p:sp>
        <p:nvSpPr>
          <p:cNvPr id="26" name="TextBox 25"/>
          <p:cNvSpPr txBox="1"/>
          <p:nvPr/>
        </p:nvSpPr>
        <p:spPr>
          <a:xfrm>
            <a:off x="4800600" y="3017520"/>
            <a:ext cx="2000869" cy="253916"/>
          </a:xfrm>
          <a:prstGeom prst="rect">
            <a:avLst/>
          </a:prstGeom>
          <a:noFill/>
        </p:spPr>
        <p:txBody>
          <a:bodyPr wrap="none">
            <a:spAutoFit/>
          </a:bodyPr>
          <a:lstStyle/>
          <a:p>
            <a:pPr>
              <a:defRPr sz="1400">
                <a:solidFill>
                  <a:srgbClr val="1A202C"/>
                </a:solidFill>
              </a:defRPr>
            </a:pPr>
            <a:r>
              <a:rPr sz="1050"/>
              <a:t>▸ 🚫 RBAC - Contrôle d'accès</a:t>
            </a:r>
          </a:p>
        </p:txBody>
      </p:sp>
      <p:sp>
        <p:nvSpPr>
          <p:cNvPr id="27" name="TextBox 26"/>
          <p:cNvSpPr txBox="1"/>
          <p:nvPr/>
        </p:nvSpPr>
        <p:spPr>
          <a:xfrm>
            <a:off x="4800601" y="3394710"/>
            <a:ext cx="1882247" cy="253916"/>
          </a:xfrm>
          <a:prstGeom prst="rect">
            <a:avLst/>
          </a:prstGeom>
          <a:noFill/>
        </p:spPr>
        <p:txBody>
          <a:bodyPr wrap="none">
            <a:spAutoFit/>
          </a:bodyPr>
          <a:lstStyle/>
          <a:p>
            <a:pPr>
              <a:defRPr sz="1400">
                <a:solidFill>
                  <a:srgbClr val="1A202C"/>
                </a:solidFill>
              </a:defRPr>
            </a:pPr>
            <a:r>
              <a:rPr sz="1050"/>
              <a:t>▸ 📋 Validation hiérarchique</a:t>
            </a:r>
          </a:p>
        </p:txBody>
      </p:sp>
      <p:sp>
        <p:nvSpPr>
          <p:cNvPr id="28" name="TextBox 27"/>
          <p:cNvSpPr txBox="1"/>
          <p:nvPr/>
        </p:nvSpPr>
        <p:spPr>
          <a:xfrm>
            <a:off x="4800600" y="3771900"/>
            <a:ext cx="2135521" cy="253916"/>
          </a:xfrm>
          <a:prstGeom prst="rect">
            <a:avLst/>
          </a:prstGeom>
          <a:noFill/>
        </p:spPr>
        <p:txBody>
          <a:bodyPr wrap="none">
            <a:spAutoFit/>
          </a:bodyPr>
          <a:lstStyle/>
          <a:p>
            <a:pPr>
              <a:defRPr sz="1400">
                <a:solidFill>
                  <a:srgbClr val="1A202C"/>
                </a:solidFill>
              </a:defRPr>
            </a:pPr>
            <a:r>
              <a:rPr sz="1050"/>
              <a:t>▸ 💾 Base de données amovible</a:t>
            </a:r>
          </a:p>
        </p:txBody>
      </p:sp>
      <p:sp>
        <p:nvSpPr>
          <p:cNvPr id="29" name="TextBox 28"/>
          <p:cNvSpPr txBox="1"/>
          <p:nvPr/>
        </p:nvSpPr>
        <p:spPr>
          <a:xfrm>
            <a:off x="4800600" y="4149090"/>
            <a:ext cx="2097049" cy="253916"/>
          </a:xfrm>
          <a:prstGeom prst="rect">
            <a:avLst/>
          </a:prstGeom>
          <a:noFill/>
        </p:spPr>
        <p:txBody>
          <a:bodyPr wrap="none">
            <a:spAutoFit/>
          </a:bodyPr>
          <a:lstStyle/>
          <a:p>
            <a:pPr>
              <a:defRPr sz="1400">
                <a:solidFill>
                  <a:srgbClr val="1A202C"/>
                </a:solidFill>
              </a:defRPr>
            </a:pPr>
            <a:r>
              <a:rPr sz="1050"/>
              <a:t>▸ 🌐 Solution intranet sécurisée</a:t>
            </a:r>
          </a:p>
        </p:txBody>
      </p:sp>
      <p:grpSp>
        <p:nvGrpSpPr>
          <p:cNvPr id="30" name="Group 32"/>
          <p:cNvGrpSpPr/>
          <p:nvPr/>
        </p:nvGrpSpPr>
        <p:grpSpPr>
          <a:xfrm>
            <a:off x="91440" y="0"/>
            <a:ext cx="9052560" cy="778837"/>
            <a:chOff x="330" y="182"/>
            <a:chExt cx="18543" cy="1604"/>
          </a:xfrm>
        </p:grpSpPr>
        <p:sp>
          <p:nvSpPr>
            <p:cNvPr id="31" name="Freeform 3"/>
            <p:cNvSpPr/>
            <p:nvPr/>
          </p:nvSpPr>
          <p:spPr>
            <a:xfrm>
              <a:off x="330" y="182"/>
              <a:ext cx="1640" cy="1604"/>
            </a:xfrm>
            <a:custGeom>
              <a:avLst/>
              <a:gdLst/>
              <a:ahLst/>
              <a:cxnLst/>
              <a:rect l="l" t="t" r="r" b="b"/>
              <a:pathLst>
                <a:path w="6263628" h="7097595">
                  <a:moveTo>
                    <a:pt x="0" y="0"/>
                  </a:moveTo>
                  <a:lnTo>
                    <a:pt x="6263628" y="0"/>
                  </a:lnTo>
                  <a:lnTo>
                    <a:pt x="6263628" y="7097595"/>
                  </a:lnTo>
                  <a:lnTo>
                    <a:pt x="0" y="7097595"/>
                  </a:lnTo>
                  <a:lnTo>
                    <a:pt x="0" y="0"/>
                  </a:lnTo>
                  <a:close/>
                </a:path>
              </a:pathLst>
            </a:custGeom>
            <a:blipFill>
              <a:blip r:embed="rId2"/>
              <a:stretch>
                <a:fillRect/>
              </a:stretch>
            </a:blipFill>
          </p:spPr>
        </p:sp>
        <p:pic>
          <p:nvPicPr>
            <p:cNvPr id="32" name="Picture 3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953" y="182"/>
              <a:ext cx="1920" cy="1604"/>
            </a:xfrm>
            <a:prstGeom prst="rect">
              <a:avLst/>
            </a:prstGeom>
          </p:spPr>
        </p:pic>
      </p:grpSp>
      <p:sp>
        <p:nvSpPr>
          <p:cNvPr id="33" name="Google Shape;49;p5"/>
          <p:cNvSpPr/>
          <p:nvPr/>
        </p:nvSpPr>
        <p:spPr>
          <a:xfrm>
            <a:off x="1" y="4669044"/>
            <a:ext cx="9144000" cy="480060"/>
          </a:xfrm>
          <a:prstGeom prst="rect">
            <a:avLst/>
          </a:prstGeom>
          <a:solidFill>
            <a:srgbClr val="FFC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5;p4"/>
          <p:cNvSpPr/>
          <p:nvPr/>
        </p:nvSpPr>
        <p:spPr>
          <a:xfrm>
            <a:off x="457200" y="4709160"/>
            <a:ext cx="640080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ADCFC"/>
              </a:buClr>
              <a:buSzPts val="900"/>
              <a:buFont typeface="Calibri"/>
              <a:buNone/>
            </a:pPr>
            <a:r>
              <a:rPr lang="en-US" sz="900" b="0" i="0" u="none" strike="noStrike" cap="none" dirty="0">
                <a:solidFill>
                  <a:srgbClr val="CADCFC"/>
                </a:solidFill>
                <a:latin typeface="Calibri"/>
                <a:ea typeface="Calibri"/>
                <a:cs typeface="Calibri"/>
                <a:sym typeface="Calibri"/>
              </a:rPr>
              <a:t>MINDEF - Direction des </a:t>
            </a:r>
            <a:r>
              <a:rPr lang="en-US" sz="900" b="0" i="0" u="none" strike="noStrike" cap="none" dirty="0" err="1">
                <a:solidFill>
                  <a:srgbClr val="CADCFC"/>
                </a:solidFill>
                <a:latin typeface="Calibri"/>
                <a:ea typeface="Calibri"/>
                <a:cs typeface="Calibri"/>
                <a:sym typeface="Calibri"/>
              </a:rPr>
              <a:t>Ressources</a:t>
            </a:r>
            <a:r>
              <a:rPr lang="en-US" sz="900" b="0" i="0" u="none" strike="noStrike" cap="none" dirty="0">
                <a:solidFill>
                  <a:srgbClr val="CADCFC"/>
                </a:solidFill>
                <a:latin typeface="Calibri"/>
                <a:ea typeface="Calibri"/>
                <a:cs typeface="Calibri"/>
                <a:sym typeface="Calibri"/>
              </a:rPr>
              <a:t> </a:t>
            </a:r>
            <a:r>
              <a:rPr lang="en-US" sz="900" b="0" i="0" u="none" strike="noStrike" cap="none" dirty="0" err="1">
                <a:solidFill>
                  <a:srgbClr val="CADCFC"/>
                </a:solidFill>
                <a:latin typeface="Calibri"/>
                <a:ea typeface="Calibri"/>
                <a:cs typeface="Calibri"/>
                <a:sym typeface="Calibri"/>
              </a:rPr>
              <a:t>Humaines</a:t>
            </a:r>
            <a:endParaRPr sz="900" b="0" i="0" u="none" strike="noStrike" cap="none" dirty="0">
              <a:solidFill>
                <a:schemeClr val="dk1"/>
              </a:solidFill>
              <a:latin typeface="Calibri"/>
              <a:ea typeface="Calibri"/>
              <a:cs typeface="Calibri"/>
              <a:sym typeface="Calibri"/>
            </a:endParaRPr>
          </a:p>
        </p:txBody>
      </p:sp>
      <p:sp>
        <p:nvSpPr>
          <p:cNvPr id="35" name="Google Shape;36;p4"/>
          <p:cNvSpPr/>
          <p:nvPr/>
        </p:nvSpPr>
        <p:spPr>
          <a:xfrm>
            <a:off x="7772400" y="4709160"/>
            <a:ext cx="914400" cy="365760"/>
          </a:xfrm>
          <a:prstGeom prst="rect">
            <a:avLst/>
          </a:prstGeom>
          <a:noFill/>
          <a:ln>
            <a:noFill/>
          </a:ln>
        </p:spPr>
        <p:txBody>
          <a:bodyPr spcFirstLastPara="1" wrap="square" lIns="91425" tIns="45700" rIns="91425" bIns="45700" anchor="ctr" anchorCtr="0">
            <a:noAutofit/>
          </a:bodyPr>
          <a:lstStyle/>
          <a:p>
            <a:pPr lvl="0" algn="r">
              <a:buClr>
                <a:srgbClr val="CADCFC"/>
              </a:buClr>
              <a:buSzPts val="900"/>
            </a:pPr>
            <a:r>
              <a:rPr lang="en-US" sz="900" dirty="0">
                <a:solidFill>
                  <a:srgbClr val="CADCFC"/>
                </a:solidFill>
                <a:latin typeface="Calibri"/>
                <a:ea typeface="Calibri"/>
                <a:cs typeface="Calibri"/>
                <a:sym typeface="Calibri"/>
              </a:rPr>
              <a:t>21</a:t>
            </a:r>
            <a:r>
              <a:rPr lang="en-US" sz="900" b="0" i="0" u="none" strike="noStrike" cap="none" dirty="0">
                <a:solidFill>
                  <a:srgbClr val="CADCFC"/>
                </a:solidFill>
                <a:latin typeface="Calibri"/>
                <a:ea typeface="Calibri"/>
                <a:cs typeface="Calibri"/>
                <a:sym typeface="Calibri"/>
              </a:rPr>
              <a:t> / </a:t>
            </a:r>
            <a:r>
              <a:rPr lang="en-US" sz="900" dirty="0">
                <a:solidFill>
                  <a:srgbClr val="CADCFC"/>
                </a:solidFill>
                <a:latin typeface="Calibri"/>
                <a:ea typeface="Calibri"/>
                <a:cs typeface="Calibri"/>
                <a:sym typeface="Calibri"/>
              </a:rPr>
              <a:t>27</a:t>
            </a:r>
            <a:endParaRPr lang="en-US" sz="9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045913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9143771" cy="82296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 name="TextBox 2"/>
          <p:cNvSpPr txBox="1"/>
          <p:nvPr/>
        </p:nvSpPr>
        <p:spPr>
          <a:xfrm>
            <a:off x="2134275" y="203731"/>
            <a:ext cx="4673074" cy="415498"/>
          </a:xfrm>
          <a:prstGeom prst="rect">
            <a:avLst/>
          </a:prstGeom>
          <a:noFill/>
        </p:spPr>
        <p:txBody>
          <a:bodyPr wrap="none">
            <a:spAutoFit/>
          </a:bodyPr>
          <a:lstStyle/>
          <a:p>
            <a:pPr>
              <a:defRPr sz="2800" b="1">
                <a:solidFill>
                  <a:srgbClr val="FFFFFF"/>
                </a:solidFill>
              </a:defRPr>
            </a:pPr>
            <a:r>
              <a:rPr sz="2100" dirty="0">
                <a:latin typeface="Calibri" panose="020F0502020204030204" pitchFamily="34" charset="0"/>
                <a:cs typeface="Calibri" panose="020F0502020204030204" pitchFamily="34" charset="0"/>
              </a:rPr>
              <a:t>VALEUR AJOUTÉE DU SYSTÈME INTÉGRÉ</a:t>
            </a:r>
          </a:p>
        </p:txBody>
      </p:sp>
      <p:sp>
        <p:nvSpPr>
          <p:cNvPr id="4" name="TextBox 3"/>
          <p:cNvSpPr txBox="1"/>
          <p:nvPr/>
        </p:nvSpPr>
        <p:spPr>
          <a:xfrm>
            <a:off x="342900" y="1028701"/>
            <a:ext cx="8229600" cy="1023357"/>
          </a:xfrm>
          <a:prstGeom prst="rect">
            <a:avLst/>
          </a:prstGeom>
          <a:noFill/>
        </p:spPr>
        <p:txBody>
          <a:bodyPr wrap="square">
            <a:spAutoFit/>
          </a:bodyPr>
          <a:lstStyle/>
          <a:p>
            <a:pPr algn="just">
              <a:defRPr sz="1600">
                <a:solidFill>
                  <a:srgbClr val="1A202C"/>
                </a:solidFill>
              </a:defRPr>
            </a:pPr>
            <a:r>
              <a:rPr lang="fr-FR" sz="1200" dirty="0">
                <a:latin typeface="Calibri" panose="020F0502020204030204" pitchFamily="34" charset="0"/>
                <a:cs typeface="Calibri" panose="020F0502020204030204" pitchFamily="34" charset="0"/>
              </a:rPr>
              <a:t>	</a:t>
            </a:r>
            <a:r>
              <a:rPr sz="1200" dirty="0">
                <a:latin typeface="Calibri" panose="020F0502020204030204" pitchFamily="34" charset="0"/>
                <a:cs typeface="Calibri" panose="020F0502020204030204" pitchFamily="34" charset="0"/>
              </a:rPr>
              <a:t>La force de </a:t>
            </a:r>
            <a:r>
              <a:rPr sz="1200" dirty="0" err="1">
                <a:latin typeface="Calibri" panose="020F0502020204030204" pitchFamily="34" charset="0"/>
                <a:cs typeface="Calibri" panose="020F0502020204030204" pitchFamily="34" charset="0"/>
              </a:rPr>
              <a:t>cette</a:t>
            </a:r>
            <a:r>
              <a:rPr sz="1200" dirty="0">
                <a:latin typeface="Calibri" panose="020F0502020204030204" pitchFamily="34" charset="0"/>
                <a:cs typeface="Calibri" panose="020F0502020204030204" pitchFamily="34" charset="0"/>
              </a:rPr>
              <a:t> solution </a:t>
            </a:r>
            <a:r>
              <a:rPr sz="1200" dirty="0" err="1">
                <a:latin typeface="Calibri" panose="020F0502020204030204" pitchFamily="34" charset="0"/>
                <a:cs typeface="Calibri" panose="020F0502020204030204" pitchFamily="34" charset="0"/>
              </a:rPr>
              <a:t>réside</a:t>
            </a:r>
            <a:r>
              <a:rPr sz="1200" dirty="0">
                <a:latin typeface="Calibri" panose="020F0502020204030204" pitchFamily="34" charset="0"/>
                <a:cs typeface="Calibri" panose="020F0502020204030204" pitchFamily="34" charset="0"/>
              </a:rPr>
              <a:t> </a:t>
            </a:r>
            <a:r>
              <a:rPr sz="1200" dirty="0" err="1">
                <a:latin typeface="Calibri" panose="020F0502020204030204" pitchFamily="34" charset="0"/>
                <a:cs typeface="Calibri" panose="020F0502020204030204" pitchFamily="34" charset="0"/>
              </a:rPr>
              <a:t>dans</a:t>
            </a:r>
            <a:r>
              <a:rPr sz="1200" dirty="0">
                <a:latin typeface="Calibri" panose="020F0502020204030204" pitchFamily="34" charset="0"/>
                <a:cs typeface="Calibri" panose="020F0502020204030204" pitchFamily="34" charset="0"/>
              </a:rPr>
              <a:t> </a:t>
            </a:r>
            <a:r>
              <a:rPr sz="1200" dirty="0" err="1">
                <a:latin typeface="Calibri" panose="020F0502020204030204" pitchFamily="34" charset="0"/>
                <a:cs typeface="Calibri" panose="020F0502020204030204" pitchFamily="34" charset="0"/>
              </a:rPr>
              <a:t>sa</a:t>
            </a:r>
            <a:r>
              <a:rPr sz="1200" dirty="0">
                <a:latin typeface="Calibri" panose="020F0502020204030204" pitchFamily="34" charset="0"/>
                <a:cs typeface="Calibri" panose="020F0502020204030204" pitchFamily="34" charset="0"/>
              </a:rPr>
              <a:t> </a:t>
            </a:r>
            <a:r>
              <a:rPr sz="1200" dirty="0" err="1">
                <a:latin typeface="Calibri" panose="020F0502020204030204" pitchFamily="34" charset="0"/>
                <a:cs typeface="Calibri" panose="020F0502020204030204" pitchFamily="34" charset="0"/>
              </a:rPr>
              <a:t>capacité</a:t>
            </a:r>
            <a:r>
              <a:rPr sz="1200" dirty="0">
                <a:latin typeface="Calibri" panose="020F0502020204030204" pitchFamily="34" charset="0"/>
                <a:cs typeface="Calibri" panose="020F0502020204030204" pitchFamily="34" charset="0"/>
              </a:rPr>
              <a:t> à transformer des </a:t>
            </a:r>
            <a:r>
              <a:rPr sz="1200" dirty="0" err="1">
                <a:latin typeface="Calibri" panose="020F0502020204030204" pitchFamily="34" charset="0"/>
                <a:cs typeface="Calibri" panose="020F0502020204030204" pitchFamily="34" charset="0"/>
              </a:rPr>
              <a:t>outils</a:t>
            </a:r>
            <a:r>
              <a:rPr sz="1200" dirty="0">
                <a:latin typeface="Calibri" panose="020F0502020204030204" pitchFamily="34" charset="0"/>
                <a:cs typeface="Calibri" panose="020F0502020204030204" pitchFamily="34" charset="0"/>
              </a:rPr>
              <a:t> de </a:t>
            </a:r>
            <a:r>
              <a:rPr sz="1200" dirty="0" err="1">
                <a:latin typeface="Calibri" panose="020F0502020204030204" pitchFamily="34" charset="0"/>
                <a:cs typeface="Calibri" panose="020F0502020204030204" pitchFamily="34" charset="0"/>
              </a:rPr>
              <a:t>gestion</a:t>
            </a:r>
            <a:r>
              <a:rPr sz="1200" dirty="0">
                <a:latin typeface="Calibri" panose="020F0502020204030204" pitchFamily="34" charset="0"/>
                <a:cs typeface="Calibri" panose="020F0502020204030204" pitchFamily="34" charset="0"/>
              </a:rPr>
              <a:t> </a:t>
            </a:r>
            <a:r>
              <a:rPr sz="1200" dirty="0" err="1">
                <a:latin typeface="Calibri" panose="020F0502020204030204" pitchFamily="34" charset="0"/>
                <a:cs typeface="Calibri" panose="020F0502020204030204" pitchFamily="34" charset="0"/>
              </a:rPr>
              <a:t>spécialisés</a:t>
            </a:r>
            <a:r>
              <a:rPr sz="1200" dirty="0">
                <a:latin typeface="Calibri" panose="020F0502020204030204" pitchFamily="34" charset="0"/>
                <a:cs typeface="Calibri" panose="020F0502020204030204" pitchFamily="34" charset="0"/>
              </a:rPr>
              <a:t> en un </a:t>
            </a:r>
            <a:r>
              <a:rPr sz="1200" dirty="0" err="1">
                <a:latin typeface="Calibri" panose="020F0502020204030204" pitchFamily="34" charset="0"/>
                <a:cs typeface="Calibri" panose="020F0502020204030204" pitchFamily="34" charset="0"/>
              </a:rPr>
              <a:t>véritable</a:t>
            </a:r>
            <a:r>
              <a:rPr sz="1200" dirty="0">
                <a:latin typeface="Calibri" panose="020F0502020204030204" pitchFamily="34" charset="0"/>
                <a:cs typeface="Calibri" panose="020F0502020204030204" pitchFamily="34" charset="0"/>
              </a:rPr>
              <a:t> </a:t>
            </a:r>
            <a:r>
              <a:rPr sz="1200" dirty="0" err="1">
                <a:latin typeface="Calibri" panose="020F0502020204030204" pitchFamily="34" charset="0"/>
                <a:cs typeface="Calibri" panose="020F0502020204030204" pitchFamily="34" charset="0"/>
              </a:rPr>
              <a:t>système</a:t>
            </a:r>
            <a:r>
              <a:rPr sz="1200" dirty="0">
                <a:latin typeface="Calibri" panose="020F0502020204030204" pitchFamily="34" charset="0"/>
                <a:cs typeface="Calibri" panose="020F0502020204030204" pitchFamily="34" charset="0"/>
              </a:rPr>
              <a:t> </a:t>
            </a:r>
            <a:r>
              <a:rPr sz="1200" dirty="0" err="1">
                <a:latin typeface="Calibri" panose="020F0502020204030204" pitchFamily="34" charset="0"/>
                <a:cs typeface="Calibri" panose="020F0502020204030204" pitchFamily="34" charset="0"/>
              </a:rPr>
              <a:t>d'aide</a:t>
            </a:r>
            <a:r>
              <a:rPr sz="1200" dirty="0">
                <a:latin typeface="Calibri" panose="020F0502020204030204" pitchFamily="34" charset="0"/>
                <a:cs typeface="Calibri" panose="020F0502020204030204" pitchFamily="34" charset="0"/>
              </a:rPr>
              <a:t> à la </a:t>
            </a:r>
            <a:r>
              <a:rPr sz="1200" dirty="0" err="1">
                <a:latin typeface="Calibri" panose="020F0502020204030204" pitchFamily="34" charset="0"/>
                <a:cs typeface="Calibri" panose="020F0502020204030204" pitchFamily="34" charset="0"/>
              </a:rPr>
              <a:t>décision</a:t>
            </a:r>
            <a:r>
              <a:rPr sz="1200" dirty="0">
                <a:latin typeface="Calibri" panose="020F0502020204030204" pitchFamily="34" charset="0"/>
                <a:cs typeface="Calibri" panose="020F0502020204030204" pitchFamily="34" charset="0"/>
              </a:rPr>
              <a:t> </a:t>
            </a:r>
            <a:r>
              <a:rPr sz="1200" dirty="0" err="1">
                <a:latin typeface="Calibri" panose="020F0502020204030204" pitchFamily="34" charset="0"/>
                <a:cs typeface="Calibri" panose="020F0502020204030204" pitchFamily="34" charset="0"/>
              </a:rPr>
              <a:t>intégré</a:t>
            </a:r>
            <a:r>
              <a:rPr sz="1200" dirty="0">
                <a:latin typeface="Calibri" panose="020F0502020204030204" pitchFamily="34" charset="0"/>
                <a:cs typeface="Calibri" panose="020F0502020204030204" pitchFamily="34" charset="0"/>
              </a:rPr>
              <a:t>.</a:t>
            </a:r>
          </a:p>
          <a:p>
            <a:pPr algn="just">
              <a:spcBef>
                <a:spcPts val="600"/>
              </a:spcBef>
            </a:pPr>
            <a:endParaRPr sz="1050" dirty="0">
              <a:latin typeface="Calibri" panose="020F0502020204030204" pitchFamily="34" charset="0"/>
              <a:cs typeface="Calibri" panose="020F0502020204030204" pitchFamily="34" charset="0"/>
            </a:endParaRPr>
          </a:p>
          <a:p>
            <a:pPr algn="just">
              <a:defRPr sz="1400" i="1">
                <a:solidFill>
                  <a:srgbClr val="3C3C3C"/>
                </a:solidFill>
              </a:defRPr>
            </a:pPr>
            <a:r>
              <a:rPr lang="fr-FR" sz="1050" dirty="0">
                <a:latin typeface="Calibri" panose="020F0502020204030204" pitchFamily="34" charset="0"/>
                <a:cs typeface="Calibri" panose="020F0502020204030204" pitchFamily="34" charset="0"/>
              </a:rPr>
              <a:t>	</a:t>
            </a:r>
            <a:r>
              <a:rPr sz="1050" dirty="0">
                <a:latin typeface="Calibri" panose="020F0502020204030204" pitchFamily="34" charset="0"/>
                <a:cs typeface="Calibri" panose="020F0502020204030204" pitchFamily="34" charset="0"/>
              </a:rPr>
              <a:t>En </a:t>
            </a:r>
            <a:r>
              <a:rPr sz="1050" dirty="0" err="1">
                <a:latin typeface="Calibri" panose="020F0502020204030204" pitchFamily="34" charset="0"/>
                <a:cs typeface="Calibri" panose="020F0502020204030204" pitchFamily="34" charset="0"/>
              </a:rPr>
              <a:t>plaçant</a:t>
            </a:r>
            <a:r>
              <a:rPr sz="1050" dirty="0">
                <a:latin typeface="Calibri" panose="020F0502020204030204" pitchFamily="34" charset="0"/>
                <a:cs typeface="Calibri" panose="020F0502020204030204" pitchFamily="34" charset="0"/>
              </a:rPr>
              <a:t> GESMIL 2.0 au </a:t>
            </a:r>
            <a:r>
              <a:rPr sz="1050" dirty="0" err="1">
                <a:latin typeface="Calibri" panose="020F0502020204030204" pitchFamily="34" charset="0"/>
                <a:cs typeface="Calibri" panose="020F0502020204030204" pitchFamily="34" charset="0"/>
              </a:rPr>
              <a:t>centre</a:t>
            </a:r>
            <a:r>
              <a:rPr sz="1050" dirty="0">
                <a:latin typeface="Calibri" panose="020F0502020204030204" pitchFamily="34" charset="0"/>
                <a:cs typeface="Calibri" panose="020F0502020204030204" pitchFamily="34" charset="0"/>
              </a:rPr>
              <a:t> de </a:t>
            </a:r>
            <a:r>
              <a:rPr sz="1050" dirty="0" err="1">
                <a:latin typeface="Calibri" panose="020F0502020204030204" pitchFamily="34" charset="0"/>
                <a:cs typeface="Calibri" panose="020F0502020204030204" pitchFamily="34" charset="0"/>
              </a:rPr>
              <a:t>l'architecture</a:t>
            </a:r>
            <a:r>
              <a:rPr sz="1050" dirty="0">
                <a:latin typeface="Calibri" panose="020F0502020204030204" pitchFamily="34" charset="0"/>
                <a:cs typeface="Calibri" panose="020F0502020204030204" pitchFamily="34" charset="0"/>
              </a:rPr>
              <a:t> et en </a:t>
            </a:r>
            <a:r>
              <a:rPr sz="1050" dirty="0" err="1">
                <a:latin typeface="Calibri" panose="020F0502020204030204" pitchFamily="34" charset="0"/>
                <a:cs typeface="Calibri" panose="020F0502020204030204" pitchFamily="34" charset="0"/>
              </a:rPr>
              <a:t>automatisant</a:t>
            </a:r>
            <a:r>
              <a:rPr sz="1050" dirty="0">
                <a:latin typeface="Calibri" panose="020F0502020204030204" pitchFamily="34" charset="0"/>
                <a:cs typeface="Calibri" panose="020F0502020204030204" pitchFamily="34" charset="0"/>
              </a:rPr>
              <a:t> le passage du dossier de </a:t>
            </a:r>
            <a:r>
              <a:rPr sz="1050" dirty="0" err="1">
                <a:latin typeface="Calibri" panose="020F0502020204030204" pitchFamily="34" charset="0"/>
                <a:cs typeface="Calibri" panose="020F0502020204030204" pitchFamily="34" charset="0"/>
              </a:rPr>
              <a:t>campagne</a:t>
            </a:r>
            <a:r>
              <a:rPr sz="1050" dirty="0">
                <a:latin typeface="Calibri" panose="020F0502020204030204" pitchFamily="34" charset="0"/>
                <a:cs typeface="Calibri" panose="020F0502020204030204" pitchFamily="34" charset="0"/>
              </a:rPr>
              <a:t> </a:t>
            </a:r>
            <a:r>
              <a:rPr sz="1050" dirty="0" err="1">
                <a:latin typeface="Calibri" panose="020F0502020204030204" pitchFamily="34" charset="0"/>
                <a:cs typeface="Calibri" panose="020F0502020204030204" pitchFamily="34" charset="0"/>
              </a:rPr>
              <a:t>vers</a:t>
            </a:r>
            <a:r>
              <a:rPr sz="1050" dirty="0">
                <a:latin typeface="Calibri" panose="020F0502020204030204" pitchFamily="34" charset="0"/>
                <a:cs typeface="Calibri" panose="020F0502020204030204" pitchFamily="34" charset="0"/>
              </a:rPr>
              <a:t> </a:t>
            </a:r>
            <a:r>
              <a:rPr sz="1050" dirty="0" err="1">
                <a:latin typeface="Calibri" panose="020F0502020204030204" pitchFamily="34" charset="0"/>
                <a:cs typeface="Calibri" panose="020F0502020204030204" pitchFamily="34" charset="0"/>
              </a:rPr>
              <a:t>l'archive</a:t>
            </a:r>
            <a:r>
              <a:rPr sz="1050" dirty="0">
                <a:latin typeface="Calibri" panose="020F0502020204030204" pitchFamily="34" charset="0"/>
                <a:cs typeface="Calibri" panose="020F0502020204030204" pitchFamily="34" charset="0"/>
              </a:rPr>
              <a:t> </a:t>
            </a:r>
            <a:r>
              <a:rPr sz="1050" dirty="0" err="1">
                <a:latin typeface="Calibri" panose="020F0502020204030204" pitchFamily="34" charset="0"/>
                <a:cs typeface="Calibri" panose="020F0502020204030204" pitchFamily="34" charset="0"/>
              </a:rPr>
              <a:t>pérenne</a:t>
            </a:r>
            <a:r>
              <a:rPr sz="1050" dirty="0">
                <a:latin typeface="Calibri" panose="020F0502020204030204" pitchFamily="34" charset="0"/>
                <a:cs typeface="Calibri" panose="020F0502020204030204" pitchFamily="34" charset="0"/>
              </a:rPr>
              <a:t> </a:t>
            </a:r>
            <a:r>
              <a:rPr sz="1050" dirty="0" err="1">
                <a:latin typeface="Calibri" panose="020F0502020204030204" pitchFamily="34" charset="0"/>
                <a:cs typeface="Calibri" panose="020F0502020204030204" pitchFamily="34" charset="0"/>
              </a:rPr>
              <a:t>dans</a:t>
            </a:r>
            <a:r>
              <a:rPr sz="1050" dirty="0">
                <a:latin typeface="Calibri" panose="020F0502020204030204" pitchFamily="34" charset="0"/>
                <a:cs typeface="Calibri" panose="020F0502020204030204" pitchFamily="34" charset="0"/>
              </a:rPr>
              <a:t> SIADOC, le </a:t>
            </a:r>
            <a:r>
              <a:rPr sz="1050" dirty="0" err="1">
                <a:latin typeface="Calibri" panose="020F0502020204030204" pitchFamily="34" charset="0"/>
                <a:cs typeface="Calibri" panose="020F0502020204030204" pitchFamily="34" charset="0"/>
              </a:rPr>
              <a:t>Ministère</a:t>
            </a:r>
            <a:r>
              <a:rPr sz="1050" dirty="0">
                <a:latin typeface="Calibri" panose="020F0502020204030204" pitchFamily="34" charset="0"/>
                <a:cs typeface="Calibri" panose="020F0502020204030204" pitchFamily="34" charset="0"/>
              </a:rPr>
              <a:t> de la </a:t>
            </a:r>
            <a:r>
              <a:rPr sz="1050" dirty="0" err="1">
                <a:latin typeface="Calibri" panose="020F0502020204030204" pitchFamily="34" charset="0"/>
                <a:cs typeface="Calibri" panose="020F0502020204030204" pitchFamily="34" charset="0"/>
              </a:rPr>
              <a:t>Défense</a:t>
            </a:r>
            <a:r>
              <a:rPr sz="1050" dirty="0">
                <a:latin typeface="Calibri" panose="020F0502020204030204" pitchFamily="34" charset="0"/>
                <a:cs typeface="Calibri" panose="020F0502020204030204" pitchFamily="34" charset="0"/>
              </a:rPr>
              <a:t> se dote </a:t>
            </a:r>
            <a:r>
              <a:rPr sz="1050" dirty="0" err="1">
                <a:latin typeface="Calibri" panose="020F0502020204030204" pitchFamily="34" charset="0"/>
                <a:cs typeface="Calibri" panose="020F0502020204030204" pitchFamily="34" charset="0"/>
              </a:rPr>
              <a:t>d'une</a:t>
            </a:r>
            <a:r>
              <a:rPr sz="1050" dirty="0">
                <a:latin typeface="Calibri" panose="020F0502020204030204" pitchFamily="34" charset="0"/>
                <a:cs typeface="Calibri" panose="020F0502020204030204" pitchFamily="34" charset="0"/>
              </a:rPr>
              <a:t> </a:t>
            </a:r>
            <a:r>
              <a:rPr sz="1050" dirty="0" err="1">
                <a:latin typeface="Calibri" panose="020F0502020204030204" pitchFamily="34" charset="0"/>
                <a:cs typeface="Calibri" panose="020F0502020204030204" pitchFamily="34" charset="0"/>
              </a:rPr>
              <a:t>mémoire</a:t>
            </a:r>
            <a:r>
              <a:rPr sz="1050" dirty="0">
                <a:latin typeface="Calibri" panose="020F0502020204030204" pitchFamily="34" charset="0"/>
                <a:cs typeface="Calibri" panose="020F0502020204030204" pitchFamily="34" charset="0"/>
              </a:rPr>
              <a:t> </a:t>
            </a:r>
            <a:r>
              <a:rPr sz="1050" dirty="0" err="1">
                <a:latin typeface="Calibri" panose="020F0502020204030204" pitchFamily="34" charset="0"/>
                <a:cs typeface="Calibri" panose="020F0502020204030204" pitchFamily="34" charset="0"/>
              </a:rPr>
              <a:t>numérique</a:t>
            </a:r>
            <a:r>
              <a:rPr sz="1050" dirty="0">
                <a:latin typeface="Calibri" panose="020F0502020204030204" pitchFamily="34" charset="0"/>
                <a:cs typeface="Calibri" panose="020F0502020204030204" pitchFamily="34" charset="0"/>
              </a:rPr>
              <a:t> </a:t>
            </a:r>
            <a:r>
              <a:rPr sz="1050" dirty="0" err="1">
                <a:latin typeface="Calibri" panose="020F0502020204030204" pitchFamily="34" charset="0"/>
                <a:cs typeface="Calibri" panose="020F0502020204030204" pitchFamily="34" charset="0"/>
              </a:rPr>
              <a:t>infaillible</a:t>
            </a:r>
            <a:r>
              <a:rPr sz="1050" dirty="0">
                <a:latin typeface="Calibri" panose="020F0502020204030204" pitchFamily="34" charset="0"/>
                <a:cs typeface="Calibri" panose="020F0502020204030204" pitchFamily="34" charset="0"/>
              </a:rPr>
              <a:t>.</a:t>
            </a:r>
          </a:p>
        </p:txBody>
      </p:sp>
      <p:sp>
        <p:nvSpPr>
          <p:cNvPr id="5" name="Rounded Rectangle 4"/>
          <p:cNvSpPr/>
          <p:nvPr/>
        </p:nvSpPr>
        <p:spPr>
          <a:xfrm>
            <a:off x="342900" y="2217420"/>
            <a:ext cx="4114800" cy="2425168"/>
          </a:xfrm>
          <a:prstGeom prst="round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6" name="TextBox 5"/>
          <p:cNvSpPr txBox="1"/>
          <p:nvPr/>
        </p:nvSpPr>
        <p:spPr>
          <a:xfrm>
            <a:off x="480061" y="2400300"/>
            <a:ext cx="1739579" cy="300082"/>
          </a:xfrm>
          <a:prstGeom prst="rect">
            <a:avLst/>
          </a:prstGeom>
          <a:noFill/>
        </p:spPr>
        <p:txBody>
          <a:bodyPr wrap="none">
            <a:spAutoFit/>
          </a:bodyPr>
          <a:lstStyle/>
          <a:p>
            <a:pPr>
              <a:defRPr sz="1800" b="1">
                <a:solidFill>
                  <a:srgbClr val="FFFFFF"/>
                </a:solidFill>
              </a:defRPr>
            </a:pPr>
            <a:r>
              <a:rPr sz="1350" dirty="0">
                <a:latin typeface="Calibri" panose="020F0502020204030204" pitchFamily="34" charset="0"/>
                <a:cs typeface="Calibri" panose="020F0502020204030204" pitchFamily="34" charset="0"/>
              </a:rPr>
              <a:t>POUR LES MILITAIRES</a:t>
            </a:r>
          </a:p>
        </p:txBody>
      </p:sp>
      <p:sp>
        <p:nvSpPr>
          <p:cNvPr id="7" name="TextBox 6"/>
          <p:cNvSpPr txBox="1"/>
          <p:nvPr/>
        </p:nvSpPr>
        <p:spPr>
          <a:xfrm>
            <a:off x="548640" y="2880360"/>
            <a:ext cx="3703320" cy="242374"/>
          </a:xfrm>
          <a:prstGeom prst="rect">
            <a:avLst/>
          </a:prstGeom>
          <a:noFill/>
        </p:spPr>
        <p:txBody>
          <a:bodyPr wrap="square">
            <a:spAutoFit/>
          </a:bodyPr>
          <a:lstStyle/>
          <a:p>
            <a:pPr>
              <a:defRPr sz="1300">
                <a:solidFill>
                  <a:srgbClr val="FFFFFF"/>
                </a:solidFill>
              </a:defRPr>
            </a:pPr>
            <a:r>
              <a:rPr sz="975"/>
              <a:t>✓ Dossier personnel sécurisé et accessible</a:t>
            </a:r>
          </a:p>
        </p:txBody>
      </p:sp>
      <p:sp>
        <p:nvSpPr>
          <p:cNvPr id="8" name="TextBox 7"/>
          <p:cNvSpPr txBox="1"/>
          <p:nvPr/>
        </p:nvSpPr>
        <p:spPr>
          <a:xfrm>
            <a:off x="548640" y="3291840"/>
            <a:ext cx="3703320" cy="242374"/>
          </a:xfrm>
          <a:prstGeom prst="rect">
            <a:avLst/>
          </a:prstGeom>
          <a:noFill/>
        </p:spPr>
        <p:txBody>
          <a:bodyPr wrap="square">
            <a:spAutoFit/>
          </a:bodyPr>
          <a:lstStyle/>
          <a:p>
            <a:pPr>
              <a:defRPr sz="1300">
                <a:solidFill>
                  <a:srgbClr val="FFFFFF"/>
                </a:solidFill>
              </a:defRPr>
            </a:pPr>
            <a:r>
              <a:rPr sz="975"/>
              <a:t>✓ Traçabilité complète de la carrière</a:t>
            </a:r>
          </a:p>
        </p:txBody>
      </p:sp>
      <p:sp>
        <p:nvSpPr>
          <p:cNvPr id="9" name="TextBox 8"/>
          <p:cNvSpPr txBox="1"/>
          <p:nvPr/>
        </p:nvSpPr>
        <p:spPr>
          <a:xfrm>
            <a:off x="548640" y="3703320"/>
            <a:ext cx="3703320" cy="242374"/>
          </a:xfrm>
          <a:prstGeom prst="rect">
            <a:avLst/>
          </a:prstGeom>
          <a:noFill/>
        </p:spPr>
        <p:txBody>
          <a:bodyPr wrap="square">
            <a:spAutoFit/>
          </a:bodyPr>
          <a:lstStyle/>
          <a:p>
            <a:pPr>
              <a:defRPr sz="1300">
                <a:solidFill>
                  <a:srgbClr val="FFFFFF"/>
                </a:solidFill>
              </a:defRPr>
            </a:pPr>
            <a:r>
              <a:rPr sz="975"/>
              <a:t>✓ Protection des données confidentielles</a:t>
            </a:r>
          </a:p>
        </p:txBody>
      </p:sp>
      <p:sp>
        <p:nvSpPr>
          <p:cNvPr id="10" name="Rounded Rectangle 9"/>
          <p:cNvSpPr/>
          <p:nvPr/>
        </p:nvSpPr>
        <p:spPr>
          <a:xfrm>
            <a:off x="4800600" y="2263139"/>
            <a:ext cx="4114800" cy="2379449"/>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1" name="TextBox 10"/>
          <p:cNvSpPr txBox="1"/>
          <p:nvPr/>
        </p:nvSpPr>
        <p:spPr>
          <a:xfrm>
            <a:off x="4937760" y="2400300"/>
            <a:ext cx="2058577" cy="300082"/>
          </a:xfrm>
          <a:prstGeom prst="rect">
            <a:avLst/>
          </a:prstGeom>
          <a:noFill/>
        </p:spPr>
        <p:txBody>
          <a:bodyPr wrap="none">
            <a:spAutoFit/>
          </a:bodyPr>
          <a:lstStyle/>
          <a:p>
            <a:pPr>
              <a:defRPr sz="1800" b="1">
                <a:solidFill>
                  <a:srgbClr val="FFFFFF"/>
                </a:solidFill>
              </a:defRPr>
            </a:pPr>
            <a:r>
              <a:rPr sz="1350" dirty="0">
                <a:latin typeface="Calibri" panose="020F0502020204030204" pitchFamily="34" charset="0"/>
                <a:cs typeface="Calibri" panose="020F0502020204030204" pitchFamily="34" charset="0"/>
              </a:rPr>
              <a:t>POUR L'ADMINISTRATION</a:t>
            </a:r>
          </a:p>
        </p:txBody>
      </p:sp>
      <p:sp>
        <p:nvSpPr>
          <p:cNvPr id="12" name="TextBox 11"/>
          <p:cNvSpPr txBox="1"/>
          <p:nvPr/>
        </p:nvSpPr>
        <p:spPr>
          <a:xfrm>
            <a:off x="5006340" y="2880360"/>
            <a:ext cx="3703320" cy="242374"/>
          </a:xfrm>
          <a:prstGeom prst="rect">
            <a:avLst/>
          </a:prstGeom>
          <a:noFill/>
        </p:spPr>
        <p:txBody>
          <a:bodyPr wrap="square">
            <a:spAutoFit/>
          </a:bodyPr>
          <a:lstStyle/>
          <a:p>
            <a:pPr>
              <a:defRPr sz="1300">
                <a:solidFill>
                  <a:srgbClr val="FFFFFF"/>
                </a:solidFill>
              </a:defRPr>
            </a:pPr>
            <a:r>
              <a:rPr sz="975" dirty="0"/>
              <a:t>✓ </a:t>
            </a:r>
            <a:r>
              <a:rPr sz="975" dirty="0" err="1"/>
              <a:t>Modernisation</a:t>
            </a:r>
            <a:r>
              <a:rPr sz="975" dirty="0"/>
              <a:t> de la GRH </a:t>
            </a:r>
            <a:r>
              <a:rPr sz="975" dirty="0" err="1"/>
              <a:t>militaire</a:t>
            </a:r>
            <a:endParaRPr sz="975" dirty="0"/>
          </a:p>
        </p:txBody>
      </p:sp>
      <p:sp>
        <p:nvSpPr>
          <p:cNvPr id="13" name="TextBox 12"/>
          <p:cNvSpPr txBox="1"/>
          <p:nvPr/>
        </p:nvSpPr>
        <p:spPr>
          <a:xfrm>
            <a:off x="5006340" y="3291840"/>
            <a:ext cx="3703320" cy="242374"/>
          </a:xfrm>
          <a:prstGeom prst="rect">
            <a:avLst/>
          </a:prstGeom>
          <a:noFill/>
        </p:spPr>
        <p:txBody>
          <a:bodyPr wrap="square">
            <a:spAutoFit/>
          </a:bodyPr>
          <a:lstStyle/>
          <a:p>
            <a:pPr>
              <a:defRPr sz="1300">
                <a:solidFill>
                  <a:srgbClr val="FFFFFF"/>
                </a:solidFill>
              </a:defRPr>
            </a:pPr>
            <a:r>
              <a:rPr sz="975"/>
              <a:t>✓ Réduction des délais de traitement</a:t>
            </a:r>
          </a:p>
        </p:txBody>
      </p:sp>
      <p:sp>
        <p:nvSpPr>
          <p:cNvPr id="14" name="TextBox 13"/>
          <p:cNvSpPr txBox="1"/>
          <p:nvPr/>
        </p:nvSpPr>
        <p:spPr>
          <a:xfrm>
            <a:off x="5006340" y="3703320"/>
            <a:ext cx="3703320" cy="242374"/>
          </a:xfrm>
          <a:prstGeom prst="rect">
            <a:avLst/>
          </a:prstGeom>
          <a:noFill/>
        </p:spPr>
        <p:txBody>
          <a:bodyPr wrap="square">
            <a:spAutoFit/>
          </a:bodyPr>
          <a:lstStyle/>
          <a:p>
            <a:pPr>
              <a:defRPr sz="1300">
                <a:solidFill>
                  <a:srgbClr val="FFFFFF"/>
                </a:solidFill>
              </a:defRPr>
            </a:pPr>
            <a:r>
              <a:rPr sz="975"/>
              <a:t>✓ Élimination des pertes de documents</a:t>
            </a:r>
          </a:p>
        </p:txBody>
      </p:sp>
      <p:sp>
        <p:nvSpPr>
          <p:cNvPr id="15" name="TextBox 14"/>
          <p:cNvSpPr txBox="1"/>
          <p:nvPr/>
        </p:nvSpPr>
        <p:spPr>
          <a:xfrm>
            <a:off x="5006340" y="4114800"/>
            <a:ext cx="3703320" cy="242374"/>
          </a:xfrm>
          <a:prstGeom prst="rect">
            <a:avLst/>
          </a:prstGeom>
          <a:noFill/>
        </p:spPr>
        <p:txBody>
          <a:bodyPr wrap="square">
            <a:spAutoFit/>
          </a:bodyPr>
          <a:lstStyle/>
          <a:p>
            <a:pPr>
              <a:defRPr sz="1300">
                <a:solidFill>
                  <a:srgbClr val="FFFFFF"/>
                </a:solidFill>
              </a:defRPr>
            </a:pPr>
            <a:r>
              <a:rPr sz="975"/>
              <a:t>✓ Statistiques temps réel des effectifs</a:t>
            </a:r>
          </a:p>
        </p:txBody>
      </p:sp>
      <p:grpSp>
        <p:nvGrpSpPr>
          <p:cNvPr id="16" name="Group 32"/>
          <p:cNvGrpSpPr/>
          <p:nvPr/>
        </p:nvGrpSpPr>
        <p:grpSpPr>
          <a:xfrm>
            <a:off x="91440" y="0"/>
            <a:ext cx="9052560" cy="778837"/>
            <a:chOff x="330" y="182"/>
            <a:chExt cx="18543" cy="1604"/>
          </a:xfrm>
        </p:grpSpPr>
        <p:sp>
          <p:nvSpPr>
            <p:cNvPr id="17" name="Freeform 3"/>
            <p:cNvSpPr/>
            <p:nvPr/>
          </p:nvSpPr>
          <p:spPr>
            <a:xfrm>
              <a:off x="330" y="182"/>
              <a:ext cx="1640" cy="1604"/>
            </a:xfrm>
            <a:custGeom>
              <a:avLst/>
              <a:gdLst/>
              <a:ahLst/>
              <a:cxnLst/>
              <a:rect l="l" t="t" r="r" b="b"/>
              <a:pathLst>
                <a:path w="6263628" h="7097595">
                  <a:moveTo>
                    <a:pt x="0" y="0"/>
                  </a:moveTo>
                  <a:lnTo>
                    <a:pt x="6263628" y="0"/>
                  </a:lnTo>
                  <a:lnTo>
                    <a:pt x="6263628" y="7097595"/>
                  </a:lnTo>
                  <a:lnTo>
                    <a:pt x="0" y="7097595"/>
                  </a:lnTo>
                  <a:lnTo>
                    <a:pt x="0" y="0"/>
                  </a:lnTo>
                  <a:close/>
                </a:path>
              </a:pathLst>
            </a:custGeom>
            <a:blipFill>
              <a:blip r:embed="rId2"/>
              <a:stretch>
                <a:fillRect/>
              </a:stretch>
            </a:blipFill>
          </p:spPr>
        </p:sp>
        <p:pic>
          <p:nvPicPr>
            <p:cNvPr id="18" name="Picture 3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953" y="182"/>
              <a:ext cx="1920" cy="1604"/>
            </a:xfrm>
            <a:prstGeom prst="rect">
              <a:avLst/>
            </a:prstGeom>
          </p:spPr>
        </p:pic>
      </p:grpSp>
      <p:sp>
        <p:nvSpPr>
          <p:cNvPr id="19" name="Google Shape;49;p5"/>
          <p:cNvSpPr/>
          <p:nvPr/>
        </p:nvSpPr>
        <p:spPr>
          <a:xfrm>
            <a:off x="-228" y="4695034"/>
            <a:ext cx="9144000" cy="480060"/>
          </a:xfrm>
          <a:prstGeom prst="rect">
            <a:avLst/>
          </a:prstGeom>
          <a:solidFill>
            <a:srgbClr val="2E7D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35;p4"/>
          <p:cNvSpPr/>
          <p:nvPr/>
        </p:nvSpPr>
        <p:spPr>
          <a:xfrm>
            <a:off x="457200" y="4709160"/>
            <a:ext cx="640080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ADCFC"/>
              </a:buClr>
              <a:buSzPts val="900"/>
              <a:buFont typeface="Calibri"/>
              <a:buNone/>
            </a:pPr>
            <a:r>
              <a:rPr lang="en-US" sz="900" b="0" i="0" u="none" strike="noStrike" cap="none" dirty="0">
                <a:solidFill>
                  <a:srgbClr val="CADCFC"/>
                </a:solidFill>
                <a:latin typeface="Calibri"/>
                <a:ea typeface="Calibri"/>
                <a:cs typeface="Calibri"/>
                <a:sym typeface="Calibri"/>
              </a:rPr>
              <a:t>MINDEF - Direction des </a:t>
            </a:r>
            <a:r>
              <a:rPr lang="en-US" sz="900" b="0" i="0" u="none" strike="noStrike" cap="none" dirty="0" err="1">
                <a:solidFill>
                  <a:srgbClr val="CADCFC"/>
                </a:solidFill>
                <a:latin typeface="Calibri"/>
                <a:ea typeface="Calibri"/>
                <a:cs typeface="Calibri"/>
                <a:sym typeface="Calibri"/>
              </a:rPr>
              <a:t>Ressources</a:t>
            </a:r>
            <a:r>
              <a:rPr lang="en-US" sz="900" b="0" i="0" u="none" strike="noStrike" cap="none" dirty="0">
                <a:solidFill>
                  <a:srgbClr val="CADCFC"/>
                </a:solidFill>
                <a:latin typeface="Calibri"/>
                <a:ea typeface="Calibri"/>
                <a:cs typeface="Calibri"/>
                <a:sym typeface="Calibri"/>
              </a:rPr>
              <a:t> </a:t>
            </a:r>
            <a:r>
              <a:rPr lang="en-US" sz="900" b="0" i="0" u="none" strike="noStrike" cap="none" dirty="0" err="1">
                <a:solidFill>
                  <a:srgbClr val="CADCFC"/>
                </a:solidFill>
                <a:latin typeface="Calibri"/>
                <a:ea typeface="Calibri"/>
                <a:cs typeface="Calibri"/>
                <a:sym typeface="Calibri"/>
              </a:rPr>
              <a:t>Humaines</a:t>
            </a:r>
            <a:endParaRPr sz="900" b="0" i="0" u="none" strike="noStrike" cap="none" dirty="0">
              <a:solidFill>
                <a:schemeClr val="dk1"/>
              </a:solidFill>
              <a:latin typeface="Calibri"/>
              <a:ea typeface="Calibri"/>
              <a:cs typeface="Calibri"/>
              <a:sym typeface="Calibri"/>
            </a:endParaRPr>
          </a:p>
        </p:txBody>
      </p:sp>
      <p:sp>
        <p:nvSpPr>
          <p:cNvPr id="21" name="Google Shape;36;p4"/>
          <p:cNvSpPr/>
          <p:nvPr/>
        </p:nvSpPr>
        <p:spPr>
          <a:xfrm>
            <a:off x="7772400" y="4709160"/>
            <a:ext cx="914400" cy="365760"/>
          </a:xfrm>
          <a:prstGeom prst="rect">
            <a:avLst/>
          </a:prstGeom>
          <a:noFill/>
          <a:ln>
            <a:noFill/>
          </a:ln>
        </p:spPr>
        <p:txBody>
          <a:bodyPr spcFirstLastPara="1" wrap="square" lIns="91425" tIns="45700" rIns="91425" bIns="45700" anchor="ctr" anchorCtr="0">
            <a:noAutofit/>
          </a:bodyPr>
          <a:lstStyle/>
          <a:p>
            <a:pPr lvl="0" algn="r">
              <a:buClr>
                <a:srgbClr val="CADCFC"/>
              </a:buClr>
              <a:buSzPts val="900"/>
            </a:pPr>
            <a:r>
              <a:rPr lang="en-US" sz="900" dirty="0">
                <a:solidFill>
                  <a:srgbClr val="CADCFC"/>
                </a:solidFill>
                <a:latin typeface="Calibri"/>
                <a:ea typeface="Calibri"/>
                <a:cs typeface="Calibri"/>
                <a:sym typeface="Calibri"/>
              </a:rPr>
              <a:t>22</a:t>
            </a:r>
            <a:r>
              <a:rPr lang="en-US" sz="900" b="0" i="0" u="none" strike="noStrike" cap="none" dirty="0">
                <a:solidFill>
                  <a:srgbClr val="CADCFC"/>
                </a:solidFill>
                <a:latin typeface="Calibri"/>
                <a:ea typeface="Calibri"/>
                <a:cs typeface="Calibri"/>
                <a:sym typeface="Calibri"/>
              </a:rPr>
              <a:t> / </a:t>
            </a:r>
            <a:r>
              <a:rPr lang="en-US" sz="900" dirty="0">
                <a:solidFill>
                  <a:srgbClr val="CADCFC"/>
                </a:solidFill>
                <a:latin typeface="Calibri"/>
                <a:ea typeface="Calibri"/>
                <a:cs typeface="Calibri"/>
                <a:sym typeface="Calibri"/>
              </a:rPr>
              <a:t>27</a:t>
            </a:r>
            <a:endParaRPr lang="en-US" sz="9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3001049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1"/>
        <p:cNvGrpSpPr/>
        <p:nvPr/>
      </p:nvGrpSpPr>
      <p:grpSpPr>
        <a:xfrm>
          <a:off x="0" y="0"/>
          <a:ext cx="0" cy="0"/>
          <a:chOff x="0" y="0"/>
          <a:chExt cx="0" cy="0"/>
        </a:xfrm>
      </p:grpSpPr>
      <p:sp>
        <p:nvSpPr>
          <p:cNvPr id="32" name="Google Shape;32;p4"/>
          <p:cNvSpPr/>
          <p:nvPr/>
        </p:nvSpPr>
        <p:spPr>
          <a:xfrm>
            <a:off x="0" y="0"/>
            <a:ext cx="9144000" cy="914400"/>
          </a:xfrm>
          <a:prstGeom prst="rect">
            <a:avLst/>
          </a:prstGeom>
          <a:solidFill>
            <a:srgbClr val="C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4"/>
          <p:cNvSpPr/>
          <p:nvPr/>
        </p:nvSpPr>
        <p:spPr>
          <a:xfrm>
            <a:off x="457200" y="137160"/>
            <a:ext cx="8229600" cy="640080"/>
          </a:xfrm>
          <a:prstGeom prst="rect">
            <a:avLst/>
          </a:prstGeom>
          <a:noFill/>
          <a:ln>
            <a:noFill/>
          </a:ln>
        </p:spPr>
        <p:txBody>
          <a:bodyPr spcFirstLastPara="1" wrap="square" lIns="91425" tIns="45700" rIns="91425" bIns="45700" anchor="ctr" anchorCtr="0">
            <a:noAutofit/>
          </a:bodyPr>
          <a:lstStyle/>
          <a:p>
            <a:pPr algn="ctr"/>
            <a:r>
              <a:rPr lang="fr-FR" sz="2400" b="1" dirty="0">
                <a:solidFill>
                  <a:schemeClr val="bg1"/>
                </a:solidFill>
                <a:latin typeface="Calibri" panose="020F0502020204030204" pitchFamily="34" charset="0"/>
                <a:cs typeface="Calibri" panose="020F0502020204030204" pitchFamily="34" charset="0"/>
              </a:rPr>
              <a:t>ECOSYSTEME INTEGRE: GESMIL 2.0 </a:t>
            </a:r>
            <a:endParaRPr lang="fr-FR" sz="2400" dirty="0">
              <a:solidFill>
                <a:schemeClr val="bg1"/>
              </a:solidFill>
              <a:latin typeface="Calibri" panose="020F0502020204030204" pitchFamily="34" charset="0"/>
              <a:cs typeface="Calibri" panose="020F0502020204030204" pitchFamily="34" charset="0"/>
            </a:endParaRPr>
          </a:p>
        </p:txBody>
      </p:sp>
      <p:sp>
        <p:nvSpPr>
          <p:cNvPr id="34" name="Google Shape;34;p4"/>
          <p:cNvSpPr/>
          <p:nvPr/>
        </p:nvSpPr>
        <p:spPr>
          <a:xfrm>
            <a:off x="0" y="4663440"/>
            <a:ext cx="9144000" cy="480060"/>
          </a:xfrm>
          <a:prstGeom prst="rect">
            <a:avLst/>
          </a:prstGeom>
          <a:solidFill>
            <a:srgbClr val="C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4"/>
          <p:cNvSpPr/>
          <p:nvPr/>
        </p:nvSpPr>
        <p:spPr>
          <a:xfrm>
            <a:off x="457200" y="4709160"/>
            <a:ext cx="640080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ADCFC"/>
              </a:buClr>
              <a:buSzPts val="900"/>
              <a:buFont typeface="Calibri"/>
              <a:buNone/>
            </a:pPr>
            <a:r>
              <a:rPr lang="en-US" sz="900" b="0" i="0" u="none" strike="noStrike" cap="none">
                <a:solidFill>
                  <a:srgbClr val="CADCFC"/>
                </a:solidFill>
                <a:latin typeface="Calibri"/>
                <a:ea typeface="Calibri"/>
                <a:cs typeface="Calibri"/>
                <a:sym typeface="Calibri"/>
              </a:rPr>
              <a:t>MINDEF - Direction des Ressources Humaines</a:t>
            </a:r>
            <a:endParaRPr sz="900" b="0" i="0" u="none" strike="noStrike" cap="none">
              <a:solidFill>
                <a:schemeClr val="dk1"/>
              </a:solidFill>
              <a:latin typeface="Calibri"/>
              <a:ea typeface="Calibri"/>
              <a:cs typeface="Calibri"/>
              <a:sym typeface="Calibri"/>
            </a:endParaRPr>
          </a:p>
        </p:txBody>
      </p:sp>
      <p:sp>
        <p:nvSpPr>
          <p:cNvPr id="40" name="Google Shape;40;p4"/>
          <p:cNvSpPr/>
          <p:nvPr/>
        </p:nvSpPr>
        <p:spPr>
          <a:xfrm>
            <a:off x="457200" y="3891451"/>
            <a:ext cx="54864" cy="731520"/>
          </a:xfrm>
          <a:prstGeom prst="rect">
            <a:avLst/>
          </a:prstGeom>
          <a:solidFill>
            <a:srgbClr val="3A8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4"/>
          <p:cNvSpPr/>
          <p:nvPr/>
        </p:nvSpPr>
        <p:spPr>
          <a:xfrm>
            <a:off x="738720" y="3850982"/>
            <a:ext cx="7772400" cy="731520"/>
          </a:xfrm>
          <a:prstGeom prst="rect">
            <a:avLst/>
          </a:prstGeom>
          <a:noFill/>
          <a:ln>
            <a:noFill/>
          </a:ln>
        </p:spPr>
        <p:txBody>
          <a:bodyPr spcFirstLastPara="1" wrap="square" lIns="91425" tIns="45700" rIns="91425" bIns="45700" anchor="ctr" anchorCtr="0">
            <a:noAutofit/>
          </a:bodyPr>
          <a:lstStyle/>
          <a:p>
            <a:pPr lvl="0">
              <a:buClr>
                <a:srgbClr val="1E2761"/>
              </a:buClr>
              <a:buSzPts val="1300"/>
            </a:pPr>
            <a:r>
              <a:rPr lang="fr-FR" sz="1300" b="1" i="1" dirty="0">
                <a:solidFill>
                  <a:srgbClr val="1E2761"/>
                </a:solidFill>
                <a:latin typeface="Calibri" panose="020F0502020204030204" pitchFamily="34" charset="0"/>
                <a:cs typeface="Calibri" panose="020F0502020204030204" pitchFamily="34" charset="0"/>
              </a:rPr>
              <a:t>	Le projet ne doit pas être perçu comme une addition de logiciels isolés, mais comme une architecture unifiée où GESMIL 2.0 fait office de colonne </a:t>
            </a:r>
            <a:r>
              <a:rPr lang="fr-FR" sz="1300" b="1" i="1" dirty="0" err="1">
                <a:solidFill>
                  <a:srgbClr val="1E2761"/>
                </a:solidFill>
                <a:latin typeface="Calibri" panose="020F0502020204030204" pitchFamily="34" charset="0"/>
                <a:cs typeface="Calibri" panose="020F0502020204030204" pitchFamily="34" charset="0"/>
              </a:rPr>
              <a:t>verébrale</a:t>
            </a:r>
            <a:r>
              <a:rPr lang="fr-FR" sz="1300" b="1" i="1" dirty="0">
                <a:solidFill>
                  <a:srgbClr val="1E2761"/>
                </a:solidFill>
                <a:latin typeface="Calibri" panose="020F0502020204030204" pitchFamily="34" charset="0"/>
                <a:cs typeface="Calibri" panose="020F0502020204030204" pitchFamily="34" charset="0"/>
              </a:rPr>
              <a:t> et de source majeure d’informations. Toutes les informations d’identité, de grade et d’unité proviennent du noyau central et y retournent. C’est le cerveau du système. </a:t>
            </a:r>
            <a:endParaRPr sz="1300" b="1" i="1" u="none" strike="noStrike" cap="none" dirty="0">
              <a:solidFill>
                <a:srgbClr val="1E2761"/>
              </a:solidFill>
              <a:latin typeface="Calibri" panose="020F0502020204030204" pitchFamily="34" charset="0"/>
              <a:ea typeface="Calibri"/>
              <a:cs typeface="Calibri" panose="020F0502020204030204" pitchFamily="34" charset="0"/>
              <a:sym typeface="Calibri"/>
            </a:endParaRPr>
          </a:p>
        </p:txBody>
      </p:sp>
      <p:graphicFrame>
        <p:nvGraphicFramePr>
          <p:cNvPr id="2" name="Diagramme 1"/>
          <p:cNvGraphicFramePr/>
          <p:nvPr>
            <p:extLst>
              <p:ext uri="{D42A27DB-BD31-4B8C-83A1-F6EECF244321}">
                <p14:modId xmlns:p14="http://schemas.microsoft.com/office/powerpoint/2010/main" val="2953249565"/>
              </p:ext>
            </p:extLst>
          </p:nvPr>
        </p:nvGraphicFramePr>
        <p:xfrm>
          <a:off x="2311200" y="914401"/>
          <a:ext cx="4546800" cy="28556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13" name="Google Shape;23690;p67"/>
          <p:cNvGrpSpPr/>
          <p:nvPr/>
        </p:nvGrpSpPr>
        <p:grpSpPr>
          <a:xfrm>
            <a:off x="4182334" y="1649040"/>
            <a:ext cx="364441" cy="339091"/>
            <a:chOff x="6093907" y="2461832"/>
            <a:chExt cx="364441" cy="339091"/>
          </a:xfrm>
        </p:grpSpPr>
        <p:sp>
          <p:nvSpPr>
            <p:cNvPr id="14" name="Google Shape;23691;p67"/>
            <p:cNvSpPr/>
            <p:nvPr/>
          </p:nvSpPr>
          <p:spPr>
            <a:xfrm>
              <a:off x="6094668" y="2515573"/>
              <a:ext cx="283070" cy="233890"/>
            </a:xfrm>
            <a:custGeom>
              <a:avLst/>
              <a:gdLst/>
              <a:ahLst/>
              <a:cxnLst/>
              <a:rect l="l" t="t" r="r" b="b"/>
              <a:pathLst>
                <a:path w="10798" h="8922" extrusionOk="0">
                  <a:moveTo>
                    <a:pt x="0" y="1"/>
                  </a:moveTo>
                  <a:lnTo>
                    <a:pt x="0" y="6857"/>
                  </a:lnTo>
                  <a:cubicBezTo>
                    <a:pt x="0" y="7998"/>
                    <a:pt x="2411" y="8922"/>
                    <a:pt x="5399" y="8922"/>
                  </a:cubicBezTo>
                  <a:lnTo>
                    <a:pt x="5875" y="8922"/>
                  </a:lnTo>
                  <a:cubicBezTo>
                    <a:pt x="8633" y="8821"/>
                    <a:pt x="10798" y="7940"/>
                    <a:pt x="10798" y="6872"/>
                  </a:cubicBezTo>
                  <a:lnTo>
                    <a:pt x="10798" y="1"/>
                  </a:lnTo>
                  <a:close/>
                </a:path>
              </a:pathLst>
            </a:custGeom>
            <a:solidFill>
              <a:srgbClr val="D0DA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3692;p67"/>
            <p:cNvSpPr/>
            <p:nvPr/>
          </p:nvSpPr>
          <p:spPr>
            <a:xfrm>
              <a:off x="6234682" y="2576497"/>
              <a:ext cx="143055" cy="172967"/>
            </a:xfrm>
            <a:custGeom>
              <a:avLst/>
              <a:gdLst/>
              <a:ahLst/>
              <a:cxnLst/>
              <a:rect l="l" t="t" r="r" b="b"/>
              <a:pathLst>
                <a:path w="5457" h="6598" extrusionOk="0">
                  <a:moveTo>
                    <a:pt x="3580" y="1"/>
                  </a:moveTo>
                  <a:cubicBezTo>
                    <a:pt x="3248" y="1"/>
                    <a:pt x="2974" y="275"/>
                    <a:pt x="2974" y="621"/>
                  </a:cubicBezTo>
                  <a:lnTo>
                    <a:pt x="2974" y="1127"/>
                  </a:lnTo>
                  <a:cubicBezTo>
                    <a:pt x="2757" y="1228"/>
                    <a:pt x="2555" y="1358"/>
                    <a:pt x="2353" y="1487"/>
                  </a:cubicBezTo>
                  <a:lnTo>
                    <a:pt x="1906" y="1228"/>
                  </a:lnTo>
                  <a:cubicBezTo>
                    <a:pt x="1809" y="1177"/>
                    <a:pt x="1706" y="1153"/>
                    <a:pt x="1605" y="1153"/>
                  </a:cubicBezTo>
                  <a:cubicBezTo>
                    <a:pt x="1391" y="1153"/>
                    <a:pt x="1186" y="1262"/>
                    <a:pt x="1069" y="1459"/>
                  </a:cubicBezTo>
                  <a:lnTo>
                    <a:pt x="159" y="3032"/>
                  </a:lnTo>
                  <a:cubicBezTo>
                    <a:pt x="0" y="3321"/>
                    <a:pt x="101" y="3696"/>
                    <a:pt x="390" y="3869"/>
                  </a:cubicBezTo>
                  <a:lnTo>
                    <a:pt x="852" y="4129"/>
                  </a:lnTo>
                  <a:cubicBezTo>
                    <a:pt x="823" y="4245"/>
                    <a:pt x="823" y="4375"/>
                    <a:pt x="823" y="4490"/>
                  </a:cubicBezTo>
                  <a:cubicBezTo>
                    <a:pt x="823" y="4606"/>
                    <a:pt x="838" y="4735"/>
                    <a:pt x="852" y="4851"/>
                  </a:cubicBezTo>
                  <a:lnTo>
                    <a:pt x="390" y="5111"/>
                  </a:lnTo>
                  <a:cubicBezTo>
                    <a:pt x="101" y="5284"/>
                    <a:pt x="0" y="5659"/>
                    <a:pt x="159" y="5948"/>
                  </a:cubicBezTo>
                  <a:lnTo>
                    <a:pt x="534" y="6598"/>
                  </a:lnTo>
                  <a:cubicBezTo>
                    <a:pt x="3292" y="6497"/>
                    <a:pt x="5457" y="5616"/>
                    <a:pt x="5457" y="4548"/>
                  </a:cubicBezTo>
                  <a:lnTo>
                    <a:pt x="5457" y="15"/>
                  </a:lnTo>
                  <a:lnTo>
                    <a:pt x="5442" y="1"/>
                  </a:lnTo>
                  <a:close/>
                </a:path>
              </a:pathLst>
            </a:custGeom>
            <a:solidFill>
              <a:srgbClr val="5C72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3693;p67"/>
            <p:cNvSpPr/>
            <p:nvPr/>
          </p:nvSpPr>
          <p:spPr>
            <a:xfrm>
              <a:off x="6094274" y="2515573"/>
              <a:ext cx="283463" cy="65118"/>
            </a:xfrm>
            <a:custGeom>
              <a:avLst/>
              <a:gdLst/>
              <a:ahLst/>
              <a:cxnLst/>
              <a:rect l="l" t="t" r="r" b="b"/>
              <a:pathLst>
                <a:path w="10813" h="2484" extrusionOk="0">
                  <a:moveTo>
                    <a:pt x="1" y="1"/>
                  </a:moveTo>
                  <a:lnTo>
                    <a:pt x="1" y="982"/>
                  </a:lnTo>
                  <a:cubicBezTo>
                    <a:pt x="419" y="1372"/>
                    <a:pt x="896" y="1675"/>
                    <a:pt x="1444" y="1863"/>
                  </a:cubicBezTo>
                  <a:cubicBezTo>
                    <a:pt x="2513" y="2267"/>
                    <a:pt x="3913" y="2483"/>
                    <a:pt x="5414" y="2483"/>
                  </a:cubicBezTo>
                  <a:cubicBezTo>
                    <a:pt x="6901" y="2483"/>
                    <a:pt x="8316" y="2267"/>
                    <a:pt x="9384" y="1863"/>
                  </a:cubicBezTo>
                  <a:cubicBezTo>
                    <a:pt x="9918" y="1675"/>
                    <a:pt x="10409" y="1372"/>
                    <a:pt x="10813" y="982"/>
                  </a:cubicBezTo>
                  <a:lnTo>
                    <a:pt x="10813" y="1"/>
                  </a:lnTo>
                  <a:close/>
                </a:path>
              </a:pathLst>
            </a:custGeom>
            <a:solidFill>
              <a:srgbClr val="5C72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3694;p67"/>
            <p:cNvSpPr/>
            <p:nvPr/>
          </p:nvSpPr>
          <p:spPr>
            <a:xfrm>
              <a:off x="6094668" y="2612070"/>
              <a:ext cx="283070" cy="137393"/>
            </a:xfrm>
            <a:custGeom>
              <a:avLst/>
              <a:gdLst/>
              <a:ahLst/>
              <a:cxnLst/>
              <a:rect l="l" t="t" r="r" b="b"/>
              <a:pathLst>
                <a:path w="10798" h="5241" extrusionOk="0">
                  <a:moveTo>
                    <a:pt x="0" y="1"/>
                  </a:moveTo>
                  <a:lnTo>
                    <a:pt x="0" y="3176"/>
                  </a:lnTo>
                  <a:cubicBezTo>
                    <a:pt x="0" y="4317"/>
                    <a:pt x="2411" y="5241"/>
                    <a:pt x="5399" y="5241"/>
                  </a:cubicBezTo>
                  <a:lnTo>
                    <a:pt x="5875" y="5241"/>
                  </a:lnTo>
                  <a:cubicBezTo>
                    <a:pt x="8633" y="5140"/>
                    <a:pt x="10798" y="4259"/>
                    <a:pt x="10798" y="3191"/>
                  </a:cubicBezTo>
                  <a:lnTo>
                    <a:pt x="10798" y="1"/>
                  </a:lnTo>
                  <a:cubicBezTo>
                    <a:pt x="10798" y="1127"/>
                    <a:pt x="8402" y="2050"/>
                    <a:pt x="5428" y="2050"/>
                  </a:cubicBezTo>
                  <a:lnTo>
                    <a:pt x="5399" y="2050"/>
                  </a:lnTo>
                  <a:cubicBezTo>
                    <a:pt x="2411" y="2050"/>
                    <a:pt x="0" y="1141"/>
                    <a:pt x="0" y="1"/>
                  </a:cubicBezTo>
                  <a:close/>
                </a:path>
              </a:pathLst>
            </a:custGeom>
            <a:solidFill>
              <a:srgbClr val="F6F7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3695;p67"/>
            <p:cNvSpPr/>
            <p:nvPr/>
          </p:nvSpPr>
          <p:spPr>
            <a:xfrm>
              <a:off x="6234682" y="2612070"/>
              <a:ext cx="143055" cy="137393"/>
            </a:xfrm>
            <a:custGeom>
              <a:avLst/>
              <a:gdLst/>
              <a:ahLst/>
              <a:cxnLst/>
              <a:rect l="l" t="t" r="r" b="b"/>
              <a:pathLst>
                <a:path w="5457" h="5241" extrusionOk="0">
                  <a:moveTo>
                    <a:pt x="5457" y="1"/>
                  </a:moveTo>
                  <a:cubicBezTo>
                    <a:pt x="5457" y="1127"/>
                    <a:pt x="3061" y="2050"/>
                    <a:pt x="87" y="2050"/>
                  </a:cubicBezTo>
                  <a:cubicBezTo>
                    <a:pt x="116" y="2238"/>
                    <a:pt x="217" y="2411"/>
                    <a:pt x="390" y="2512"/>
                  </a:cubicBezTo>
                  <a:lnTo>
                    <a:pt x="852" y="2772"/>
                  </a:lnTo>
                  <a:cubicBezTo>
                    <a:pt x="823" y="2888"/>
                    <a:pt x="823" y="3003"/>
                    <a:pt x="823" y="3133"/>
                  </a:cubicBezTo>
                  <a:cubicBezTo>
                    <a:pt x="823" y="3249"/>
                    <a:pt x="838" y="3378"/>
                    <a:pt x="852" y="3494"/>
                  </a:cubicBezTo>
                  <a:lnTo>
                    <a:pt x="390" y="3754"/>
                  </a:lnTo>
                  <a:cubicBezTo>
                    <a:pt x="101" y="3927"/>
                    <a:pt x="0" y="4302"/>
                    <a:pt x="159" y="4591"/>
                  </a:cubicBezTo>
                  <a:lnTo>
                    <a:pt x="534" y="5241"/>
                  </a:lnTo>
                  <a:cubicBezTo>
                    <a:pt x="3292" y="5140"/>
                    <a:pt x="5457" y="4259"/>
                    <a:pt x="5457" y="3191"/>
                  </a:cubicBezTo>
                  <a:lnTo>
                    <a:pt x="5457" y="1"/>
                  </a:lnTo>
                  <a:close/>
                </a:path>
              </a:pathLst>
            </a:custGeom>
            <a:solidFill>
              <a:srgbClr val="C5CC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3696;p67"/>
            <p:cNvSpPr/>
            <p:nvPr/>
          </p:nvSpPr>
          <p:spPr>
            <a:xfrm>
              <a:off x="6093907" y="2612070"/>
              <a:ext cx="283830" cy="66245"/>
            </a:xfrm>
            <a:custGeom>
              <a:avLst/>
              <a:gdLst/>
              <a:ahLst/>
              <a:cxnLst/>
              <a:rect l="l" t="t" r="r" b="b"/>
              <a:pathLst>
                <a:path w="10827" h="2527" extrusionOk="0">
                  <a:moveTo>
                    <a:pt x="0" y="1"/>
                  </a:moveTo>
                  <a:lnTo>
                    <a:pt x="0" y="1011"/>
                  </a:lnTo>
                  <a:cubicBezTo>
                    <a:pt x="405" y="1415"/>
                    <a:pt x="895" y="1718"/>
                    <a:pt x="1444" y="1892"/>
                  </a:cubicBezTo>
                  <a:cubicBezTo>
                    <a:pt x="2512" y="2296"/>
                    <a:pt x="3912" y="2527"/>
                    <a:pt x="5414" y="2527"/>
                  </a:cubicBezTo>
                  <a:cubicBezTo>
                    <a:pt x="6900" y="2527"/>
                    <a:pt x="8315" y="2296"/>
                    <a:pt x="9383" y="1892"/>
                  </a:cubicBezTo>
                  <a:cubicBezTo>
                    <a:pt x="9917" y="1718"/>
                    <a:pt x="10408" y="1415"/>
                    <a:pt x="10827" y="1011"/>
                  </a:cubicBezTo>
                  <a:lnTo>
                    <a:pt x="10827" y="1"/>
                  </a:lnTo>
                  <a:cubicBezTo>
                    <a:pt x="10827" y="1141"/>
                    <a:pt x="8373" y="2050"/>
                    <a:pt x="5399" y="2050"/>
                  </a:cubicBezTo>
                  <a:cubicBezTo>
                    <a:pt x="2411" y="2050"/>
                    <a:pt x="0" y="1141"/>
                    <a:pt x="0" y="1"/>
                  </a:cubicBezTo>
                  <a:close/>
                </a:path>
              </a:pathLst>
            </a:custGeom>
            <a:solidFill>
              <a:srgbClr val="C5CC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3697;p67"/>
            <p:cNvSpPr/>
            <p:nvPr/>
          </p:nvSpPr>
          <p:spPr>
            <a:xfrm>
              <a:off x="6094668" y="2461832"/>
              <a:ext cx="283070" cy="107875"/>
            </a:xfrm>
            <a:custGeom>
              <a:avLst/>
              <a:gdLst/>
              <a:ahLst/>
              <a:cxnLst/>
              <a:rect l="l" t="t" r="r" b="b"/>
              <a:pathLst>
                <a:path w="10798" h="4115" extrusionOk="0">
                  <a:moveTo>
                    <a:pt x="5399" y="1"/>
                  </a:moveTo>
                  <a:cubicBezTo>
                    <a:pt x="2411" y="1"/>
                    <a:pt x="0" y="925"/>
                    <a:pt x="0" y="2051"/>
                  </a:cubicBezTo>
                  <a:cubicBezTo>
                    <a:pt x="0" y="3191"/>
                    <a:pt x="2411" y="4115"/>
                    <a:pt x="5399" y="4115"/>
                  </a:cubicBezTo>
                  <a:cubicBezTo>
                    <a:pt x="8373" y="4115"/>
                    <a:pt x="10798" y="3191"/>
                    <a:pt x="10798" y="2051"/>
                  </a:cubicBezTo>
                  <a:cubicBezTo>
                    <a:pt x="10798" y="925"/>
                    <a:pt x="8373" y="1"/>
                    <a:pt x="5399" y="1"/>
                  </a:cubicBezTo>
                  <a:close/>
                </a:path>
              </a:pathLst>
            </a:custGeom>
            <a:solidFill>
              <a:srgbClr val="809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3698;p67"/>
            <p:cNvSpPr/>
            <p:nvPr/>
          </p:nvSpPr>
          <p:spPr>
            <a:xfrm>
              <a:off x="6247160" y="2587848"/>
              <a:ext cx="211188" cy="213076"/>
            </a:xfrm>
            <a:custGeom>
              <a:avLst/>
              <a:gdLst/>
              <a:ahLst/>
              <a:cxnLst/>
              <a:rect l="l" t="t" r="r" b="b"/>
              <a:pathLst>
                <a:path w="8056" h="8128" extrusionOk="0">
                  <a:moveTo>
                    <a:pt x="3119" y="1"/>
                  </a:moveTo>
                  <a:cubicBezTo>
                    <a:pt x="3018" y="1"/>
                    <a:pt x="2946" y="87"/>
                    <a:pt x="2946" y="188"/>
                  </a:cubicBezTo>
                  <a:lnTo>
                    <a:pt x="2946" y="997"/>
                  </a:lnTo>
                  <a:cubicBezTo>
                    <a:pt x="2570" y="1127"/>
                    <a:pt x="2224" y="1314"/>
                    <a:pt x="1935" y="1574"/>
                  </a:cubicBezTo>
                  <a:lnTo>
                    <a:pt x="1228" y="1170"/>
                  </a:lnTo>
                  <a:cubicBezTo>
                    <a:pt x="1198" y="1150"/>
                    <a:pt x="1165" y="1141"/>
                    <a:pt x="1132" y="1141"/>
                  </a:cubicBezTo>
                  <a:cubicBezTo>
                    <a:pt x="1069" y="1141"/>
                    <a:pt x="1006" y="1176"/>
                    <a:pt x="968" y="1242"/>
                  </a:cubicBezTo>
                  <a:lnTo>
                    <a:pt x="73" y="2816"/>
                  </a:lnTo>
                  <a:cubicBezTo>
                    <a:pt x="15" y="2902"/>
                    <a:pt x="44" y="3018"/>
                    <a:pt x="145" y="3061"/>
                  </a:cubicBezTo>
                  <a:lnTo>
                    <a:pt x="838" y="3465"/>
                  </a:lnTo>
                  <a:cubicBezTo>
                    <a:pt x="766" y="3855"/>
                    <a:pt x="766" y="4259"/>
                    <a:pt x="838" y="4634"/>
                  </a:cubicBezTo>
                  <a:lnTo>
                    <a:pt x="131" y="5053"/>
                  </a:lnTo>
                  <a:cubicBezTo>
                    <a:pt x="30" y="5096"/>
                    <a:pt x="1" y="5212"/>
                    <a:pt x="58" y="5313"/>
                  </a:cubicBezTo>
                  <a:lnTo>
                    <a:pt x="953" y="6886"/>
                  </a:lnTo>
                  <a:cubicBezTo>
                    <a:pt x="993" y="6946"/>
                    <a:pt x="1061" y="6978"/>
                    <a:pt x="1127" y="6978"/>
                  </a:cubicBezTo>
                  <a:cubicBezTo>
                    <a:pt x="1157" y="6978"/>
                    <a:pt x="1186" y="6972"/>
                    <a:pt x="1213" y="6959"/>
                  </a:cubicBezTo>
                  <a:lnTo>
                    <a:pt x="1921" y="6540"/>
                  </a:lnTo>
                  <a:cubicBezTo>
                    <a:pt x="2209" y="6800"/>
                    <a:pt x="2556" y="7002"/>
                    <a:pt x="2931" y="7132"/>
                  </a:cubicBezTo>
                  <a:lnTo>
                    <a:pt x="2931" y="7940"/>
                  </a:lnTo>
                  <a:cubicBezTo>
                    <a:pt x="2931" y="8041"/>
                    <a:pt x="3003" y="8128"/>
                    <a:pt x="3104" y="8128"/>
                  </a:cubicBezTo>
                  <a:lnTo>
                    <a:pt x="4923" y="8128"/>
                  </a:lnTo>
                  <a:cubicBezTo>
                    <a:pt x="5024" y="8128"/>
                    <a:pt x="5111" y="8041"/>
                    <a:pt x="5111" y="7940"/>
                  </a:cubicBezTo>
                  <a:lnTo>
                    <a:pt x="5111" y="7132"/>
                  </a:lnTo>
                  <a:cubicBezTo>
                    <a:pt x="5472" y="7002"/>
                    <a:pt x="5818" y="6800"/>
                    <a:pt x="6107" y="6540"/>
                  </a:cubicBezTo>
                  <a:lnTo>
                    <a:pt x="6814" y="6959"/>
                  </a:lnTo>
                  <a:cubicBezTo>
                    <a:pt x="6841" y="6972"/>
                    <a:pt x="6871" y="6978"/>
                    <a:pt x="6900" y="6978"/>
                  </a:cubicBezTo>
                  <a:cubicBezTo>
                    <a:pt x="6967" y="6978"/>
                    <a:pt x="7034" y="6946"/>
                    <a:pt x="7074" y="6886"/>
                  </a:cubicBezTo>
                  <a:lnTo>
                    <a:pt x="7969" y="5313"/>
                  </a:lnTo>
                  <a:cubicBezTo>
                    <a:pt x="8027" y="5226"/>
                    <a:pt x="7998" y="5111"/>
                    <a:pt x="7911" y="5053"/>
                  </a:cubicBezTo>
                  <a:lnTo>
                    <a:pt x="7204" y="4649"/>
                  </a:lnTo>
                  <a:cubicBezTo>
                    <a:pt x="7247" y="4461"/>
                    <a:pt x="7276" y="4259"/>
                    <a:pt x="7276" y="4057"/>
                  </a:cubicBezTo>
                  <a:cubicBezTo>
                    <a:pt x="7276" y="3869"/>
                    <a:pt x="7262" y="3667"/>
                    <a:pt x="7233" y="3480"/>
                  </a:cubicBezTo>
                  <a:lnTo>
                    <a:pt x="7926" y="3075"/>
                  </a:lnTo>
                  <a:cubicBezTo>
                    <a:pt x="8027" y="3018"/>
                    <a:pt x="8056" y="2902"/>
                    <a:pt x="7998" y="2816"/>
                  </a:cubicBezTo>
                  <a:lnTo>
                    <a:pt x="7103" y="1242"/>
                  </a:lnTo>
                  <a:cubicBezTo>
                    <a:pt x="7065" y="1176"/>
                    <a:pt x="7002" y="1141"/>
                    <a:pt x="6939" y="1141"/>
                  </a:cubicBezTo>
                  <a:cubicBezTo>
                    <a:pt x="6906" y="1141"/>
                    <a:pt x="6873" y="1150"/>
                    <a:pt x="6843" y="1170"/>
                  </a:cubicBezTo>
                  <a:lnTo>
                    <a:pt x="6136" y="1574"/>
                  </a:lnTo>
                  <a:cubicBezTo>
                    <a:pt x="5847" y="1329"/>
                    <a:pt x="5501" y="1127"/>
                    <a:pt x="5125" y="997"/>
                  </a:cubicBezTo>
                  <a:lnTo>
                    <a:pt x="5125" y="188"/>
                  </a:lnTo>
                  <a:cubicBezTo>
                    <a:pt x="5125" y="87"/>
                    <a:pt x="5053" y="1"/>
                    <a:pt x="4952" y="1"/>
                  </a:cubicBezTo>
                  <a:close/>
                </a:path>
              </a:pathLst>
            </a:custGeom>
            <a:solidFill>
              <a:srgbClr val="B4C3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3699;p67"/>
            <p:cNvSpPr/>
            <p:nvPr/>
          </p:nvSpPr>
          <p:spPr>
            <a:xfrm>
              <a:off x="6300141" y="2654670"/>
              <a:ext cx="91988" cy="78907"/>
            </a:xfrm>
            <a:custGeom>
              <a:avLst/>
              <a:gdLst/>
              <a:ahLst/>
              <a:cxnLst/>
              <a:rect l="l" t="t" r="r" b="b"/>
              <a:pathLst>
                <a:path w="3509" h="3010" extrusionOk="0">
                  <a:moveTo>
                    <a:pt x="1993" y="1"/>
                  </a:moveTo>
                  <a:cubicBezTo>
                    <a:pt x="1623" y="1"/>
                    <a:pt x="1247" y="137"/>
                    <a:pt x="939" y="440"/>
                  </a:cubicBezTo>
                  <a:cubicBezTo>
                    <a:pt x="1" y="1393"/>
                    <a:pt x="665" y="3009"/>
                    <a:pt x="2007" y="3009"/>
                  </a:cubicBezTo>
                  <a:cubicBezTo>
                    <a:pt x="2844" y="3009"/>
                    <a:pt x="3508" y="2345"/>
                    <a:pt x="3508" y="1508"/>
                  </a:cubicBezTo>
                  <a:cubicBezTo>
                    <a:pt x="3508" y="599"/>
                    <a:pt x="2767" y="1"/>
                    <a:pt x="1993" y="1"/>
                  </a:cubicBezTo>
                  <a:close/>
                </a:path>
              </a:pathLst>
            </a:custGeom>
            <a:solidFill>
              <a:srgbClr val="98A9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700;p67"/>
            <p:cNvSpPr/>
            <p:nvPr/>
          </p:nvSpPr>
          <p:spPr>
            <a:xfrm>
              <a:off x="6324730" y="2666571"/>
              <a:ext cx="55654" cy="55654"/>
            </a:xfrm>
            <a:custGeom>
              <a:avLst/>
              <a:gdLst/>
              <a:ahLst/>
              <a:cxnLst/>
              <a:rect l="l" t="t" r="r" b="b"/>
              <a:pathLst>
                <a:path w="2123" h="2123" extrusionOk="0">
                  <a:moveTo>
                    <a:pt x="1069" y="0"/>
                  </a:moveTo>
                  <a:cubicBezTo>
                    <a:pt x="477" y="0"/>
                    <a:pt x="1" y="477"/>
                    <a:pt x="1" y="1054"/>
                  </a:cubicBezTo>
                  <a:cubicBezTo>
                    <a:pt x="1" y="1646"/>
                    <a:pt x="477" y="2122"/>
                    <a:pt x="1069" y="2122"/>
                  </a:cubicBezTo>
                  <a:cubicBezTo>
                    <a:pt x="1661" y="2122"/>
                    <a:pt x="2123" y="1646"/>
                    <a:pt x="2123" y="1054"/>
                  </a:cubicBezTo>
                  <a:cubicBezTo>
                    <a:pt x="2123" y="477"/>
                    <a:pt x="1661" y="0"/>
                    <a:pt x="1069" y="0"/>
                  </a:cubicBezTo>
                  <a:close/>
                </a:path>
              </a:pathLst>
            </a:custGeom>
            <a:solidFill>
              <a:srgbClr val="7A8F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ZoneTexte 2"/>
          <p:cNvSpPr txBox="1"/>
          <p:nvPr/>
        </p:nvSpPr>
        <p:spPr>
          <a:xfrm flipH="1">
            <a:off x="247316" y="2942119"/>
            <a:ext cx="1343884" cy="535067"/>
          </a:xfrm>
          <a:prstGeom prst="flowChartDocument">
            <a:avLst/>
          </a:prstGeom>
          <a:ln w="28575">
            <a:solidFill>
              <a:schemeClr val="bg1"/>
            </a:solidFill>
          </a:ln>
        </p:spPr>
        <p:style>
          <a:lnRef idx="1">
            <a:schemeClr val="dk1"/>
          </a:lnRef>
          <a:fillRef idx="3">
            <a:schemeClr val="dk1"/>
          </a:fillRef>
          <a:effectRef idx="2">
            <a:schemeClr val="dk1"/>
          </a:effectRef>
          <a:fontRef idx="minor">
            <a:schemeClr val="lt1"/>
          </a:fontRef>
        </p:style>
        <p:txBody>
          <a:bodyPr wrap="square" rtlCol="0">
            <a:spAutoFit/>
          </a:bodyPr>
          <a:lstStyle/>
          <a:p>
            <a:pPr algn="ctr"/>
            <a:r>
              <a:rPr lang="fr-FR" sz="1100" dirty="0"/>
              <a:t>Dossier de </a:t>
            </a:r>
          </a:p>
          <a:p>
            <a:pPr algn="ctr"/>
            <a:r>
              <a:rPr lang="fr-FR" sz="1100" dirty="0"/>
              <a:t>campagne</a:t>
            </a:r>
          </a:p>
        </p:txBody>
      </p:sp>
      <p:graphicFrame>
        <p:nvGraphicFramePr>
          <p:cNvPr id="4" name="Diagramme 3"/>
          <p:cNvGraphicFramePr/>
          <p:nvPr>
            <p:extLst>
              <p:ext uri="{D42A27DB-BD31-4B8C-83A1-F6EECF244321}">
                <p14:modId xmlns:p14="http://schemas.microsoft.com/office/powerpoint/2010/main" val="2167987245"/>
              </p:ext>
            </p:extLst>
          </p:nvPr>
        </p:nvGraphicFramePr>
        <p:xfrm>
          <a:off x="512064" y="1576551"/>
          <a:ext cx="1924800" cy="162025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7" name="ZoneTexte 6"/>
          <p:cNvSpPr txBox="1"/>
          <p:nvPr/>
        </p:nvSpPr>
        <p:spPr>
          <a:xfrm flipH="1">
            <a:off x="3653111" y="2494622"/>
            <a:ext cx="1422889" cy="510778"/>
          </a:xfrm>
          <a:prstGeom prst="flowChartAlternateProcess">
            <a:avLst/>
          </a:prstGeom>
        </p:spPr>
        <p:style>
          <a:lnRef idx="1">
            <a:schemeClr val="accent5"/>
          </a:lnRef>
          <a:fillRef idx="3">
            <a:schemeClr val="accent5"/>
          </a:fillRef>
          <a:effectRef idx="2">
            <a:schemeClr val="accent5"/>
          </a:effectRef>
          <a:fontRef idx="minor">
            <a:schemeClr val="lt1"/>
          </a:fontRef>
        </p:style>
        <p:txBody>
          <a:bodyPr wrap="square" rtlCol="0">
            <a:spAutoFit/>
          </a:bodyPr>
          <a:lstStyle/>
          <a:p>
            <a:pPr algn="ctr"/>
            <a:r>
              <a:rPr lang="fr-FR" sz="1200" dirty="0"/>
              <a:t>Base de données unique</a:t>
            </a:r>
          </a:p>
        </p:txBody>
      </p:sp>
      <p:grpSp>
        <p:nvGrpSpPr>
          <p:cNvPr id="25" name="Group 32"/>
          <p:cNvGrpSpPr/>
          <p:nvPr/>
        </p:nvGrpSpPr>
        <p:grpSpPr>
          <a:xfrm>
            <a:off x="91440" y="0"/>
            <a:ext cx="9052560" cy="778837"/>
            <a:chOff x="330" y="182"/>
            <a:chExt cx="18543" cy="1604"/>
          </a:xfrm>
        </p:grpSpPr>
        <p:sp>
          <p:nvSpPr>
            <p:cNvPr id="26" name="Freeform 3"/>
            <p:cNvSpPr/>
            <p:nvPr/>
          </p:nvSpPr>
          <p:spPr>
            <a:xfrm>
              <a:off x="330" y="182"/>
              <a:ext cx="1640" cy="1604"/>
            </a:xfrm>
            <a:custGeom>
              <a:avLst/>
              <a:gdLst/>
              <a:ahLst/>
              <a:cxnLst/>
              <a:rect l="l" t="t" r="r" b="b"/>
              <a:pathLst>
                <a:path w="6263628" h="7097595">
                  <a:moveTo>
                    <a:pt x="0" y="0"/>
                  </a:moveTo>
                  <a:lnTo>
                    <a:pt x="6263628" y="0"/>
                  </a:lnTo>
                  <a:lnTo>
                    <a:pt x="6263628" y="7097595"/>
                  </a:lnTo>
                  <a:lnTo>
                    <a:pt x="0" y="7097595"/>
                  </a:lnTo>
                  <a:lnTo>
                    <a:pt x="0" y="0"/>
                  </a:lnTo>
                  <a:close/>
                </a:path>
              </a:pathLst>
            </a:custGeom>
            <a:blipFill>
              <a:blip r:embed="rId13"/>
              <a:stretch>
                <a:fillRect/>
              </a:stretch>
            </a:blipFill>
          </p:spPr>
        </p:sp>
        <p:pic>
          <p:nvPicPr>
            <p:cNvPr id="27" name="Picture 3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6953" y="182"/>
              <a:ext cx="1920" cy="1604"/>
            </a:xfrm>
            <a:prstGeom prst="rect">
              <a:avLst/>
            </a:prstGeom>
          </p:spPr>
        </p:pic>
      </p:grpSp>
      <p:sp>
        <p:nvSpPr>
          <p:cNvPr id="28" name="Google Shape;36;p4"/>
          <p:cNvSpPr/>
          <p:nvPr/>
        </p:nvSpPr>
        <p:spPr>
          <a:xfrm>
            <a:off x="7772400" y="4709160"/>
            <a:ext cx="914400" cy="365760"/>
          </a:xfrm>
          <a:prstGeom prst="rect">
            <a:avLst/>
          </a:prstGeom>
          <a:noFill/>
          <a:ln>
            <a:noFill/>
          </a:ln>
        </p:spPr>
        <p:txBody>
          <a:bodyPr spcFirstLastPara="1" wrap="square" lIns="91425" tIns="45700" rIns="91425" bIns="45700" anchor="ctr" anchorCtr="0">
            <a:noAutofit/>
          </a:bodyPr>
          <a:lstStyle/>
          <a:p>
            <a:pPr lvl="0" algn="r">
              <a:buClr>
                <a:srgbClr val="CADCFC"/>
              </a:buClr>
              <a:buSzPts val="900"/>
            </a:pPr>
            <a:r>
              <a:rPr lang="en-US" sz="900" dirty="0">
                <a:solidFill>
                  <a:srgbClr val="CADCFC"/>
                </a:solidFill>
                <a:latin typeface="Calibri"/>
                <a:ea typeface="Calibri"/>
                <a:cs typeface="Calibri"/>
                <a:sym typeface="Calibri"/>
              </a:rPr>
              <a:t>23 </a:t>
            </a:r>
            <a:r>
              <a:rPr lang="en-US" sz="900" b="0" i="0" u="none" strike="noStrike" cap="none" dirty="0">
                <a:solidFill>
                  <a:srgbClr val="CADCFC"/>
                </a:solidFill>
                <a:latin typeface="Calibri"/>
                <a:ea typeface="Calibri"/>
                <a:cs typeface="Calibri"/>
                <a:sym typeface="Calibri"/>
              </a:rPr>
              <a:t>/ </a:t>
            </a:r>
            <a:r>
              <a:rPr lang="en-US" sz="900" dirty="0">
                <a:solidFill>
                  <a:srgbClr val="CADCFC"/>
                </a:solidFill>
                <a:latin typeface="Calibri"/>
                <a:ea typeface="Calibri"/>
                <a:cs typeface="Calibri"/>
                <a:sym typeface="Calibri"/>
              </a:rPr>
              <a:t>27</a:t>
            </a:r>
            <a:endParaRPr lang="en-US" sz="900" dirty="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6"/>
        <p:cNvGrpSpPr/>
        <p:nvPr/>
      </p:nvGrpSpPr>
      <p:grpSpPr>
        <a:xfrm>
          <a:off x="0" y="0"/>
          <a:ext cx="0" cy="0"/>
          <a:chOff x="0" y="0"/>
          <a:chExt cx="0" cy="0"/>
        </a:xfrm>
      </p:grpSpPr>
      <p:sp>
        <p:nvSpPr>
          <p:cNvPr id="47" name="Google Shape;47;p5"/>
          <p:cNvSpPr/>
          <p:nvPr/>
        </p:nvSpPr>
        <p:spPr>
          <a:xfrm>
            <a:off x="0" y="-137160"/>
            <a:ext cx="9144000" cy="914400"/>
          </a:xfrm>
          <a:prstGeom prst="rect">
            <a:avLst/>
          </a:prstGeom>
          <a:solidFill>
            <a:srgbClr val="FFC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5"/>
          <p:cNvSpPr/>
          <p:nvPr/>
        </p:nvSpPr>
        <p:spPr>
          <a:xfrm>
            <a:off x="457200" y="137160"/>
            <a:ext cx="8229600" cy="6400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2200"/>
              <a:buFont typeface="Calibri"/>
              <a:buNone/>
            </a:pPr>
            <a:r>
              <a:rPr lang="en-US" sz="2200" b="1" dirty="0">
                <a:solidFill>
                  <a:srgbClr val="FFFFFF"/>
                </a:solidFill>
                <a:latin typeface="Calibri"/>
                <a:ea typeface="Calibri"/>
                <a:cs typeface="Calibri"/>
                <a:sym typeface="Calibri"/>
              </a:rPr>
              <a:t>Modules/</a:t>
            </a:r>
            <a:r>
              <a:rPr lang="en-US" sz="2200" b="1" dirty="0" err="1">
                <a:solidFill>
                  <a:srgbClr val="FFFFFF"/>
                </a:solidFill>
                <a:latin typeface="Calibri"/>
                <a:ea typeface="Calibri"/>
                <a:cs typeface="Calibri"/>
                <a:sym typeface="Calibri"/>
              </a:rPr>
              <a:t>Logiciels</a:t>
            </a:r>
            <a:r>
              <a:rPr lang="en-US" sz="2200" b="1" dirty="0">
                <a:solidFill>
                  <a:srgbClr val="FFFFFF"/>
                </a:solidFill>
                <a:latin typeface="Calibri"/>
                <a:ea typeface="Calibri"/>
                <a:cs typeface="Calibri"/>
                <a:sym typeface="Calibri"/>
              </a:rPr>
              <a:t> satellites</a:t>
            </a:r>
            <a:endParaRPr sz="2200" b="0" i="0" u="none" strike="noStrike" cap="none" dirty="0">
              <a:solidFill>
                <a:schemeClr val="dk1"/>
              </a:solidFill>
              <a:latin typeface="Calibri"/>
              <a:ea typeface="Calibri"/>
              <a:cs typeface="Calibri"/>
              <a:sym typeface="Calibri"/>
            </a:endParaRPr>
          </a:p>
        </p:txBody>
      </p:sp>
      <p:sp>
        <p:nvSpPr>
          <p:cNvPr id="49" name="Google Shape;49;p5"/>
          <p:cNvSpPr/>
          <p:nvPr/>
        </p:nvSpPr>
        <p:spPr>
          <a:xfrm>
            <a:off x="0" y="4652010"/>
            <a:ext cx="9144000" cy="480060"/>
          </a:xfrm>
          <a:prstGeom prst="rect">
            <a:avLst/>
          </a:prstGeom>
          <a:solidFill>
            <a:srgbClr val="FFC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5"/>
          <p:cNvSpPr/>
          <p:nvPr/>
        </p:nvSpPr>
        <p:spPr>
          <a:xfrm>
            <a:off x="457200" y="4709160"/>
            <a:ext cx="640080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ADCFC"/>
              </a:buClr>
              <a:buSzPts val="900"/>
              <a:buFont typeface="Calibri"/>
              <a:buNone/>
            </a:pPr>
            <a:r>
              <a:rPr lang="en-US" sz="900" b="0" i="0" u="none" strike="noStrike" cap="none">
                <a:solidFill>
                  <a:srgbClr val="CADCFC"/>
                </a:solidFill>
                <a:latin typeface="Calibri"/>
                <a:ea typeface="Calibri"/>
                <a:cs typeface="Calibri"/>
                <a:sym typeface="Calibri"/>
              </a:rPr>
              <a:t>MINDEF - Direction des Ressources Humaines</a:t>
            </a:r>
            <a:endParaRPr sz="900" b="0" i="0" u="none" strike="noStrike" cap="none">
              <a:solidFill>
                <a:schemeClr val="dk1"/>
              </a:solidFill>
              <a:latin typeface="Calibri"/>
              <a:ea typeface="Calibri"/>
              <a:cs typeface="Calibri"/>
              <a:sym typeface="Calibri"/>
            </a:endParaRPr>
          </a:p>
        </p:txBody>
      </p:sp>
      <p:sp>
        <p:nvSpPr>
          <p:cNvPr id="54" name="Google Shape;54;p5"/>
          <p:cNvSpPr/>
          <p:nvPr/>
        </p:nvSpPr>
        <p:spPr>
          <a:xfrm>
            <a:off x="457200" y="1074420"/>
            <a:ext cx="3106800" cy="3086100"/>
          </a:xfrm>
          <a:prstGeom prst="rect">
            <a:avLst/>
          </a:prstGeom>
          <a:solidFill>
            <a:srgbClr val="F0F4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5"/>
          <p:cNvSpPr/>
          <p:nvPr/>
        </p:nvSpPr>
        <p:spPr>
          <a:xfrm>
            <a:off x="457200" y="1074420"/>
            <a:ext cx="2651760" cy="54864"/>
          </a:xfrm>
          <a:prstGeom prst="rect">
            <a:avLst/>
          </a:prstGeom>
          <a:solidFill>
            <a:srgbClr val="2E7D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5"/>
          <p:cNvSpPr/>
          <p:nvPr/>
        </p:nvSpPr>
        <p:spPr>
          <a:xfrm>
            <a:off x="640080" y="1289304"/>
            <a:ext cx="2671920" cy="8458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E2761"/>
              </a:buClr>
              <a:buSzPts val="1400"/>
              <a:buFont typeface="Calibri"/>
              <a:buNone/>
            </a:pPr>
            <a:r>
              <a:rPr lang="en-US" sz="1400" b="1" i="0" u="none" strike="noStrike" cap="none" dirty="0">
                <a:solidFill>
                  <a:srgbClr val="1E2761"/>
                </a:solidFill>
                <a:latin typeface="Calibri"/>
                <a:ea typeface="Calibri"/>
                <a:cs typeface="Calibri"/>
                <a:sym typeface="Calibri"/>
              </a:rPr>
              <a:t>SIADOC</a:t>
            </a:r>
          </a:p>
          <a:p>
            <a:pPr marL="0" marR="0" lvl="0" indent="0" algn="l" rtl="0">
              <a:spcBef>
                <a:spcPts val="0"/>
              </a:spcBef>
              <a:spcAft>
                <a:spcPts val="0"/>
              </a:spcAft>
              <a:buClr>
                <a:srgbClr val="1E2761"/>
              </a:buClr>
              <a:buSzPts val="1400"/>
              <a:buFont typeface="Calibri"/>
              <a:buNone/>
            </a:pPr>
            <a:r>
              <a:rPr lang="en-US" i="1" dirty="0" err="1">
                <a:solidFill>
                  <a:srgbClr val="1E2761"/>
                </a:solidFill>
                <a:latin typeface="Calibri"/>
                <a:ea typeface="Calibri"/>
                <a:cs typeface="Calibri"/>
                <a:sym typeface="Calibri"/>
              </a:rPr>
              <a:t>Gestion</a:t>
            </a:r>
            <a:r>
              <a:rPr lang="en-US" i="1" dirty="0">
                <a:solidFill>
                  <a:srgbClr val="1E2761"/>
                </a:solidFill>
                <a:latin typeface="Calibri"/>
                <a:ea typeface="Calibri"/>
                <a:cs typeface="Calibri"/>
                <a:sym typeface="Calibri"/>
              </a:rPr>
              <a:t> des archives </a:t>
            </a:r>
            <a:r>
              <a:rPr lang="en-US" i="1" dirty="0" err="1">
                <a:solidFill>
                  <a:srgbClr val="1E2761"/>
                </a:solidFill>
                <a:latin typeface="Calibri"/>
                <a:ea typeface="Calibri"/>
                <a:cs typeface="Calibri"/>
                <a:sym typeface="Calibri"/>
              </a:rPr>
              <a:t>numériques</a:t>
            </a:r>
            <a:endParaRPr sz="1400" i="1" u="none" strike="noStrike" cap="none" dirty="0">
              <a:solidFill>
                <a:schemeClr val="dk1"/>
              </a:solidFill>
              <a:latin typeface="Calibri"/>
              <a:ea typeface="Calibri"/>
              <a:cs typeface="Calibri"/>
              <a:sym typeface="Calibri"/>
            </a:endParaRPr>
          </a:p>
        </p:txBody>
      </p:sp>
      <p:sp>
        <p:nvSpPr>
          <p:cNvPr id="57" name="Google Shape;57;p5"/>
          <p:cNvSpPr/>
          <p:nvPr/>
        </p:nvSpPr>
        <p:spPr>
          <a:xfrm>
            <a:off x="640080" y="2100834"/>
            <a:ext cx="2765520" cy="1753632"/>
          </a:xfrm>
          <a:prstGeom prst="rect">
            <a:avLst/>
          </a:prstGeom>
          <a:noFill/>
          <a:ln>
            <a:noFill/>
          </a:ln>
        </p:spPr>
        <p:txBody>
          <a:bodyPr spcFirstLastPara="1" wrap="square" lIns="91425" tIns="45700" rIns="91425" bIns="45700" anchor="ctr" anchorCtr="0">
            <a:noAutofit/>
          </a:bodyPr>
          <a:lstStyle/>
          <a:p>
            <a:pPr marL="171450" marR="0" lvl="0" indent="-171450" algn="l" rtl="0">
              <a:lnSpc>
                <a:spcPct val="130000"/>
              </a:lnSpc>
              <a:spcBef>
                <a:spcPts val="0"/>
              </a:spcBef>
              <a:spcAft>
                <a:spcPts val="0"/>
              </a:spcAft>
              <a:buClr>
                <a:srgbClr val="6B7280"/>
              </a:buClr>
              <a:buSzPts val="1100"/>
              <a:buFont typeface="Wingdings" panose="05000000000000000000" pitchFamily="2" charset="2"/>
              <a:buChar char="ü"/>
            </a:pPr>
            <a:r>
              <a:rPr lang="en-US" b="0" i="0" u="none" strike="noStrike" cap="none" dirty="0" err="1">
                <a:solidFill>
                  <a:srgbClr val="6B7280"/>
                </a:solidFill>
                <a:latin typeface="Calibri"/>
                <a:ea typeface="Calibri"/>
                <a:cs typeface="Calibri"/>
                <a:sym typeface="Calibri"/>
              </a:rPr>
              <a:t>Numérisation</a:t>
            </a:r>
            <a:r>
              <a:rPr lang="en-US" b="0" i="0" u="none" strike="noStrike" cap="none" dirty="0">
                <a:solidFill>
                  <a:srgbClr val="6B7280"/>
                </a:solidFill>
                <a:latin typeface="Calibri"/>
                <a:ea typeface="Calibri"/>
                <a:cs typeface="Calibri"/>
                <a:sym typeface="Calibri"/>
              </a:rPr>
              <a:t> de 170.000 dossiers</a:t>
            </a:r>
          </a:p>
          <a:p>
            <a:pPr marL="171450" marR="0" lvl="0" indent="-171450" algn="l" rtl="0">
              <a:lnSpc>
                <a:spcPct val="130000"/>
              </a:lnSpc>
              <a:spcBef>
                <a:spcPts val="0"/>
              </a:spcBef>
              <a:spcAft>
                <a:spcPts val="0"/>
              </a:spcAft>
              <a:buClr>
                <a:srgbClr val="6B7280"/>
              </a:buClr>
              <a:buSzPts val="1100"/>
              <a:buFont typeface="Wingdings" panose="05000000000000000000" pitchFamily="2" charset="2"/>
              <a:buChar char="ü"/>
            </a:pPr>
            <a:r>
              <a:rPr lang="en-US" dirty="0">
                <a:solidFill>
                  <a:srgbClr val="6B7280"/>
                </a:solidFill>
                <a:latin typeface="Calibri"/>
                <a:ea typeface="Calibri"/>
                <a:cs typeface="Calibri"/>
                <a:sym typeface="Calibri"/>
              </a:rPr>
              <a:t>Indexation </a:t>
            </a:r>
            <a:r>
              <a:rPr lang="en-US" dirty="0" err="1">
                <a:solidFill>
                  <a:srgbClr val="6B7280"/>
                </a:solidFill>
                <a:latin typeface="Calibri"/>
                <a:ea typeface="Calibri"/>
                <a:cs typeface="Calibri"/>
                <a:sym typeface="Calibri"/>
              </a:rPr>
              <a:t>méta-données</a:t>
            </a:r>
            <a:endParaRPr lang="en-US" dirty="0">
              <a:solidFill>
                <a:srgbClr val="6B7280"/>
              </a:solidFill>
              <a:latin typeface="Calibri"/>
              <a:ea typeface="Calibri"/>
              <a:cs typeface="Calibri"/>
              <a:sym typeface="Calibri"/>
            </a:endParaRPr>
          </a:p>
          <a:p>
            <a:pPr marL="171450" marR="0" lvl="0" indent="-171450" algn="l" rtl="0">
              <a:lnSpc>
                <a:spcPct val="130000"/>
              </a:lnSpc>
              <a:spcBef>
                <a:spcPts val="0"/>
              </a:spcBef>
              <a:spcAft>
                <a:spcPts val="0"/>
              </a:spcAft>
              <a:buClr>
                <a:srgbClr val="6B7280"/>
              </a:buClr>
              <a:buSzPts val="1100"/>
              <a:buFont typeface="Wingdings" panose="05000000000000000000" pitchFamily="2" charset="2"/>
              <a:buChar char="ü"/>
            </a:pPr>
            <a:r>
              <a:rPr lang="en-US" b="0" i="0" u="none" strike="noStrike" cap="none" dirty="0" err="1">
                <a:solidFill>
                  <a:srgbClr val="6B7280"/>
                </a:solidFill>
                <a:latin typeface="Calibri"/>
                <a:ea typeface="Calibri"/>
                <a:cs typeface="Calibri"/>
                <a:sym typeface="Calibri"/>
              </a:rPr>
              <a:t>Coffre</a:t>
            </a:r>
            <a:r>
              <a:rPr lang="en-US" b="0" i="0" u="none" strike="noStrike" cap="none" dirty="0">
                <a:solidFill>
                  <a:srgbClr val="6B7280"/>
                </a:solidFill>
                <a:latin typeface="Calibri"/>
                <a:ea typeface="Calibri"/>
                <a:cs typeface="Calibri"/>
                <a:sym typeface="Calibri"/>
              </a:rPr>
              <a:t>-fort </a:t>
            </a:r>
            <a:r>
              <a:rPr lang="en-US" b="0" i="0" u="none" strike="noStrike" cap="none" dirty="0" err="1">
                <a:solidFill>
                  <a:srgbClr val="6B7280"/>
                </a:solidFill>
                <a:latin typeface="Calibri"/>
                <a:ea typeface="Calibri"/>
                <a:cs typeface="Calibri"/>
                <a:sym typeface="Calibri"/>
              </a:rPr>
              <a:t>numérique</a:t>
            </a:r>
            <a:endParaRPr lang="en-US" b="0" i="0" u="none" strike="noStrike" cap="none" dirty="0">
              <a:solidFill>
                <a:srgbClr val="6B7280"/>
              </a:solidFill>
              <a:latin typeface="Calibri"/>
              <a:ea typeface="Calibri"/>
              <a:cs typeface="Calibri"/>
              <a:sym typeface="Calibri"/>
            </a:endParaRPr>
          </a:p>
          <a:p>
            <a:pPr marL="171450" marR="0" lvl="0" indent="-171450" algn="l" rtl="0">
              <a:lnSpc>
                <a:spcPct val="130000"/>
              </a:lnSpc>
              <a:spcBef>
                <a:spcPts val="0"/>
              </a:spcBef>
              <a:spcAft>
                <a:spcPts val="0"/>
              </a:spcAft>
              <a:buClr>
                <a:srgbClr val="6B7280"/>
              </a:buClr>
              <a:buSzPts val="1100"/>
              <a:buFont typeface="Wingdings" panose="05000000000000000000" pitchFamily="2" charset="2"/>
              <a:buChar char="ü"/>
            </a:pPr>
            <a:r>
              <a:rPr lang="en-US" dirty="0">
                <a:solidFill>
                  <a:srgbClr val="6B7280"/>
                </a:solidFill>
                <a:latin typeface="Calibri"/>
                <a:ea typeface="Calibri"/>
                <a:cs typeface="Calibri"/>
                <a:sym typeface="Calibri"/>
              </a:rPr>
              <a:t>Stockage </a:t>
            </a:r>
            <a:r>
              <a:rPr lang="en-US" dirty="0" err="1">
                <a:solidFill>
                  <a:srgbClr val="6B7280"/>
                </a:solidFill>
                <a:latin typeface="Calibri"/>
                <a:ea typeface="Calibri"/>
                <a:cs typeface="Calibri"/>
                <a:sym typeface="Calibri"/>
              </a:rPr>
              <a:t>pérenne</a:t>
            </a:r>
            <a:r>
              <a:rPr lang="en-US" dirty="0">
                <a:solidFill>
                  <a:srgbClr val="6B7280"/>
                </a:solidFill>
                <a:latin typeface="Calibri"/>
                <a:ea typeface="Calibri"/>
                <a:cs typeface="Calibri"/>
                <a:sym typeface="Calibri"/>
              </a:rPr>
              <a:t> &amp; </a:t>
            </a:r>
            <a:r>
              <a:rPr lang="en-US" dirty="0" err="1">
                <a:solidFill>
                  <a:srgbClr val="6B7280"/>
                </a:solidFill>
                <a:latin typeface="Calibri"/>
                <a:ea typeface="Calibri"/>
                <a:cs typeface="Calibri"/>
                <a:sym typeface="Calibri"/>
              </a:rPr>
              <a:t>inaltérable</a:t>
            </a:r>
            <a:endParaRPr lang="en-US" b="0" i="0" u="none" strike="noStrike" cap="none" dirty="0">
              <a:solidFill>
                <a:srgbClr val="6B7280"/>
              </a:solidFill>
              <a:latin typeface="Calibri"/>
              <a:ea typeface="Calibri"/>
              <a:cs typeface="Calibri"/>
              <a:sym typeface="Calibri"/>
            </a:endParaRPr>
          </a:p>
          <a:p>
            <a:pPr marL="171450" marR="0" lvl="0" indent="-171450" algn="l" rtl="0">
              <a:lnSpc>
                <a:spcPct val="130000"/>
              </a:lnSpc>
              <a:spcBef>
                <a:spcPts val="0"/>
              </a:spcBef>
              <a:spcAft>
                <a:spcPts val="0"/>
              </a:spcAft>
              <a:buClr>
                <a:srgbClr val="6B7280"/>
              </a:buClr>
              <a:buSzPts val="1100"/>
              <a:buFont typeface="Wingdings" panose="05000000000000000000" pitchFamily="2" charset="2"/>
              <a:buChar char="ü"/>
            </a:pPr>
            <a:endParaRPr b="0" i="0" u="none" strike="noStrike" cap="none" dirty="0">
              <a:solidFill>
                <a:schemeClr val="dk1"/>
              </a:solidFill>
              <a:latin typeface="Calibri"/>
              <a:ea typeface="Calibri"/>
              <a:cs typeface="Calibri"/>
              <a:sym typeface="Calibri"/>
            </a:endParaRPr>
          </a:p>
        </p:txBody>
      </p:sp>
      <p:sp>
        <p:nvSpPr>
          <p:cNvPr id="58" name="Google Shape;58;p5"/>
          <p:cNvSpPr/>
          <p:nvPr/>
        </p:nvSpPr>
        <p:spPr>
          <a:xfrm>
            <a:off x="5709600" y="1051560"/>
            <a:ext cx="2977200" cy="3108960"/>
          </a:xfrm>
          <a:prstGeom prst="rect">
            <a:avLst/>
          </a:prstGeom>
          <a:solidFill>
            <a:srgbClr val="F0F4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5"/>
          <p:cNvSpPr/>
          <p:nvPr/>
        </p:nvSpPr>
        <p:spPr>
          <a:xfrm>
            <a:off x="6035040" y="1056132"/>
            <a:ext cx="2651760" cy="54864"/>
          </a:xfrm>
          <a:prstGeom prst="rect">
            <a:avLst/>
          </a:prstGeom>
          <a:solidFill>
            <a:srgbClr val="C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5"/>
          <p:cNvSpPr/>
          <p:nvPr/>
        </p:nvSpPr>
        <p:spPr>
          <a:xfrm>
            <a:off x="5929920" y="1198548"/>
            <a:ext cx="2659680" cy="774954"/>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E2761"/>
              </a:buClr>
              <a:buSzPts val="1400"/>
              <a:buFont typeface="Calibri"/>
              <a:buNone/>
            </a:pPr>
            <a:r>
              <a:rPr lang="en-US" sz="1400" b="1" i="0" u="none" strike="noStrike" cap="none" dirty="0">
                <a:solidFill>
                  <a:srgbClr val="1E2761"/>
                </a:solidFill>
                <a:latin typeface="Calibri"/>
                <a:ea typeface="Calibri"/>
                <a:cs typeface="Calibri"/>
                <a:sym typeface="Calibri"/>
              </a:rPr>
              <a:t>CIMIS</a:t>
            </a:r>
          </a:p>
          <a:p>
            <a:pPr marL="0" marR="0" lvl="0" indent="0" algn="l" rtl="0">
              <a:spcBef>
                <a:spcPts val="0"/>
              </a:spcBef>
              <a:spcAft>
                <a:spcPts val="0"/>
              </a:spcAft>
              <a:buClr>
                <a:srgbClr val="1E2761"/>
              </a:buClr>
              <a:buSzPts val="1400"/>
              <a:buFont typeface="Calibri"/>
              <a:buNone/>
            </a:pPr>
            <a:r>
              <a:rPr lang="en-US" i="1" dirty="0" err="1">
                <a:solidFill>
                  <a:srgbClr val="1E2761"/>
                </a:solidFill>
                <a:latin typeface="Calibri"/>
                <a:ea typeface="Calibri"/>
                <a:cs typeface="Calibri"/>
                <a:sym typeface="Calibri"/>
              </a:rPr>
              <a:t>Gestion</a:t>
            </a:r>
            <a:r>
              <a:rPr lang="en-US" i="1" dirty="0">
                <a:solidFill>
                  <a:srgbClr val="1E2761"/>
                </a:solidFill>
                <a:latin typeface="Calibri"/>
                <a:ea typeface="Calibri"/>
                <a:cs typeface="Calibri"/>
                <a:sym typeface="Calibri"/>
              </a:rPr>
              <a:t> </a:t>
            </a:r>
            <a:r>
              <a:rPr lang="en-US" i="1" dirty="0" err="1">
                <a:solidFill>
                  <a:srgbClr val="1E2761"/>
                </a:solidFill>
                <a:latin typeface="Calibri"/>
                <a:ea typeface="Calibri"/>
                <a:cs typeface="Calibri"/>
                <a:sym typeface="Calibri"/>
              </a:rPr>
              <a:t>Identitaire</a:t>
            </a:r>
            <a:endParaRPr sz="1400" i="1" u="none" strike="noStrike" cap="none" dirty="0">
              <a:solidFill>
                <a:schemeClr val="dk1"/>
              </a:solidFill>
              <a:latin typeface="Calibri"/>
              <a:ea typeface="Calibri"/>
              <a:cs typeface="Calibri"/>
              <a:sym typeface="Calibri"/>
            </a:endParaRPr>
          </a:p>
        </p:txBody>
      </p:sp>
      <p:sp>
        <p:nvSpPr>
          <p:cNvPr id="61" name="Google Shape;61;p5"/>
          <p:cNvSpPr/>
          <p:nvPr/>
        </p:nvSpPr>
        <p:spPr>
          <a:xfrm>
            <a:off x="5929920" y="2212848"/>
            <a:ext cx="2540384" cy="1097280"/>
          </a:xfrm>
          <a:prstGeom prst="rect">
            <a:avLst/>
          </a:prstGeom>
          <a:noFill/>
          <a:ln>
            <a:noFill/>
          </a:ln>
        </p:spPr>
        <p:txBody>
          <a:bodyPr spcFirstLastPara="1" wrap="square" lIns="91425" tIns="45700" rIns="91425" bIns="45700" anchor="ctr" anchorCtr="0">
            <a:noAutofit/>
          </a:bodyPr>
          <a:lstStyle/>
          <a:p>
            <a:pPr marL="171450" marR="0" lvl="0" indent="-171450" algn="l" rtl="0">
              <a:lnSpc>
                <a:spcPct val="130000"/>
              </a:lnSpc>
              <a:spcBef>
                <a:spcPts val="0"/>
              </a:spcBef>
              <a:spcAft>
                <a:spcPts val="0"/>
              </a:spcAft>
              <a:buClr>
                <a:srgbClr val="6B7280"/>
              </a:buClr>
              <a:buSzPts val="1100"/>
              <a:buFont typeface="Wingdings" panose="05000000000000000000" pitchFamily="2" charset="2"/>
              <a:buChar char="Ø"/>
            </a:pPr>
            <a:r>
              <a:rPr lang="en-US" b="0" i="0" u="none" strike="noStrike" cap="none" dirty="0" err="1">
                <a:solidFill>
                  <a:srgbClr val="6B7280"/>
                </a:solidFill>
                <a:latin typeface="Calibri"/>
                <a:ea typeface="Calibri"/>
                <a:cs typeface="Calibri"/>
                <a:sym typeface="Calibri"/>
              </a:rPr>
              <a:t>Enregistrement</a:t>
            </a:r>
            <a:r>
              <a:rPr lang="en-US" b="0" i="0" u="none" strike="noStrike" cap="none" dirty="0">
                <a:solidFill>
                  <a:srgbClr val="6B7280"/>
                </a:solidFill>
                <a:latin typeface="Calibri"/>
                <a:ea typeface="Calibri"/>
                <a:cs typeface="Calibri"/>
                <a:sym typeface="Calibri"/>
              </a:rPr>
              <a:t> de </a:t>
            </a:r>
            <a:r>
              <a:rPr lang="en-US" b="0" i="0" u="none" strike="noStrike" cap="none" dirty="0" err="1">
                <a:solidFill>
                  <a:srgbClr val="6B7280"/>
                </a:solidFill>
                <a:latin typeface="Calibri"/>
                <a:ea typeface="Calibri"/>
                <a:cs typeface="Calibri"/>
                <a:sym typeface="Calibri"/>
              </a:rPr>
              <a:t>l’identité</a:t>
            </a:r>
            <a:r>
              <a:rPr lang="en-US" b="0" i="0" u="none" strike="noStrike" cap="none" dirty="0">
                <a:solidFill>
                  <a:srgbClr val="6B7280"/>
                </a:solidFill>
                <a:latin typeface="Calibri"/>
                <a:ea typeface="Calibri"/>
                <a:cs typeface="Calibri"/>
                <a:sym typeface="Calibri"/>
              </a:rPr>
              <a:t> du </a:t>
            </a:r>
            <a:r>
              <a:rPr lang="en-US" b="0" i="0" u="none" strike="noStrike" cap="none" dirty="0" err="1">
                <a:solidFill>
                  <a:srgbClr val="6B7280"/>
                </a:solidFill>
                <a:latin typeface="Calibri"/>
                <a:ea typeface="Calibri"/>
                <a:cs typeface="Calibri"/>
                <a:sym typeface="Calibri"/>
              </a:rPr>
              <a:t>militaire</a:t>
            </a:r>
            <a:r>
              <a:rPr lang="en-US" b="0" i="0" u="none" strike="noStrike" cap="none" dirty="0">
                <a:solidFill>
                  <a:srgbClr val="6B7280"/>
                </a:solidFill>
                <a:latin typeface="Calibri"/>
                <a:ea typeface="Calibri"/>
                <a:cs typeface="Calibri"/>
                <a:sym typeface="Calibri"/>
              </a:rPr>
              <a:t> </a:t>
            </a:r>
            <a:r>
              <a:rPr lang="en-US" b="0" i="0" u="none" strike="noStrike" cap="none" dirty="0" err="1">
                <a:solidFill>
                  <a:srgbClr val="6B7280"/>
                </a:solidFill>
                <a:latin typeface="Calibri"/>
                <a:ea typeface="Calibri"/>
                <a:cs typeface="Calibri"/>
                <a:sym typeface="Calibri"/>
              </a:rPr>
              <a:t>selon</a:t>
            </a:r>
            <a:r>
              <a:rPr lang="en-US" b="0" i="0" u="none" strike="noStrike" cap="none" dirty="0">
                <a:solidFill>
                  <a:srgbClr val="6B7280"/>
                </a:solidFill>
                <a:latin typeface="Calibri"/>
                <a:ea typeface="Calibri"/>
                <a:cs typeface="Calibri"/>
                <a:sym typeface="Calibri"/>
              </a:rPr>
              <a:t> </a:t>
            </a:r>
            <a:r>
              <a:rPr lang="en-US" b="0" i="0" u="none" strike="noStrike" cap="none" dirty="0" err="1">
                <a:solidFill>
                  <a:srgbClr val="6B7280"/>
                </a:solidFill>
                <a:latin typeface="Calibri"/>
                <a:ea typeface="Calibri"/>
                <a:cs typeface="Calibri"/>
                <a:sym typeface="Calibri"/>
              </a:rPr>
              <a:t>plusieurs</a:t>
            </a:r>
            <a:r>
              <a:rPr lang="en-US" b="0" i="0" u="none" strike="noStrike" cap="none" dirty="0">
                <a:solidFill>
                  <a:srgbClr val="6B7280"/>
                </a:solidFill>
                <a:latin typeface="Calibri"/>
                <a:ea typeface="Calibri"/>
                <a:cs typeface="Calibri"/>
                <a:sym typeface="Calibri"/>
              </a:rPr>
              <a:t> </a:t>
            </a:r>
            <a:r>
              <a:rPr lang="en-US" b="0" i="0" u="none" strike="noStrike" cap="none" dirty="0" err="1">
                <a:solidFill>
                  <a:srgbClr val="6B7280"/>
                </a:solidFill>
                <a:latin typeface="Calibri"/>
                <a:ea typeface="Calibri"/>
                <a:cs typeface="Calibri"/>
                <a:sym typeface="Calibri"/>
              </a:rPr>
              <a:t>critères</a:t>
            </a:r>
            <a:endParaRPr lang="en-US" b="0" i="0" u="none" strike="noStrike" cap="none" dirty="0">
              <a:solidFill>
                <a:srgbClr val="6B7280"/>
              </a:solidFill>
              <a:latin typeface="Calibri"/>
              <a:ea typeface="Calibri"/>
              <a:cs typeface="Calibri"/>
              <a:sym typeface="Calibri"/>
            </a:endParaRPr>
          </a:p>
          <a:p>
            <a:pPr marL="171450" marR="0" lvl="0" indent="-171450" algn="l" rtl="0">
              <a:lnSpc>
                <a:spcPct val="130000"/>
              </a:lnSpc>
              <a:spcBef>
                <a:spcPts val="0"/>
              </a:spcBef>
              <a:spcAft>
                <a:spcPts val="0"/>
              </a:spcAft>
              <a:buClr>
                <a:srgbClr val="6B7280"/>
              </a:buClr>
              <a:buSzPts val="1100"/>
              <a:buFont typeface="Wingdings" panose="05000000000000000000" pitchFamily="2" charset="2"/>
              <a:buChar char="Ø"/>
            </a:pPr>
            <a:r>
              <a:rPr lang="en-US" dirty="0" err="1">
                <a:solidFill>
                  <a:srgbClr val="6B7280"/>
                </a:solidFill>
                <a:latin typeface="Calibri"/>
                <a:ea typeface="Calibri"/>
                <a:cs typeface="Calibri"/>
                <a:sym typeface="Calibri"/>
              </a:rPr>
              <a:t>Renseignements</a:t>
            </a:r>
            <a:r>
              <a:rPr lang="en-US" dirty="0">
                <a:solidFill>
                  <a:srgbClr val="6B7280"/>
                </a:solidFill>
                <a:latin typeface="Calibri"/>
                <a:ea typeface="Calibri"/>
                <a:cs typeface="Calibri"/>
                <a:sym typeface="Calibri"/>
              </a:rPr>
              <a:t> </a:t>
            </a:r>
            <a:r>
              <a:rPr lang="en-US" dirty="0" err="1">
                <a:solidFill>
                  <a:srgbClr val="6B7280"/>
                </a:solidFill>
                <a:latin typeface="Calibri"/>
                <a:ea typeface="Calibri"/>
                <a:cs typeface="Calibri"/>
                <a:sym typeface="Calibri"/>
              </a:rPr>
              <a:t>médicaux</a:t>
            </a:r>
            <a:endParaRPr lang="en-US" b="0" i="0" u="none" strike="noStrike" cap="none" dirty="0">
              <a:solidFill>
                <a:srgbClr val="6B7280"/>
              </a:solidFill>
              <a:latin typeface="Calibri"/>
              <a:ea typeface="Calibri"/>
              <a:cs typeface="Calibri"/>
              <a:sym typeface="Calibri"/>
            </a:endParaRPr>
          </a:p>
          <a:p>
            <a:pPr marL="171450" marR="0" lvl="0" indent="-171450" algn="l" rtl="0">
              <a:lnSpc>
                <a:spcPct val="130000"/>
              </a:lnSpc>
              <a:spcBef>
                <a:spcPts val="0"/>
              </a:spcBef>
              <a:spcAft>
                <a:spcPts val="0"/>
              </a:spcAft>
              <a:buClr>
                <a:srgbClr val="6B7280"/>
              </a:buClr>
              <a:buSzPts val="1100"/>
              <a:buFont typeface="Wingdings" panose="05000000000000000000" pitchFamily="2" charset="2"/>
              <a:buChar char="Ø"/>
            </a:pPr>
            <a:r>
              <a:rPr lang="en-US" dirty="0" err="1">
                <a:solidFill>
                  <a:srgbClr val="6B7280"/>
                </a:solidFill>
                <a:latin typeface="Calibri"/>
                <a:ea typeface="Calibri"/>
                <a:cs typeface="Calibri"/>
                <a:sym typeface="Calibri"/>
              </a:rPr>
              <a:t>Biométrie</a:t>
            </a:r>
            <a:endParaRPr lang="en-US" dirty="0">
              <a:solidFill>
                <a:srgbClr val="6B7280"/>
              </a:solidFill>
              <a:latin typeface="Calibri"/>
              <a:ea typeface="Calibri"/>
              <a:cs typeface="Calibri"/>
              <a:sym typeface="Calibri"/>
            </a:endParaRPr>
          </a:p>
          <a:p>
            <a:pPr marL="171450" marR="0" lvl="0" indent="-171450" algn="l" rtl="0">
              <a:lnSpc>
                <a:spcPct val="130000"/>
              </a:lnSpc>
              <a:spcBef>
                <a:spcPts val="0"/>
              </a:spcBef>
              <a:spcAft>
                <a:spcPts val="0"/>
              </a:spcAft>
              <a:buClr>
                <a:srgbClr val="6B7280"/>
              </a:buClr>
              <a:buSzPts val="1100"/>
              <a:buFont typeface="Wingdings" panose="05000000000000000000" pitchFamily="2" charset="2"/>
              <a:buChar char="Ø"/>
            </a:pPr>
            <a:r>
              <a:rPr lang="en-US" b="0" i="0" u="none" strike="noStrike" cap="none" dirty="0">
                <a:solidFill>
                  <a:srgbClr val="6B7280"/>
                </a:solidFill>
                <a:latin typeface="Calibri"/>
                <a:ea typeface="Calibri"/>
                <a:cs typeface="Calibri"/>
                <a:sym typeface="Calibri"/>
              </a:rPr>
              <a:t>Aptitudes </a:t>
            </a:r>
            <a:r>
              <a:rPr lang="en-US" b="0" i="0" u="none" strike="noStrike" cap="none" dirty="0" err="1">
                <a:solidFill>
                  <a:srgbClr val="6B7280"/>
                </a:solidFill>
                <a:latin typeface="Calibri"/>
                <a:ea typeface="Calibri"/>
                <a:cs typeface="Calibri"/>
                <a:sym typeface="Calibri"/>
              </a:rPr>
              <a:t>opérationnelles</a:t>
            </a:r>
            <a:endParaRPr b="0" i="0" u="none" strike="noStrike" cap="none" dirty="0">
              <a:solidFill>
                <a:schemeClr val="dk1"/>
              </a:solidFill>
              <a:latin typeface="Calibri"/>
              <a:ea typeface="Calibri"/>
              <a:cs typeface="Calibri"/>
              <a:sym typeface="Calibri"/>
            </a:endParaRPr>
          </a:p>
        </p:txBody>
      </p:sp>
      <p:grpSp>
        <p:nvGrpSpPr>
          <p:cNvPr id="21" name="Google Shape;17908;p63"/>
          <p:cNvGrpSpPr/>
          <p:nvPr/>
        </p:nvGrpSpPr>
        <p:grpSpPr>
          <a:xfrm>
            <a:off x="2319319" y="1325880"/>
            <a:ext cx="344321" cy="348155"/>
            <a:chOff x="7551264" y="1971904"/>
            <a:chExt cx="344321" cy="348155"/>
          </a:xfrm>
        </p:grpSpPr>
        <p:sp>
          <p:nvSpPr>
            <p:cNvPr id="22" name="Google Shape;17909;p63"/>
            <p:cNvSpPr/>
            <p:nvPr/>
          </p:nvSpPr>
          <p:spPr>
            <a:xfrm>
              <a:off x="7820665" y="1973164"/>
              <a:ext cx="9086" cy="73659"/>
            </a:xfrm>
            <a:custGeom>
              <a:avLst/>
              <a:gdLst/>
              <a:ahLst/>
              <a:cxnLst/>
              <a:rect l="l" t="t" r="r" b="b"/>
              <a:pathLst>
                <a:path w="346" h="2805" extrusionOk="0">
                  <a:moveTo>
                    <a:pt x="1" y="1"/>
                  </a:moveTo>
                  <a:lnTo>
                    <a:pt x="1" y="2805"/>
                  </a:lnTo>
                  <a:lnTo>
                    <a:pt x="346" y="2805"/>
                  </a:lnTo>
                  <a:lnTo>
                    <a:pt x="346" y="336"/>
                  </a:lnTo>
                  <a:lnTo>
                    <a:pt x="1" y="1"/>
                  </a:lnTo>
                  <a:close/>
                </a:path>
              </a:pathLst>
            </a:custGeom>
            <a:solidFill>
              <a:srgbClr val="DEE5EA"/>
            </a:solidFill>
            <a:ln w="12700">
              <a:solidFill>
                <a:srgbClr val="2E7D3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7910;p63"/>
            <p:cNvSpPr/>
            <p:nvPr/>
          </p:nvSpPr>
          <p:spPr>
            <a:xfrm>
              <a:off x="7625396" y="1971904"/>
              <a:ext cx="270189" cy="348103"/>
            </a:xfrm>
            <a:custGeom>
              <a:avLst/>
              <a:gdLst/>
              <a:ahLst/>
              <a:cxnLst/>
              <a:rect l="l" t="t" r="r" b="b"/>
              <a:pathLst>
                <a:path w="10289" h="13256" extrusionOk="0">
                  <a:moveTo>
                    <a:pt x="269" y="1"/>
                  </a:moveTo>
                  <a:cubicBezTo>
                    <a:pt x="116" y="1"/>
                    <a:pt x="1" y="135"/>
                    <a:pt x="20" y="288"/>
                  </a:cubicBezTo>
                  <a:lnTo>
                    <a:pt x="20" y="5408"/>
                  </a:lnTo>
                  <a:lnTo>
                    <a:pt x="173" y="5408"/>
                  </a:lnTo>
                  <a:cubicBezTo>
                    <a:pt x="1111" y="5446"/>
                    <a:pt x="1848" y="6212"/>
                    <a:pt x="1848" y="7150"/>
                  </a:cubicBezTo>
                  <a:lnTo>
                    <a:pt x="1848" y="7849"/>
                  </a:lnTo>
                  <a:cubicBezTo>
                    <a:pt x="2039" y="8126"/>
                    <a:pt x="1972" y="8499"/>
                    <a:pt x="1704" y="8700"/>
                  </a:cubicBezTo>
                  <a:lnTo>
                    <a:pt x="1456" y="8882"/>
                  </a:lnTo>
                  <a:cubicBezTo>
                    <a:pt x="1369" y="9284"/>
                    <a:pt x="1101" y="9629"/>
                    <a:pt x="738" y="9801"/>
                  </a:cubicBezTo>
                  <a:lnTo>
                    <a:pt x="738" y="10212"/>
                  </a:lnTo>
                  <a:lnTo>
                    <a:pt x="2011" y="10720"/>
                  </a:lnTo>
                  <a:cubicBezTo>
                    <a:pt x="2575" y="10949"/>
                    <a:pt x="2939" y="11514"/>
                    <a:pt x="2910" y="12126"/>
                  </a:cubicBezTo>
                  <a:lnTo>
                    <a:pt x="2910" y="13256"/>
                  </a:lnTo>
                  <a:lnTo>
                    <a:pt x="9897" y="13256"/>
                  </a:lnTo>
                  <a:cubicBezTo>
                    <a:pt x="10059" y="13227"/>
                    <a:pt x="10289" y="13122"/>
                    <a:pt x="10289" y="12672"/>
                  </a:cubicBezTo>
                  <a:lnTo>
                    <a:pt x="10289" y="2853"/>
                  </a:lnTo>
                  <a:lnTo>
                    <a:pt x="8576" y="1561"/>
                  </a:lnTo>
                  <a:lnTo>
                    <a:pt x="7437" y="1"/>
                  </a:lnTo>
                  <a:close/>
                </a:path>
              </a:pathLst>
            </a:custGeom>
            <a:solidFill>
              <a:srgbClr val="DEE5EA"/>
            </a:solidFill>
            <a:ln w="12700">
              <a:solidFill>
                <a:srgbClr val="2E7D3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7911;p63"/>
            <p:cNvSpPr/>
            <p:nvPr/>
          </p:nvSpPr>
          <p:spPr>
            <a:xfrm>
              <a:off x="7625396" y="1971904"/>
              <a:ext cx="86238" cy="348103"/>
            </a:xfrm>
            <a:custGeom>
              <a:avLst/>
              <a:gdLst/>
              <a:ahLst/>
              <a:cxnLst/>
              <a:rect l="l" t="t" r="r" b="b"/>
              <a:pathLst>
                <a:path w="3284" h="13256" extrusionOk="0">
                  <a:moveTo>
                    <a:pt x="278" y="1"/>
                  </a:moveTo>
                  <a:cubicBezTo>
                    <a:pt x="125" y="11"/>
                    <a:pt x="1" y="144"/>
                    <a:pt x="20" y="288"/>
                  </a:cubicBezTo>
                  <a:lnTo>
                    <a:pt x="20" y="5408"/>
                  </a:lnTo>
                  <a:lnTo>
                    <a:pt x="183" y="5408"/>
                  </a:lnTo>
                  <a:cubicBezTo>
                    <a:pt x="1111" y="5446"/>
                    <a:pt x="1857" y="6212"/>
                    <a:pt x="1857" y="7150"/>
                  </a:cubicBezTo>
                  <a:lnTo>
                    <a:pt x="1857" y="7849"/>
                  </a:lnTo>
                  <a:cubicBezTo>
                    <a:pt x="1924" y="7954"/>
                    <a:pt x="1963" y="8078"/>
                    <a:pt x="1963" y="8203"/>
                  </a:cubicBezTo>
                  <a:cubicBezTo>
                    <a:pt x="1963" y="8394"/>
                    <a:pt x="1704" y="8480"/>
                    <a:pt x="1551" y="8595"/>
                  </a:cubicBezTo>
                  <a:lnTo>
                    <a:pt x="1456" y="8882"/>
                  </a:lnTo>
                  <a:cubicBezTo>
                    <a:pt x="1379" y="9294"/>
                    <a:pt x="1111" y="9629"/>
                    <a:pt x="738" y="9810"/>
                  </a:cubicBezTo>
                  <a:lnTo>
                    <a:pt x="738" y="10212"/>
                  </a:lnTo>
                  <a:lnTo>
                    <a:pt x="2011" y="10729"/>
                  </a:lnTo>
                  <a:cubicBezTo>
                    <a:pt x="2575" y="10949"/>
                    <a:pt x="2939" y="11514"/>
                    <a:pt x="2920" y="12126"/>
                  </a:cubicBezTo>
                  <a:lnTo>
                    <a:pt x="2728" y="13256"/>
                  </a:lnTo>
                  <a:lnTo>
                    <a:pt x="3264" y="13256"/>
                  </a:lnTo>
                  <a:lnTo>
                    <a:pt x="3264" y="12126"/>
                  </a:lnTo>
                  <a:cubicBezTo>
                    <a:pt x="3283" y="11514"/>
                    <a:pt x="2920" y="10959"/>
                    <a:pt x="2346" y="10729"/>
                  </a:cubicBezTo>
                  <a:lnTo>
                    <a:pt x="1073" y="10212"/>
                  </a:lnTo>
                  <a:lnTo>
                    <a:pt x="1073" y="9810"/>
                  </a:lnTo>
                  <a:cubicBezTo>
                    <a:pt x="1446" y="9629"/>
                    <a:pt x="1714" y="9294"/>
                    <a:pt x="1791" y="8892"/>
                  </a:cubicBezTo>
                  <a:lnTo>
                    <a:pt x="2049" y="8710"/>
                  </a:lnTo>
                  <a:cubicBezTo>
                    <a:pt x="2317" y="8509"/>
                    <a:pt x="2384" y="8136"/>
                    <a:pt x="2192" y="7858"/>
                  </a:cubicBezTo>
                  <a:lnTo>
                    <a:pt x="2192" y="7150"/>
                  </a:lnTo>
                  <a:cubicBezTo>
                    <a:pt x="2192" y="6212"/>
                    <a:pt x="1456" y="5446"/>
                    <a:pt x="518" y="5408"/>
                  </a:cubicBezTo>
                  <a:lnTo>
                    <a:pt x="365" y="5408"/>
                  </a:lnTo>
                  <a:lnTo>
                    <a:pt x="365" y="1"/>
                  </a:lnTo>
                  <a:close/>
                </a:path>
              </a:pathLst>
            </a:custGeom>
            <a:solidFill>
              <a:srgbClr val="D7DFE6"/>
            </a:solidFill>
            <a:ln w="12700">
              <a:solidFill>
                <a:srgbClr val="2E7D3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7912;p63"/>
            <p:cNvSpPr/>
            <p:nvPr/>
          </p:nvSpPr>
          <p:spPr>
            <a:xfrm>
              <a:off x="7685715" y="2063893"/>
              <a:ext cx="103333" cy="11344"/>
            </a:xfrm>
            <a:custGeom>
              <a:avLst/>
              <a:gdLst/>
              <a:ahLst/>
              <a:cxnLst/>
              <a:rect l="l" t="t" r="r" b="b"/>
              <a:pathLst>
                <a:path w="3935" h="432" extrusionOk="0">
                  <a:moveTo>
                    <a:pt x="288" y="1"/>
                  </a:moveTo>
                  <a:cubicBezTo>
                    <a:pt x="1" y="1"/>
                    <a:pt x="1" y="431"/>
                    <a:pt x="288" y="431"/>
                  </a:cubicBezTo>
                  <a:lnTo>
                    <a:pt x="3657" y="431"/>
                  </a:lnTo>
                  <a:cubicBezTo>
                    <a:pt x="3934" y="431"/>
                    <a:pt x="3934" y="1"/>
                    <a:pt x="3657" y="1"/>
                  </a:cubicBezTo>
                  <a:close/>
                </a:path>
              </a:pathLst>
            </a:custGeom>
            <a:solidFill>
              <a:srgbClr val="FFFFFF"/>
            </a:solidFill>
            <a:ln w="12700">
              <a:solidFill>
                <a:srgbClr val="2E7D3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7913;p63"/>
            <p:cNvSpPr/>
            <p:nvPr/>
          </p:nvSpPr>
          <p:spPr>
            <a:xfrm>
              <a:off x="7685715" y="2102337"/>
              <a:ext cx="148553" cy="11344"/>
            </a:xfrm>
            <a:custGeom>
              <a:avLst/>
              <a:gdLst/>
              <a:ahLst/>
              <a:cxnLst/>
              <a:rect l="l" t="t" r="r" b="b"/>
              <a:pathLst>
                <a:path w="5657" h="432" extrusionOk="0">
                  <a:moveTo>
                    <a:pt x="288" y="1"/>
                  </a:moveTo>
                  <a:cubicBezTo>
                    <a:pt x="1" y="1"/>
                    <a:pt x="1" y="432"/>
                    <a:pt x="288" y="432"/>
                  </a:cubicBezTo>
                  <a:lnTo>
                    <a:pt x="5379" y="432"/>
                  </a:lnTo>
                  <a:cubicBezTo>
                    <a:pt x="5657" y="432"/>
                    <a:pt x="5657" y="1"/>
                    <a:pt x="5379" y="1"/>
                  </a:cubicBezTo>
                  <a:close/>
                </a:path>
              </a:pathLst>
            </a:custGeom>
            <a:solidFill>
              <a:srgbClr val="FFFFFF"/>
            </a:solidFill>
            <a:ln w="12700">
              <a:solidFill>
                <a:srgbClr val="2E7D3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7914;p63"/>
            <p:cNvSpPr/>
            <p:nvPr/>
          </p:nvSpPr>
          <p:spPr>
            <a:xfrm>
              <a:off x="7685715" y="2140808"/>
              <a:ext cx="148553" cy="11318"/>
            </a:xfrm>
            <a:custGeom>
              <a:avLst/>
              <a:gdLst/>
              <a:ahLst/>
              <a:cxnLst/>
              <a:rect l="l" t="t" r="r" b="b"/>
              <a:pathLst>
                <a:path w="5657" h="431" extrusionOk="0">
                  <a:moveTo>
                    <a:pt x="288" y="0"/>
                  </a:moveTo>
                  <a:cubicBezTo>
                    <a:pt x="1" y="0"/>
                    <a:pt x="1" y="431"/>
                    <a:pt x="288" y="431"/>
                  </a:cubicBezTo>
                  <a:lnTo>
                    <a:pt x="5379" y="431"/>
                  </a:lnTo>
                  <a:cubicBezTo>
                    <a:pt x="5657" y="431"/>
                    <a:pt x="5657" y="0"/>
                    <a:pt x="5379" y="0"/>
                  </a:cubicBezTo>
                  <a:close/>
                </a:path>
              </a:pathLst>
            </a:custGeom>
            <a:solidFill>
              <a:srgbClr val="FFFFFF"/>
            </a:solidFill>
            <a:ln w="12700">
              <a:solidFill>
                <a:srgbClr val="2E7D3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7915;p63"/>
            <p:cNvSpPr/>
            <p:nvPr/>
          </p:nvSpPr>
          <p:spPr>
            <a:xfrm>
              <a:off x="7685715" y="2179253"/>
              <a:ext cx="148553" cy="11344"/>
            </a:xfrm>
            <a:custGeom>
              <a:avLst/>
              <a:gdLst/>
              <a:ahLst/>
              <a:cxnLst/>
              <a:rect l="l" t="t" r="r" b="b"/>
              <a:pathLst>
                <a:path w="5657" h="432" extrusionOk="0">
                  <a:moveTo>
                    <a:pt x="288" y="0"/>
                  </a:moveTo>
                  <a:cubicBezTo>
                    <a:pt x="1" y="0"/>
                    <a:pt x="1" y="431"/>
                    <a:pt x="288" y="431"/>
                  </a:cubicBezTo>
                  <a:lnTo>
                    <a:pt x="5379" y="431"/>
                  </a:lnTo>
                  <a:cubicBezTo>
                    <a:pt x="5657" y="431"/>
                    <a:pt x="5657" y="0"/>
                    <a:pt x="5379" y="0"/>
                  </a:cubicBezTo>
                  <a:close/>
                </a:path>
              </a:pathLst>
            </a:custGeom>
            <a:solidFill>
              <a:srgbClr val="FFFFFF"/>
            </a:solidFill>
            <a:ln w="12700">
              <a:solidFill>
                <a:srgbClr val="2E7D3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7916;p63"/>
            <p:cNvSpPr/>
            <p:nvPr/>
          </p:nvSpPr>
          <p:spPr>
            <a:xfrm>
              <a:off x="7685715" y="2217461"/>
              <a:ext cx="148553" cy="11318"/>
            </a:xfrm>
            <a:custGeom>
              <a:avLst/>
              <a:gdLst/>
              <a:ahLst/>
              <a:cxnLst/>
              <a:rect l="l" t="t" r="r" b="b"/>
              <a:pathLst>
                <a:path w="5657" h="431" extrusionOk="0">
                  <a:moveTo>
                    <a:pt x="288" y="0"/>
                  </a:moveTo>
                  <a:cubicBezTo>
                    <a:pt x="1" y="0"/>
                    <a:pt x="1" y="431"/>
                    <a:pt x="288" y="431"/>
                  </a:cubicBezTo>
                  <a:lnTo>
                    <a:pt x="5379" y="431"/>
                  </a:lnTo>
                  <a:cubicBezTo>
                    <a:pt x="5657" y="431"/>
                    <a:pt x="5657" y="0"/>
                    <a:pt x="5379" y="0"/>
                  </a:cubicBezTo>
                  <a:close/>
                </a:path>
              </a:pathLst>
            </a:custGeom>
            <a:solidFill>
              <a:srgbClr val="FFFFFF"/>
            </a:solidFill>
            <a:ln w="12700">
              <a:solidFill>
                <a:srgbClr val="2E7D3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7917;p63"/>
            <p:cNvSpPr/>
            <p:nvPr/>
          </p:nvSpPr>
          <p:spPr>
            <a:xfrm>
              <a:off x="7552367" y="2239309"/>
              <a:ext cx="152492" cy="80487"/>
            </a:xfrm>
            <a:custGeom>
              <a:avLst/>
              <a:gdLst/>
              <a:ahLst/>
              <a:cxnLst/>
              <a:rect l="l" t="t" r="r" b="b"/>
              <a:pathLst>
                <a:path w="5807" h="3065" extrusionOk="0">
                  <a:moveTo>
                    <a:pt x="2208" y="1"/>
                  </a:moveTo>
                  <a:lnTo>
                    <a:pt x="897" y="537"/>
                  </a:lnTo>
                  <a:cubicBezTo>
                    <a:pt x="763" y="584"/>
                    <a:pt x="648" y="651"/>
                    <a:pt x="533" y="738"/>
                  </a:cubicBezTo>
                  <a:lnTo>
                    <a:pt x="504" y="766"/>
                  </a:lnTo>
                  <a:lnTo>
                    <a:pt x="485" y="785"/>
                  </a:lnTo>
                  <a:lnTo>
                    <a:pt x="475" y="795"/>
                  </a:lnTo>
                  <a:lnTo>
                    <a:pt x="437" y="824"/>
                  </a:lnTo>
                  <a:cubicBezTo>
                    <a:pt x="207" y="1063"/>
                    <a:pt x="54" y="1369"/>
                    <a:pt x="6" y="1695"/>
                  </a:cubicBezTo>
                  <a:cubicBezTo>
                    <a:pt x="6" y="1714"/>
                    <a:pt x="6" y="1733"/>
                    <a:pt x="6" y="1752"/>
                  </a:cubicBezTo>
                  <a:cubicBezTo>
                    <a:pt x="1" y="1769"/>
                    <a:pt x="2" y="1773"/>
                    <a:pt x="4" y="1773"/>
                  </a:cubicBezTo>
                  <a:cubicBezTo>
                    <a:pt x="5" y="1773"/>
                    <a:pt x="6" y="1771"/>
                    <a:pt x="6" y="1771"/>
                  </a:cubicBezTo>
                  <a:lnTo>
                    <a:pt x="6" y="1819"/>
                  </a:lnTo>
                  <a:lnTo>
                    <a:pt x="6" y="1848"/>
                  </a:lnTo>
                  <a:lnTo>
                    <a:pt x="6" y="1857"/>
                  </a:lnTo>
                  <a:lnTo>
                    <a:pt x="6" y="1934"/>
                  </a:lnTo>
                  <a:lnTo>
                    <a:pt x="6" y="2144"/>
                  </a:lnTo>
                  <a:lnTo>
                    <a:pt x="6" y="2786"/>
                  </a:lnTo>
                  <a:cubicBezTo>
                    <a:pt x="6" y="2938"/>
                    <a:pt x="141" y="3065"/>
                    <a:pt x="291" y="3065"/>
                  </a:cubicBezTo>
                  <a:cubicBezTo>
                    <a:pt x="301" y="3065"/>
                    <a:pt x="312" y="3064"/>
                    <a:pt x="322" y="3063"/>
                  </a:cubicBezTo>
                  <a:lnTo>
                    <a:pt x="5481" y="3063"/>
                  </a:lnTo>
                  <a:cubicBezTo>
                    <a:pt x="5492" y="3064"/>
                    <a:pt x="5503" y="3065"/>
                    <a:pt x="5513" y="3065"/>
                  </a:cubicBezTo>
                  <a:cubicBezTo>
                    <a:pt x="5671" y="3065"/>
                    <a:pt x="5797" y="2938"/>
                    <a:pt x="5806" y="2786"/>
                  </a:cubicBezTo>
                  <a:lnTo>
                    <a:pt x="5806" y="2144"/>
                  </a:lnTo>
                  <a:lnTo>
                    <a:pt x="5806" y="1934"/>
                  </a:lnTo>
                  <a:lnTo>
                    <a:pt x="5777" y="1943"/>
                  </a:lnTo>
                  <a:lnTo>
                    <a:pt x="5777" y="1876"/>
                  </a:lnTo>
                  <a:lnTo>
                    <a:pt x="5777" y="1867"/>
                  </a:lnTo>
                  <a:lnTo>
                    <a:pt x="5777" y="1829"/>
                  </a:lnTo>
                  <a:lnTo>
                    <a:pt x="5777" y="1781"/>
                  </a:lnTo>
                  <a:lnTo>
                    <a:pt x="5777" y="1762"/>
                  </a:lnTo>
                  <a:cubicBezTo>
                    <a:pt x="5777" y="1762"/>
                    <a:pt x="5777" y="1723"/>
                    <a:pt x="5777" y="1704"/>
                  </a:cubicBezTo>
                  <a:cubicBezTo>
                    <a:pt x="5730" y="1379"/>
                    <a:pt x="5586" y="1073"/>
                    <a:pt x="5347" y="833"/>
                  </a:cubicBezTo>
                  <a:lnTo>
                    <a:pt x="5308" y="805"/>
                  </a:lnTo>
                  <a:lnTo>
                    <a:pt x="5299" y="795"/>
                  </a:lnTo>
                  <a:lnTo>
                    <a:pt x="5280" y="776"/>
                  </a:lnTo>
                  <a:lnTo>
                    <a:pt x="5251" y="747"/>
                  </a:lnTo>
                  <a:cubicBezTo>
                    <a:pt x="5146" y="661"/>
                    <a:pt x="5021" y="594"/>
                    <a:pt x="4887" y="546"/>
                  </a:cubicBezTo>
                  <a:lnTo>
                    <a:pt x="3576" y="10"/>
                  </a:lnTo>
                  <a:lnTo>
                    <a:pt x="3241" y="355"/>
                  </a:lnTo>
                  <a:lnTo>
                    <a:pt x="2878" y="680"/>
                  </a:lnTo>
                  <a:lnTo>
                    <a:pt x="2543" y="345"/>
                  </a:lnTo>
                  <a:lnTo>
                    <a:pt x="2208" y="1"/>
                  </a:lnTo>
                  <a:close/>
                </a:path>
              </a:pathLst>
            </a:custGeom>
            <a:solidFill>
              <a:srgbClr val="8192A2"/>
            </a:solidFill>
            <a:ln w="12700">
              <a:solidFill>
                <a:srgbClr val="2E7D3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7918;p63"/>
            <p:cNvSpPr/>
            <p:nvPr/>
          </p:nvSpPr>
          <p:spPr>
            <a:xfrm>
              <a:off x="7551264" y="2239808"/>
              <a:ext cx="61842" cy="80251"/>
            </a:xfrm>
            <a:custGeom>
              <a:avLst/>
              <a:gdLst/>
              <a:ahLst/>
              <a:cxnLst/>
              <a:rect l="l" t="t" r="r" b="b"/>
              <a:pathLst>
                <a:path w="2355" h="3056" extrusionOk="0">
                  <a:moveTo>
                    <a:pt x="2250" y="1"/>
                  </a:moveTo>
                  <a:lnTo>
                    <a:pt x="929" y="518"/>
                  </a:lnTo>
                  <a:cubicBezTo>
                    <a:pt x="364" y="747"/>
                    <a:pt x="1" y="1312"/>
                    <a:pt x="29" y="1924"/>
                  </a:cubicBezTo>
                  <a:lnTo>
                    <a:pt x="29" y="2776"/>
                  </a:lnTo>
                  <a:cubicBezTo>
                    <a:pt x="29" y="2928"/>
                    <a:pt x="155" y="3056"/>
                    <a:pt x="312" y="3056"/>
                  </a:cubicBezTo>
                  <a:cubicBezTo>
                    <a:pt x="323" y="3056"/>
                    <a:pt x="334" y="3055"/>
                    <a:pt x="345" y="3054"/>
                  </a:cubicBezTo>
                  <a:lnTo>
                    <a:pt x="412" y="3054"/>
                  </a:lnTo>
                  <a:lnTo>
                    <a:pt x="412" y="1924"/>
                  </a:lnTo>
                  <a:cubicBezTo>
                    <a:pt x="383" y="1312"/>
                    <a:pt x="747" y="747"/>
                    <a:pt x="1321" y="518"/>
                  </a:cubicBezTo>
                  <a:lnTo>
                    <a:pt x="2355" y="106"/>
                  </a:lnTo>
                  <a:lnTo>
                    <a:pt x="2250" y="1"/>
                  </a:lnTo>
                  <a:close/>
                </a:path>
              </a:pathLst>
            </a:custGeom>
            <a:solidFill>
              <a:srgbClr val="657A8D"/>
            </a:solidFill>
            <a:ln w="12700">
              <a:solidFill>
                <a:srgbClr val="2E7D3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7919;p63"/>
            <p:cNvSpPr/>
            <p:nvPr/>
          </p:nvSpPr>
          <p:spPr>
            <a:xfrm>
              <a:off x="7579677" y="2113156"/>
              <a:ext cx="96532" cy="68381"/>
            </a:xfrm>
            <a:custGeom>
              <a:avLst/>
              <a:gdLst/>
              <a:ahLst/>
              <a:cxnLst/>
              <a:rect l="l" t="t" r="r" b="b"/>
              <a:pathLst>
                <a:path w="3676" h="2604" extrusionOk="0">
                  <a:moveTo>
                    <a:pt x="3254" y="2221"/>
                  </a:moveTo>
                  <a:lnTo>
                    <a:pt x="3225" y="2240"/>
                  </a:lnTo>
                  <a:lnTo>
                    <a:pt x="3216" y="2249"/>
                  </a:lnTo>
                  <a:lnTo>
                    <a:pt x="3187" y="2269"/>
                  </a:lnTo>
                  <a:lnTo>
                    <a:pt x="3187" y="2269"/>
                  </a:lnTo>
                  <a:lnTo>
                    <a:pt x="3225" y="2240"/>
                  </a:lnTo>
                  <a:lnTo>
                    <a:pt x="3225" y="2230"/>
                  </a:lnTo>
                  <a:lnTo>
                    <a:pt x="3235" y="2221"/>
                  </a:lnTo>
                  <a:lnTo>
                    <a:pt x="3225" y="2240"/>
                  </a:lnTo>
                  <a:lnTo>
                    <a:pt x="3235" y="2230"/>
                  </a:lnTo>
                  <a:lnTo>
                    <a:pt x="3254" y="2221"/>
                  </a:lnTo>
                  <a:close/>
                  <a:moveTo>
                    <a:pt x="1771" y="0"/>
                  </a:moveTo>
                  <a:cubicBezTo>
                    <a:pt x="794" y="0"/>
                    <a:pt x="0" y="795"/>
                    <a:pt x="0" y="1771"/>
                  </a:cubicBezTo>
                  <a:lnTo>
                    <a:pt x="0" y="2604"/>
                  </a:lnTo>
                  <a:cubicBezTo>
                    <a:pt x="0" y="2604"/>
                    <a:pt x="402" y="2556"/>
                    <a:pt x="450" y="2364"/>
                  </a:cubicBezTo>
                  <a:cubicBezTo>
                    <a:pt x="469" y="2345"/>
                    <a:pt x="479" y="2316"/>
                    <a:pt x="488" y="2297"/>
                  </a:cubicBezTo>
                  <a:cubicBezTo>
                    <a:pt x="718" y="2288"/>
                    <a:pt x="1780" y="2278"/>
                    <a:pt x="2393" y="1551"/>
                  </a:cubicBezTo>
                  <a:cubicBezTo>
                    <a:pt x="2527" y="1905"/>
                    <a:pt x="2814" y="2182"/>
                    <a:pt x="3187" y="2288"/>
                  </a:cubicBezTo>
                  <a:cubicBezTo>
                    <a:pt x="3197" y="2316"/>
                    <a:pt x="3206" y="2336"/>
                    <a:pt x="3225" y="2355"/>
                  </a:cubicBezTo>
                  <a:cubicBezTo>
                    <a:pt x="3273" y="2556"/>
                    <a:pt x="3675" y="2594"/>
                    <a:pt x="3675" y="2594"/>
                  </a:cubicBezTo>
                  <a:lnTo>
                    <a:pt x="3675" y="1771"/>
                  </a:lnTo>
                  <a:cubicBezTo>
                    <a:pt x="3675" y="795"/>
                    <a:pt x="2881" y="0"/>
                    <a:pt x="1905" y="0"/>
                  </a:cubicBezTo>
                  <a:close/>
                </a:path>
              </a:pathLst>
            </a:custGeom>
            <a:solidFill>
              <a:srgbClr val="657E93"/>
            </a:solidFill>
            <a:ln w="12700">
              <a:solidFill>
                <a:srgbClr val="2E7D3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7920;p63"/>
            <p:cNvSpPr/>
            <p:nvPr/>
          </p:nvSpPr>
          <p:spPr>
            <a:xfrm>
              <a:off x="7579677" y="2113393"/>
              <a:ext cx="52284" cy="68145"/>
            </a:xfrm>
            <a:custGeom>
              <a:avLst/>
              <a:gdLst/>
              <a:ahLst/>
              <a:cxnLst/>
              <a:rect l="l" t="t" r="r" b="b"/>
              <a:pathLst>
                <a:path w="1991" h="2595" extrusionOk="0">
                  <a:moveTo>
                    <a:pt x="1761" y="1"/>
                  </a:moveTo>
                  <a:cubicBezTo>
                    <a:pt x="785" y="1"/>
                    <a:pt x="0" y="795"/>
                    <a:pt x="0" y="1762"/>
                  </a:cubicBezTo>
                  <a:lnTo>
                    <a:pt x="0" y="2595"/>
                  </a:lnTo>
                  <a:cubicBezTo>
                    <a:pt x="105" y="2575"/>
                    <a:pt x="211" y="2547"/>
                    <a:pt x="316" y="2508"/>
                  </a:cubicBezTo>
                  <a:lnTo>
                    <a:pt x="316" y="2212"/>
                  </a:lnTo>
                  <a:lnTo>
                    <a:pt x="316" y="1762"/>
                  </a:lnTo>
                  <a:cubicBezTo>
                    <a:pt x="316" y="824"/>
                    <a:pt x="1053" y="49"/>
                    <a:pt x="1991" y="1"/>
                  </a:cubicBezTo>
                  <a:close/>
                </a:path>
              </a:pathLst>
            </a:custGeom>
            <a:solidFill>
              <a:srgbClr val="657E93"/>
            </a:solidFill>
            <a:ln w="12700">
              <a:solidFill>
                <a:srgbClr val="2E7D3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7921;p63"/>
            <p:cNvSpPr/>
            <p:nvPr/>
          </p:nvSpPr>
          <p:spPr>
            <a:xfrm>
              <a:off x="7662843" y="2174263"/>
              <a:ext cx="20903" cy="28387"/>
            </a:xfrm>
            <a:custGeom>
              <a:avLst/>
              <a:gdLst/>
              <a:ahLst/>
              <a:cxnLst/>
              <a:rect l="l" t="t" r="r" b="b"/>
              <a:pathLst>
                <a:path w="796" h="1081" extrusionOk="0">
                  <a:moveTo>
                    <a:pt x="231" y="1"/>
                  </a:moveTo>
                  <a:cubicBezTo>
                    <a:pt x="114" y="1"/>
                    <a:pt x="1" y="97"/>
                    <a:pt x="1" y="229"/>
                  </a:cubicBezTo>
                  <a:lnTo>
                    <a:pt x="1" y="860"/>
                  </a:lnTo>
                  <a:cubicBezTo>
                    <a:pt x="1" y="975"/>
                    <a:pt x="106" y="1080"/>
                    <a:pt x="231" y="1080"/>
                  </a:cubicBezTo>
                  <a:cubicBezTo>
                    <a:pt x="250" y="1080"/>
                    <a:pt x="269" y="1080"/>
                    <a:pt x="298" y="1071"/>
                  </a:cubicBezTo>
                  <a:cubicBezTo>
                    <a:pt x="336" y="1052"/>
                    <a:pt x="374" y="1033"/>
                    <a:pt x="412" y="1013"/>
                  </a:cubicBezTo>
                  <a:cubicBezTo>
                    <a:pt x="451" y="975"/>
                    <a:pt x="489" y="937"/>
                    <a:pt x="537" y="908"/>
                  </a:cubicBezTo>
                  <a:cubicBezTo>
                    <a:pt x="795" y="602"/>
                    <a:pt x="661" y="133"/>
                    <a:pt x="278" y="9"/>
                  </a:cubicBezTo>
                  <a:lnTo>
                    <a:pt x="288" y="9"/>
                  </a:lnTo>
                  <a:cubicBezTo>
                    <a:pt x="269" y="3"/>
                    <a:pt x="250" y="1"/>
                    <a:pt x="231" y="1"/>
                  </a:cubicBezTo>
                  <a:close/>
                </a:path>
              </a:pathLst>
            </a:custGeom>
            <a:solidFill>
              <a:srgbClr val="CBD6DE"/>
            </a:solidFill>
            <a:ln w="12700">
              <a:solidFill>
                <a:srgbClr val="2E7D3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7922;p63"/>
            <p:cNvSpPr/>
            <p:nvPr/>
          </p:nvSpPr>
          <p:spPr>
            <a:xfrm>
              <a:off x="7571878" y="2174237"/>
              <a:ext cx="21139" cy="28361"/>
            </a:xfrm>
            <a:custGeom>
              <a:avLst/>
              <a:gdLst/>
              <a:ahLst/>
              <a:cxnLst/>
              <a:rect l="l" t="t" r="r" b="b"/>
              <a:pathLst>
                <a:path w="805" h="1080" extrusionOk="0">
                  <a:moveTo>
                    <a:pt x="583" y="0"/>
                  </a:moveTo>
                  <a:cubicBezTo>
                    <a:pt x="561" y="0"/>
                    <a:pt x="538" y="4"/>
                    <a:pt x="517" y="10"/>
                  </a:cubicBezTo>
                  <a:cubicBezTo>
                    <a:pt x="0" y="172"/>
                    <a:pt x="0" y="909"/>
                    <a:pt x="517" y="1072"/>
                  </a:cubicBezTo>
                  <a:cubicBezTo>
                    <a:pt x="537" y="1077"/>
                    <a:pt x="557" y="1080"/>
                    <a:pt x="577" y="1080"/>
                  </a:cubicBezTo>
                  <a:cubicBezTo>
                    <a:pt x="698" y="1080"/>
                    <a:pt x="804" y="983"/>
                    <a:pt x="804" y="852"/>
                  </a:cubicBezTo>
                  <a:lnTo>
                    <a:pt x="804" y="220"/>
                  </a:lnTo>
                  <a:cubicBezTo>
                    <a:pt x="804" y="153"/>
                    <a:pt x="766" y="86"/>
                    <a:pt x="718" y="48"/>
                  </a:cubicBezTo>
                  <a:cubicBezTo>
                    <a:pt x="679" y="15"/>
                    <a:pt x="631" y="0"/>
                    <a:pt x="583" y="0"/>
                  </a:cubicBezTo>
                  <a:close/>
                </a:path>
              </a:pathLst>
            </a:custGeom>
            <a:solidFill>
              <a:srgbClr val="B9C7D2"/>
            </a:solidFill>
            <a:ln w="12700">
              <a:solidFill>
                <a:srgbClr val="2E7D3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7923;p63"/>
            <p:cNvSpPr/>
            <p:nvPr/>
          </p:nvSpPr>
          <p:spPr>
            <a:xfrm>
              <a:off x="7610087" y="2223869"/>
              <a:ext cx="35714" cy="40362"/>
            </a:xfrm>
            <a:custGeom>
              <a:avLst/>
              <a:gdLst/>
              <a:ahLst/>
              <a:cxnLst/>
              <a:rect l="l" t="t" r="r" b="b"/>
              <a:pathLst>
                <a:path w="1360" h="1537" extrusionOk="0">
                  <a:moveTo>
                    <a:pt x="233" y="0"/>
                  </a:moveTo>
                  <a:cubicBezTo>
                    <a:pt x="115" y="0"/>
                    <a:pt x="10" y="97"/>
                    <a:pt x="10" y="225"/>
                  </a:cubicBezTo>
                  <a:lnTo>
                    <a:pt x="10" y="866"/>
                  </a:lnTo>
                  <a:cubicBezTo>
                    <a:pt x="0" y="933"/>
                    <a:pt x="29" y="1000"/>
                    <a:pt x="77" y="1038"/>
                  </a:cubicBezTo>
                  <a:lnTo>
                    <a:pt x="517" y="1479"/>
                  </a:lnTo>
                  <a:cubicBezTo>
                    <a:pt x="565" y="1517"/>
                    <a:pt x="622" y="1536"/>
                    <a:pt x="680" y="1536"/>
                  </a:cubicBezTo>
                  <a:cubicBezTo>
                    <a:pt x="737" y="1536"/>
                    <a:pt x="794" y="1517"/>
                    <a:pt x="833" y="1469"/>
                  </a:cubicBezTo>
                  <a:lnTo>
                    <a:pt x="1292" y="991"/>
                  </a:lnTo>
                  <a:cubicBezTo>
                    <a:pt x="1330" y="952"/>
                    <a:pt x="1359" y="895"/>
                    <a:pt x="1359" y="838"/>
                  </a:cubicBezTo>
                  <a:lnTo>
                    <a:pt x="1359" y="225"/>
                  </a:lnTo>
                  <a:cubicBezTo>
                    <a:pt x="1349" y="168"/>
                    <a:pt x="1330" y="110"/>
                    <a:pt x="1292" y="72"/>
                  </a:cubicBezTo>
                  <a:cubicBezTo>
                    <a:pt x="1244" y="24"/>
                    <a:pt x="1187" y="5"/>
                    <a:pt x="1129" y="5"/>
                  </a:cubicBezTo>
                  <a:lnTo>
                    <a:pt x="1082" y="5"/>
                  </a:lnTo>
                  <a:cubicBezTo>
                    <a:pt x="995" y="24"/>
                    <a:pt x="909" y="34"/>
                    <a:pt x="814" y="34"/>
                  </a:cubicBezTo>
                  <a:lnTo>
                    <a:pt x="546" y="34"/>
                  </a:lnTo>
                  <a:cubicBezTo>
                    <a:pt x="459" y="34"/>
                    <a:pt x="364" y="24"/>
                    <a:pt x="278" y="5"/>
                  </a:cubicBezTo>
                  <a:cubicBezTo>
                    <a:pt x="263" y="2"/>
                    <a:pt x="248" y="0"/>
                    <a:pt x="233" y="0"/>
                  </a:cubicBezTo>
                  <a:close/>
                </a:path>
              </a:pathLst>
            </a:custGeom>
            <a:solidFill>
              <a:srgbClr val="CBD6DE"/>
            </a:solidFill>
            <a:ln w="12700">
              <a:solidFill>
                <a:srgbClr val="2E7D3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7924;p63"/>
            <p:cNvSpPr/>
            <p:nvPr/>
          </p:nvSpPr>
          <p:spPr>
            <a:xfrm>
              <a:off x="7610087" y="2224105"/>
              <a:ext cx="21875" cy="40362"/>
            </a:xfrm>
            <a:custGeom>
              <a:avLst/>
              <a:gdLst/>
              <a:ahLst/>
              <a:cxnLst/>
              <a:rect l="l" t="t" r="r" b="b"/>
              <a:pathLst>
                <a:path w="833" h="1537" extrusionOk="0">
                  <a:moveTo>
                    <a:pt x="221" y="1"/>
                  </a:moveTo>
                  <a:cubicBezTo>
                    <a:pt x="98" y="1"/>
                    <a:pt x="0" y="98"/>
                    <a:pt x="0" y="226"/>
                  </a:cubicBezTo>
                  <a:lnTo>
                    <a:pt x="0" y="876"/>
                  </a:lnTo>
                  <a:cubicBezTo>
                    <a:pt x="0" y="934"/>
                    <a:pt x="29" y="1001"/>
                    <a:pt x="67" y="1039"/>
                  </a:cubicBezTo>
                  <a:lnTo>
                    <a:pt x="517" y="1479"/>
                  </a:lnTo>
                  <a:cubicBezTo>
                    <a:pt x="555" y="1518"/>
                    <a:pt x="613" y="1537"/>
                    <a:pt x="670" y="1537"/>
                  </a:cubicBezTo>
                  <a:cubicBezTo>
                    <a:pt x="727" y="1537"/>
                    <a:pt x="785" y="1518"/>
                    <a:pt x="833" y="1470"/>
                  </a:cubicBezTo>
                  <a:cubicBezTo>
                    <a:pt x="785" y="1460"/>
                    <a:pt x="747" y="1441"/>
                    <a:pt x="718" y="1412"/>
                  </a:cubicBezTo>
                  <a:lnTo>
                    <a:pt x="268" y="972"/>
                  </a:lnTo>
                  <a:cubicBezTo>
                    <a:pt x="230" y="934"/>
                    <a:pt x="201" y="867"/>
                    <a:pt x="201" y="809"/>
                  </a:cubicBezTo>
                  <a:lnTo>
                    <a:pt x="201" y="159"/>
                  </a:lnTo>
                  <a:cubicBezTo>
                    <a:pt x="201" y="101"/>
                    <a:pt x="230" y="44"/>
                    <a:pt x="268" y="5"/>
                  </a:cubicBezTo>
                  <a:cubicBezTo>
                    <a:pt x="252" y="2"/>
                    <a:pt x="236" y="1"/>
                    <a:pt x="221" y="1"/>
                  </a:cubicBezTo>
                  <a:close/>
                </a:path>
              </a:pathLst>
            </a:custGeom>
            <a:solidFill>
              <a:srgbClr val="B9C7D2"/>
            </a:solidFill>
            <a:ln w="12700">
              <a:solidFill>
                <a:srgbClr val="2E7D3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7925;p63"/>
            <p:cNvSpPr/>
            <p:nvPr/>
          </p:nvSpPr>
          <p:spPr>
            <a:xfrm>
              <a:off x="7589971" y="2153072"/>
              <a:ext cx="75918" cy="81248"/>
            </a:xfrm>
            <a:custGeom>
              <a:avLst/>
              <a:gdLst/>
              <a:ahLst/>
              <a:cxnLst/>
              <a:rect l="l" t="t" r="r" b="b"/>
              <a:pathLst>
                <a:path w="2891" h="3094" extrusionOk="0">
                  <a:moveTo>
                    <a:pt x="2000" y="1"/>
                  </a:moveTo>
                  <a:cubicBezTo>
                    <a:pt x="1983" y="1"/>
                    <a:pt x="1967" y="7"/>
                    <a:pt x="1953" y="21"/>
                  </a:cubicBezTo>
                  <a:cubicBezTo>
                    <a:pt x="1637" y="251"/>
                    <a:pt x="1283" y="433"/>
                    <a:pt x="900" y="538"/>
                  </a:cubicBezTo>
                  <a:cubicBezTo>
                    <a:pt x="785" y="567"/>
                    <a:pt x="670" y="595"/>
                    <a:pt x="556" y="615"/>
                  </a:cubicBezTo>
                  <a:cubicBezTo>
                    <a:pt x="441" y="634"/>
                    <a:pt x="326" y="653"/>
                    <a:pt x="201" y="662"/>
                  </a:cubicBezTo>
                  <a:cubicBezTo>
                    <a:pt x="87" y="672"/>
                    <a:pt x="0" y="768"/>
                    <a:pt x="0" y="883"/>
                  </a:cubicBezTo>
                  <a:lnTo>
                    <a:pt x="0" y="1792"/>
                  </a:lnTo>
                  <a:cubicBezTo>
                    <a:pt x="0" y="2509"/>
                    <a:pt x="584" y="3093"/>
                    <a:pt x="1312" y="3093"/>
                  </a:cubicBezTo>
                  <a:lnTo>
                    <a:pt x="1580" y="3093"/>
                  </a:lnTo>
                  <a:cubicBezTo>
                    <a:pt x="2297" y="3093"/>
                    <a:pt x="2881" y="2509"/>
                    <a:pt x="2891" y="1792"/>
                  </a:cubicBezTo>
                  <a:lnTo>
                    <a:pt x="2891" y="854"/>
                  </a:lnTo>
                  <a:cubicBezTo>
                    <a:pt x="2891" y="758"/>
                    <a:pt x="2833" y="672"/>
                    <a:pt x="2747" y="634"/>
                  </a:cubicBezTo>
                  <a:cubicBezTo>
                    <a:pt x="2718" y="624"/>
                    <a:pt x="2690" y="615"/>
                    <a:pt x="2671" y="605"/>
                  </a:cubicBezTo>
                  <a:cubicBezTo>
                    <a:pt x="2412" y="500"/>
                    <a:pt x="2202" y="308"/>
                    <a:pt x="2077" y="69"/>
                  </a:cubicBezTo>
                  <a:lnTo>
                    <a:pt x="2068" y="50"/>
                  </a:lnTo>
                  <a:cubicBezTo>
                    <a:pt x="2056" y="20"/>
                    <a:pt x="2028" y="1"/>
                    <a:pt x="2000" y="1"/>
                  </a:cubicBezTo>
                  <a:close/>
                </a:path>
              </a:pathLst>
            </a:custGeom>
            <a:solidFill>
              <a:srgbClr val="CBD6DE"/>
            </a:solidFill>
            <a:ln w="12700">
              <a:solidFill>
                <a:srgbClr val="2E7D3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7926;p63"/>
            <p:cNvSpPr/>
            <p:nvPr/>
          </p:nvSpPr>
          <p:spPr>
            <a:xfrm>
              <a:off x="7589971" y="2153072"/>
              <a:ext cx="55067" cy="81248"/>
            </a:xfrm>
            <a:custGeom>
              <a:avLst/>
              <a:gdLst/>
              <a:ahLst/>
              <a:cxnLst/>
              <a:rect l="l" t="t" r="r" b="b"/>
              <a:pathLst>
                <a:path w="2097" h="3094" extrusionOk="0">
                  <a:moveTo>
                    <a:pt x="1997" y="1"/>
                  </a:moveTo>
                  <a:cubicBezTo>
                    <a:pt x="1980" y="1"/>
                    <a:pt x="1961" y="7"/>
                    <a:pt x="1943" y="21"/>
                  </a:cubicBezTo>
                  <a:cubicBezTo>
                    <a:pt x="1637" y="251"/>
                    <a:pt x="1283" y="433"/>
                    <a:pt x="900" y="538"/>
                  </a:cubicBezTo>
                  <a:cubicBezTo>
                    <a:pt x="785" y="567"/>
                    <a:pt x="670" y="595"/>
                    <a:pt x="556" y="615"/>
                  </a:cubicBezTo>
                  <a:cubicBezTo>
                    <a:pt x="441" y="634"/>
                    <a:pt x="326" y="653"/>
                    <a:pt x="201" y="662"/>
                  </a:cubicBezTo>
                  <a:cubicBezTo>
                    <a:pt x="87" y="672"/>
                    <a:pt x="0" y="768"/>
                    <a:pt x="0" y="883"/>
                  </a:cubicBezTo>
                  <a:lnTo>
                    <a:pt x="0" y="1792"/>
                  </a:lnTo>
                  <a:cubicBezTo>
                    <a:pt x="0" y="2509"/>
                    <a:pt x="584" y="3093"/>
                    <a:pt x="1312" y="3093"/>
                  </a:cubicBezTo>
                  <a:lnTo>
                    <a:pt x="1570" y="3093"/>
                  </a:lnTo>
                  <a:cubicBezTo>
                    <a:pt x="852" y="3093"/>
                    <a:pt x="268" y="2509"/>
                    <a:pt x="268" y="1792"/>
                  </a:cubicBezTo>
                  <a:lnTo>
                    <a:pt x="268" y="883"/>
                  </a:lnTo>
                  <a:cubicBezTo>
                    <a:pt x="268" y="768"/>
                    <a:pt x="364" y="672"/>
                    <a:pt x="479" y="662"/>
                  </a:cubicBezTo>
                  <a:cubicBezTo>
                    <a:pt x="594" y="653"/>
                    <a:pt x="709" y="634"/>
                    <a:pt x="823" y="615"/>
                  </a:cubicBezTo>
                  <a:cubicBezTo>
                    <a:pt x="938" y="595"/>
                    <a:pt x="1063" y="567"/>
                    <a:pt x="1168" y="538"/>
                  </a:cubicBezTo>
                  <a:cubicBezTo>
                    <a:pt x="1503" y="442"/>
                    <a:pt x="1809" y="299"/>
                    <a:pt x="2096" y="107"/>
                  </a:cubicBezTo>
                  <a:lnTo>
                    <a:pt x="2077" y="69"/>
                  </a:lnTo>
                  <a:lnTo>
                    <a:pt x="2068" y="50"/>
                  </a:lnTo>
                  <a:cubicBezTo>
                    <a:pt x="2056" y="20"/>
                    <a:pt x="2028" y="1"/>
                    <a:pt x="1997" y="1"/>
                  </a:cubicBezTo>
                  <a:close/>
                </a:path>
              </a:pathLst>
            </a:custGeom>
            <a:solidFill>
              <a:srgbClr val="B9C7D2"/>
            </a:solidFill>
            <a:ln w="12700">
              <a:solidFill>
                <a:srgbClr val="2E7D3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7927;p63"/>
            <p:cNvSpPr/>
            <p:nvPr/>
          </p:nvSpPr>
          <p:spPr>
            <a:xfrm>
              <a:off x="7820665" y="1973164"/>
              <a:ext cx="73922" cy="73659"/>
            </a:xfrm>
            <a:custGeom>
              <a:avLst/>
              <a:gdLst/>
              <a:ahLst/>
              <a:cxnLst/>
              <a:rect l="l" t="t" r="r" b="b"/>
              <a:pathLst>
                <a:path w="2815" h="2805" extrusionOk="0">
                  <a:moveTo>
                    <a:pt x="1" y="1"/>
                  </a:moveTo>
                  <a:lnTo>
                    <a:pt x="1" y="2259"/>
                  </a:lnTo>
                  <a:cubicBezTo>
                    <a:pt x="1" y="2346"/>
                    <a:pt x="39" y="2805"/>
                    <a:pt x="623" y="2805"/>
                  </a:cubicBezTo>
                  <a:lnTo>
                    <a:pt x="2815" y="2805"/>
                  </a:lnTo>
                  <a:lnTo>
                    <a:pt x="1" y="1"/>
                  </a:lnTo>
                  <a:close/>
                </a:path>
              </a:pathLst>
            </a:custGeom>
            <a:solidFill>
              <a:srgbClr val="96ABBC"/>
            </a:solidFill>
            <a:ln w="12700">
              <a:solidFill>
                <a:srgbClr val="2E7D3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 name="Google Shape;15295;p62"/>
          <p:cNvGrpSpPr/>
          <p:nvPr/>
        </p:nvGrpSpPr>
        <p:grpSpPr>
          <a:xfrm>
            <a:off x="7259760" y="1215682"/>
            <a:ext cx="284322" cy="362163"/>
            <a:chOff x="8023448" y="3355496"/>
            <a:chExt cx="284322" cy="362163"/>
          </a:xfrm>
        </p:grpSpPr>
        <p:sp>
          <p:nvSpPr>
            <p:cNvPr id="43" name="Google Shape;15296;p62"/>
            <p:cNvSpPr/>
            <p:nvPr/>
          </p:nvSpPr>
          <p:spPr>
            <a:xfrm>
              <a:off x="8023448" y="3372815"/>
              <a:ext cx="284322" cy="344844"/>
            </a:xfrm>
            <a:custGeom>
              <a:avLst/>
              <a:gdLst/>
              <a:ahLst/>
              <a:cxnLst/>
              <a:rect l="l" t="t" r="r" b="b"/>
              <a:pathLst>
                <a:path w="10852" h="13162" extrusionOk="0">
                  <a:moveTo>
                    <a:pt x="10228" y="1"/>
                  </a:moveTo>
                  <a:lnTo>
                    <a:pt x="1668" y="10"/>
                  </a:lnTo>
                  <a:lnTo>
                    <a:pt x="623" y="10"/>
                  </a:lnTo>
                  <a:cubicBezTo>
                    <a:pt x="278" y="10"/>
                    <a:pt x="0" y="288"/>
                    <a:pt x="0" y="633"/>
                  </a:cubicBezTo>
                  <a:lnTo>
                    <a:pt x="0" y="12538"/>
                  </a:lnTo>
                  <a:cubicBezTo>
                    <a:pt x="0" y="12874"/>
                    <a:pt x="278" y="13161"/>
                    <a:pt x="623" y="13161"/>
                  </a:cubicBezTo>
                  <a:lnTo>
                    <a:pt x="10228" y="13161"/>
                  </a:lnTo>
                  <a:cubicBezTo>
                    <a:pt x="10573" y="13161"/>
                    <a:pt x="10851" y="12874"/>
                    <a:pt x="10851" y="12538"/>
                  </a:cubicBezTo>
                  <a:lnTo>
                    <a:pt x="10851" y="633"/>
                  </a:lnTo>
                  <a:cubicBezTo>
                    <a:pt x="10851" y="288"/>
                    <a:pt x="10573" y="1"/>
                    <a:pt x="10228" y="1"/>
                  </a:cubicBezTo>
                  <a:close/>
                </a:path>
              </a:pathLst>
            </a:custGeom>
            <a:solidFill>
              <a:srgbClr val="677C8E"/>
            </a:solidFill>
            <a:ln>
              <a:solidFill>
                <a:srgbClr val="C0000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5297;p62"/>
            <p:cNvSpPr/>
            <p:nvPr/>
          </p:nvSpPr>
          <p:spPr>
            <a:xfrm>
              <a:off x="8241930" y="3373077"/>
              <a:ext cx="65841" cy="344582"/>
            </a:xfrm>
            <a:custGeom>
              <a:avLst/>
              <a:gdLst/>
              <a:ahLst/>
              <a:cxnLst/>
              <a:rect l="l" t="t" r="r" b="b"/>
              <a:pathLst>
                <a:path w="2513" h="13152" extrusionOk="0">
                  <a:moveTo>
                    <a:pt x="1906" y="0"/>
                  </a:moveTo>
                  <a:cubicBezTo>
                    <a:pt x="1900" y="0"/>
                    <a:pt x="1895" y="0"/>
                    <a:pt x="1889" y="0"/>
                  </a:cubicBezTo>
                  <a:lnTo>
                    <a:pt x="1" y="0"/>
                  </a:lnTo>
                  <a:cubicBezTo>
                    <a:pt x="346" y="0"/>
                    <a:pt x="633" y="278"/>
                    <a:pt x="633" y="623"/>
                  </a:cubicBezTo>
                  <a:lnTo>
                    <a:pt x="633" y="12528"/>
                  </a:lnTo>
                  <a:cubicBezTo>
                    <a:pt x="633" y="12864"/>
                    <a:pt x="346" y="13151"/>
                    <a:pt x="1" y="13151"/>
                  </a:cubicBezTo>
                  <a:lnTo>
                    <a:pt x="1889" y="13151"/>
                  </a:lnTo>
                  <a:cubicBezTo>
                    <a:pt x="2234" y="13151"/>
                    <a:pt x="2512" y="12874"/>
                    <a:pt x="2512" y="12528"/>
                  </a:cubicBezTo>
                  <a:lnTo>
                    <a:pt x="2512" y="623"/>
                  </a:lnTo>
                  <a:cubicBezTo>
                    <a:pt x="2512" y="284"/>
                    <a:pt x="2243" y="0"/>
                    <a:pt x="1906" y="0"/>
                  </a:cubicBezTo>
                  <a:close/>
                </a:path>
              </a:pathLst>
            </a:custGeom>
            <a:solidFill>
              <a:srgbClr val="476077"/>
            </a:solidFill>
            <a:ln>
              <a:solidFill>
                <a:srgbClr val="C0000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5298;p62"/>
            <p:cNvSpPr/>
            <p:nvPr/>
          </p:nvSpPr>
          <p:spPr>
            <a:xfrm>
              <a:off x="8058111" y="3373077"/>
              <a:ext cx="214997" cy="312435"/>
            </a:xfrm>
            <a:custGeom>
              <a:avLst/>
              <a:gdLst/>
              <a:ahLst/>
              <a:cxnLst/>
              <a:rect l="l" t="t" r="r" b="b"/>
              <a:pathLst>
                <a:path w="8206" h="11925" extrusionOk="0">
                  <a:moveTo>
                    <a:pt x="0" y="0"/>
                  </a:moveTo>
                  <a:lnTo>
                    <a:pt x="0" y="11925"/>
                  </a:lnTo>
                  <a:lnTo>
                    <a:pt x="8205" y="11925"/>
                  </a:lnTo>
                  <a:lnTo>
                    <a:pt x="8205" y="0"/>
                  </a:lnTo>
                  <a:close/>
                </a:path>
              </a:pathLst>
            </a:custGeom>
            <a:solidFill>
              <a:srgbClr val="E7EBED"/>
            </a:solidFill>
            <a:ln>
              <a:solidFill>
                <a:srgbClr val="C0000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5299;p62"/>
            <p:cNvSpPr/>
            <p:nvPr/>
          </p:nvSpPr>
          <p:spPr>
            <a:xfrm>
              <a:off x="8058346" y="3373077"/>
              <a:ext cx="214761" cy="312435"/>
            </a:xfrm>
            <a:custGeom>
              <a:avLst/>
              <a:gdLst/>
              <a:ahLst/>
              <a:cxnLst/>
              <a:rect l="l" t="t" r="r" b="b"/>
              <a:pathLst>
                <a:path w="8197" h="11925" extrusionOk="0">
                  <a:moveTo>
                    <a:pt x="7027" y="0"/>
                  </a:moveTo>
                  <a:lnTo>
                    <a:pt x="7027" y="7496"/>
                  </a:lnTo>
                  <a:cubicBezTo>
                    <a:pt x="7027" y="9289"/>
                    <a:pt x="5570" y="10755"/>
                    <a:pt x="3768" y="10755"/>
                  </a:cubicBezTo>
                  <a:lnTo>
                    <a:pt x="1" y="10755"/>
                  </a:lnTo>
                  <a:lnTo>
                    <a:pt x="1" y="11925"/>
                  </a:lnTo>
                  <a:lnTo>
                    <a:pt x="8196" y="11925"/>
                  </a:lnTo>
                  <a:lnTo>
                    <a:pt x="8196" y="0"/>
                  </a:lnTo>
                  <a:close/>
                </a:path>
              </a:pathLst>
            </a:custGeom>
            <a:solidFill>
              <a:srgbClr val="D2D8DD"/>
            </a:solidFill>
            <a:ln>
              <a:solidFill>
                <a:srgbClr val="C0000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15300;p62"/>
            <p:cNvSpPr/>
            <p:nvPr/>
          </p:nvSpPr>
          <p:spPr>
            <a:xfrm>
              <a:off x="8092013" y="3355496"/>
              <a:ext cx="147427" cy="72338"/>
            </a:xfrm>
            <a:custGeom>
              <a:avLst/>
              <a:gdLst/>
              <a:ahLst/>
              <a:cxnLst/>
              <a:rect l="l" t="t" r="r" b="b"/>
              <a:pathLst>
                <a:path w="5627" h="2761" extrusionOk="0">
                  <a:moveTo>
                    <a:pt x="451" y="0"/>
                  </a:moveTo>
                  <a:cubicBezTo>
                    <a:pt x="201" y="0"/>
                    <a:pt x="0" y="202"/>
                    <a:pt x="0" y="451"/>
                  </a:cubicBezTo>
                  <a:lnTo>
                    <a:pt x="0" y="1352"/>
                  </a:lnTo>
                  <a:cubicBezTo>
                    <a:pt x="0" y="1601"/>
                    <a:pt x="201" y="1802"/>
                    <a:pt x="451" y="1802"/>
                  </a:cubicBezTo>
                  <a:lnTo>
                    <a:pt x="1620" y="1802"/>
                  </a:lnTo>
                  <a:cubicBezTo>
                    <a:pt x="1620" y="2330"/>
                    <a:pt x="2051" y="2761"/>
                    <a:pt x="2579" y="2761"/>
                  </a:cubicBezTo>
                  <a:lnTo>
                    <a:pt x="3048" y="2761"/>
                  </a:lnTo>
                  <a:cubicBezTo>
                    <a:pt x="3576" y="2761"/>
                    <a:pt x="4007" y="2330"/>
                    <a:pt x="4007" y="1802"/>
                  </a:cubicBezTo>
                  <a:lnTo>
                    <a:pt x="5176" y="1802"/>
                  </a:lnTo>
                  <a:cubicBezTo>
                    <a:pt x="5426" y="1802"/>
                    <a:pt x="5627" y="1601"/>
                    <a:pt x="5627" y="1352"/>
                  </a:cubicBezTo>
                  <a:lnTo>
                    <a:pt x="5627" y="451"/>
                  </a:lnTo>
                  <a:cubicBezTo>
                    <a:pt x="5627" y="202"/>
                    <a:pt x="5426" y="0"/>
                    <a:pt x="5176" y="0"/>
                  </a:cubicBezTo>
                  <a:close/>
                </a:path>
              </a:pathLst>
            </a:custGeom>
            <a:solidFill>
              <a:srgbClr val="53687D"/>
            </a:solidFill>
            <a:ln>
              <a:solidFill>
                <a:srgbClr val="C0000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15301;p62"/>
            <p:cNvSpPr/>
            <p:nvPr/>
          </p:nvSpPr>
          <p:spPr>
            <a:xfrm>
              <a:off x="8162570" y="3355496"/>
              <a:ext cx="76871" cy="72102"/>
            </a:xfrm>
            <a:custGeom>
              <a:avLst/>
              <a:gdLst/>
              <a:ahLst/>
              <a:cxnLst/>
              <a:rect l="l" t="t" r="r" b="b"/>
              <a:pathLst>
                <a:path w="2934" h="2752" extrusionOk="0">
                  <a:moveTo>
                    <a:pt x="806" y="0"/>
                  </a:moveTo>
                  <a:cubicBezTo>
                    <a:pt x="1122" y="997"/>
                    <a:pt x="806" y="2090"/>
                    <a:pt x="1" y="2751"/>
                  </a:cubicBezTo>
                  <a:lnTo>
                    <a:pt x="346" y="2751"/>
                  </a:lnTo>
                  <a:cubicBezTo>
                    <a:pt x="873" y="2751"/>
                    <a:pt x="1304" y="2330"/>
                    <a:pt x="1304" y="1793"/>
                  </a:cubicBezTo>
                  <a:lnTo>
                    <a:pt x="2483" y="1793"/>
                  </a:lnTo>
                  <a:cubicBezTo>
                    <a:pt x="2733" y="1793"/>
                    <a:pt x="2934" y="1592"/>
                    <a:pt x="2934" y="1352"/>
                  </a:cubicBezTo>
                  <a:lnTo>
                    <a:pt x="2934" y="451"/>
                  </a:lnTo>
                  <a:cubicBezTo>
                    <a:pt x="2924" y="202"/>
                    <a:pt x="2733" y="0"/>
                    <a:pt x="2483" y="0"/>
                  </a:cubicBezTo>
                  <a:close/>
                </a:path>
              </a:pathLst>
            </a:custGeom>
            <a:solidFill>
              <a:srgbClr val="27415B"/>
            </a:solidFill>
            <a:ln>
              <a:solidFill>
                <a:srgbClr val="C0000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15302;p62"/>
            <p:cNvSpPr/>
            <p:nvPr/>
          </p:nvSpPr>
          <p:spPr>
            <a:xfrm>
              <a:off x="8090992" y="3448402"/>
              <a:ext cx="147454" cy="103516"/>
            </a:xfrm>
            <a:custGeom>
              <a:avLst/>
              <a:gdLst/>
              <a:ahLst/>
              <a:cxnLst/>
              <a:rect l="l" t="t" r="r" b="b"/>
              <a:pathLst>
                <a:path w="5628" h="3951" extrusionOk="0">
                  <a:moveTo>
                    <a:pt x="3471" y="1"/>
                  </a:moveTo>
                  <a:cubicBezTo>
                    <a:pt x="3384" y="11"/>
                    <a:pt x="3308" y="68"/>
                    <a:pt x="3279" y="154"/>
                  </a:cubicBezTo>
                  <a:lnTo>
                    <a:pt x="2551" y="3049"/>
                  </a:lnTo>
                  <a:lnTo>
                    <a:pt x="1841" y="988"/>
                  </a:lnTo>
                  <a:cubicBezTo>
                    <a:pt x="1812" y="912"/>
                    <a:pt x="1745" y="854"/>
                    <a:pt x="1669" y="854"/>
                  </a:cubicBezTo>
                  <a:cubicBezTo>
                    <a:pt x="1661" y="853"/>
                    <a:pt x="1653" y="853"/>
                    <a:pt x="1645" y="853"/>
                  </a:cubicBezTo>
                  <a:cubicBezTo>
                    <a:pt x="1577" y="853"/>
                    <a:pt x="1510" y="890"/>
                    <a:pt x="1467" y="950"/>
                  </a:cubicBezTo>
                  <a:lnTo>
                    <a:pt x="883" y="2004"/>
                  </a:lnTo>
                  <a:lnTo>
                    <a:pt x="269" y="2004"/>
                  </a:lnTo>
                  <a:cubicBezTo>
                    <a:pt x="1" y="2004"/>
                    <a:pt x="1" y="2407"/>
                    <a:pt x="269" y="2407"/>
                  </a:cubicBezTo>
                  <a:lnTo>
                    <a:pt x="998" y="2407"/>
                  </a:lnTo>
                  <a:cubicBezTo>
                    <a:pt x="1074" y="2407"/>
                    <a:pt x="1142" y="2369"/>
                    <a:pt x="1170" y="2301"/>
                  </a:cubicBezTo>
                  <a:lnTo>
                    <a:pt x="1602" y="1544"/>
                  </a:lnTo>
                  <a:lnTo>
                    <a:pt x="2378" y="3816"/>
                  </a:lnTo>
                  <a:cubicBezTo>
                    <a:pt x="2407" y="3902"/>
                    <a:pt x="2483" y="3950"/>
                    <a:pt x="2570" y="3950"/>
                  </a:cubicBezTo>
                  <a:lnTo>
                    <a:pt x="2579" y="3950"/>
                  </a:lnTo>
                  <a:cubicBezTo>
                    <a:pt x="2666" y="3950"/>
                    <a:pt x="2742" y="3893"/>
                    <a:pt x="2771" y="3797"/>
                  </a:cubicBezTo>
                  <a:lnTo>
                    <a:pt x="3509" y="883"/>
                  </a:lnTo>
                  <a:lnTo>
                    <a:pt x="4017" y="2273"/>
                  </a:lnTo>
                  <a:cubicBezTo>
                    <a:pt x="4046" y="2349"/>
                    <a:pt x="4113" y="2407"/>
                    <a:pt x="4199" y="2407"/>
                  </a:cubicBezTo>
                  <a:lnTo>
                    <a:pt x="5417" y="2407"/>
                  </a:lnTo>
                  <a:cubicBezTo>
                    <a:pt x="5522" y="2407"/>
                    <a:pt x="5618" y="2311"/>
                    <a:pt x="5618" y="2206"/>
                  </a:cubicBezTo>
                  <a:cubicBezTo>
                    <a:pt x="5627" y="2091"/>
                    <a:pt x="5532" y="2004"/>
                    <a:pt x="5426" y="2004"/>
                  </a:cubicBezTo>
                  <a:lnTo>
                    <a:pt x="4353" y="2004"/>
                  </a:lnTo>
                  <a:lnTo>
                    <a:pt x="3672" y="135"/>
                  </a:lnTo>
                  <a:cubicBezTo>
                    <a:pt x="3643" y="49"/>
                    <a:pt x="3557" y="1"/>
                    <a:pt x="3471" y="1"/>
                  </a:cubicBezTo>
                  <a:close/>
                </a:path>
              </a:pathLst>
            </a:custGeom>
            <a:solidFill>
              <a:srgbClr val="ACB7BF"/>
            </a:solidFill>
            <a:ln>
              <a:solidFill>
                <a:srgbClr val="C0000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15303;p62"/>
            <p:cNvSpPr/>
            <p:nvPr/>
          </p:nvSpPr>
          <p:spPr>
            <a:xfrm>
              <a:off x="8091254" y="3588310"/>
              <a:ext cx="148947" cy="10559"/>
            </a:xfrm>
            <a:custGeom>
              <a:avLst/>
              <a:gdLst/>
              <a:ahLst/>
              <a:cxnLst/>
              <a:rect l="l" t="t" r="r" b="b"/>
              <a:pathLst>
                <a:path w="5685" h="403" extrusionOk="0">
                  <a:moveTo>
                    <a:pt x="259" y="0"/>
                  </a:moveTo>
                  <a:cubicBezTo>
                    <a:pt x="0" y="0"/>
                    <a:pt x="0" y="403"/>
                    <a:pt x="259" y="403"/>
                  </a:cubicBezTo>
                  <a:lnTo>
                    <a:pt x="5416" y="403"/>
                  </a:lnTo>
                  <a:cubicBezTo>
                    <a:pt x="5685" y="403"/>
                    <a:pt x="5685" y="0"/>
                    <a:pt x="5416" y="0"/>
                  </a:cubicBezTo>
                  <a:close/>
                </a:path>
              </a:pathLst>
            </a:custGeom>
            <a:solidFill>
              <a:srgbClr val="ACB7BF"/>
            </a:solidFill>
            <a:ln>
              <a:solidFill>
                <a:srgbClr val="C0000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15304;p62"/>
            <p:cNvSpPr/>
            <p:nvPr/>
          </p:nvSpPr>
          <p:spPr>
            <a:xfrm>
              <a:off x="8091254" y="3634998"/>
              <a:ext cx="148947" cy="10585"/>
            </a:xfrm>
            <a:custGeom>
              <a:avLst/>
              <a:gdLst/>
              <a:ahLst/>
              <a:cxnLst/>
              <a:rect l="l" t="t" r="r" b="b"/>
              <a:pathLst>
                <a:path w="5685" h="404" extrusionOk="0">
                  <a:moveTo>
                    <a:pt x="259" y="1"/>
                  </a:moveTo>
                  <a:cubicBezTo>
                    <a:pt x="0" y="1"/>
                    <a:pt x="0" y="403"/>
                    <a:pt x="259" y="403"/>
                  </a:cubicBezTo>
                  <a:lnTo>
                    <a:pt x="5416" y="403"/>
                  </a:lnTo>
                  <a:cubicBezTo>
                    <a:pt x="5685" y="403"/>
                    <a:pt x="5685" y="1"/>
                    <a:pt x="5416" y="1"/>
                  </a:cubicBezTo>
                  <a:close/>
                </a:path>
              </a:pathLst>
            </a:custGeom>
            <a:solidFill>
              <a:srgbClr val="ACB7BF"/>
            </a:solidFill>
            <a:ln>
              <a:solidFill>
                <a:srgbClr val="C0000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 name="Group 32"/>
          <p:cNvGrpSpPr/>
          <p:nvPr/>
        </p:nvGrpSpPr>
        <p:grpSpPr>
          <a:xfrm>
            <a:off x="91440" y="-79236"/>
            <a:ext cx="9052560" cy="778837"/>
            <a:chOff x="330" y="182"/>
            <a:chExt cx="18543" cy="1604"/>
          </a:xfrm>
        </p:grpSpPr>
        <p:sp>
          <p:nvSpPr>
            <p:cNvPr id="53" name="Freeform 3"/>
            <p:cNvSpPr/>
            <p:nvPr/>
          </p:nvSpPr>
          <p:spPr>
            <a:xfrm>
              <a:off x="330" y="182"/>
              <a:ext cx="1640" cy="1604"/>
            </a:xfrm>
            <a:custGeom>
              <a:avLst/>
              <a:gdLst/>
              <a:ahLst/>
              <a:cxnLst/>
              <a:rect l="l" t="t" r="r" b="b"/>
              <a:pathLst>
                <a:path w="6263628" h="7097595">
                  <a:moveTo>
                    <a:pt x="0" y="0"/>
                  </a:moveTo>
                  <a:lnTo>
                    <a:pt x="6263628" y="0"/>
                  </a:lnTo>
                  <a:lnTo>
                    <a:pt x="6263628" y="7097595"/>
                  </a:lnTo>
                  <a:lnTo>
                    <a:pt x="0" y="7097595"/>
                  </a:lnTo>
                  <a:lnTo>
                    <a:pt x="0" y="0"/>
                  </a:lnTo>
                  <a:close/>
                </a:path>
              </a:pathLst>
            </a:custGeom>
            <a:blipFill>
              <a:blip r:embed="rId3"/>
              <a:stretch>
                <a:fillRect/>
              </a:stretch>
            </a:blipFill>
          </p:spPr>
        </p:sp>
        <p:pic>
          <p:nvPicPr>
            <p:cNvPr id="62" name="Picture 3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953" y="182"/>
              <a:ext cx="1920" cy="1604"/>
            </a:xfrm>
            <a:prstGeom prst="rect">
              <a:avLst/>
            </a:prstGeom>
          </p:spPr>
        </p:pic>
      </p:grpSp>
      <p:sp>
        <p:nvSpPr>
          <p:cNvPr id="63" name="Google Shape;36;p4"/>
          <p:cNvSpPr/>
          <p:nvPr/>
        </p:nvSpPr>
        <p:spPr>
          <a:xfrm>
            <a:off x="7772400" y="4709160"/>
            <a:ext cx="914400" cy="365760"/>
          </a:xfrm>
          <a:prstGeom prst="rect">
            <a:avLst/>
          </a:prstGeom>
          <a:noFill/>
          <a:ln>
            <a:noFill/>
          </a:ln>
        </p:spPr>
        <p:txBody>
          <a:bodyPr spcFirstLastPara="1" wrap="square" lIns="91425" tIns="45700" rIns="91425" bIns="45700" anchor="ctr" anchorCtr="0">
            <a:noAutofit/>
          </a:bodyPr>
          <a:lstStyle/>
          <a:p>
            <a:pPr lvl="0" algn="r">
              <a:buClr>
                <a:srgbClr val="CADCFC"/>
              </a:buClr>
              <a:buSzPts val="900"/>
            </a:pPr>
            <a:r>
              <a:rPr lang="en-US" sz="900" dirty="0">
                <a:solidFill>
                  <a:srgbClr val="CADCFC"/>
                </a:solidFill>
                <a:latin typeface="Calibri"/>
                <a:ea typeface="Calibri"/>
                <a:cs typeface="Calibri"/>
                <a:sym typeface="Calibri"/>
              </a:rPr>
              <a:t>24</a:t>
            </a:r>
            <a:r>
              <a:rPr lang="en-US" sz="900" b="0" i="0" u="none" strike="noStrike" cap="none" dirty="0">
                <a:solidFill>
                  <a:srgbClr val="CADCFC"/>
                </a:solidFill>
                <a:latin typeface="Calibri"/>
                <a:ea typeface="Calibri"/>
                <a:cs typeface="Calibri"/>
                <a:sym typeface="Calibri"/>
              </a:rPr>
              <a:t> / </a:t>
            </a:r>
            <a:r>
              <a:rPr lang="en-US" sz="900" dirty="0">
                <a:solidFill>
                  <a:srgbClr val="CADCFC"/>
                </a:solidFill>
                <a:latin typeface="Calibri"/>
                <a:ea typeface="Calibri"/>
                <a:cs typeface="Calibri"/>
                <a:sym typeface="Calibri"/>
              </a:rPr>
              <a:t>27</a:t>
            </a:r>
            <a:endParaRPr lang="en-US" sz="9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7570212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5"/>
        <p:cNvGrpSpPr/>
        <p:nvPr/>
      </p:nvGrpSpPr>
      <p:grpSpPr>
        <a:xfrm>
          <a:off x="0" y="0"/>
          <a:ext cx="0" cy="0"/>
          <a:chOff x="0" y="0"/>
          <a:chExt cx="0" cy="0"/>
        </a:xfrm>
      </p:grpSpPr>
      <p:sp>
        <p:nvSpPr>
          <p:cNvPr id="126" name="Google Shape;126;p9"/>
          <p:cNvSpPr/>
          <p:nvPr/>
        </p:nvSpPr>
        <p:spPr>
          <a:xfrm>
            <a:off x="-15240" y="7620"/>
            <a:ext cx="9144000" cy="914400"/>
          </a:xfrm>
          <a:prstGeom prst="rect">
            <a:avLst/>
          </a:prstGeom>
          <a:solidFill>
            <a:srgbClr val="2E7D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9"/>
          <p:cNvSpPr/>
          <p:nvPr/>
        </p:nvSpPr>
        <p:spPr>
          <a:xfrm>
            <a:off x="457200" y="137160"/>
            <a:ext cx="8229600" cy="6400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2200"/>
              <a:buFont typeface="Calibri"/>
              <a:buNone/>
            </a:pPr>
            <a:r>
              <a:rPr lang="en-US" sz="2200" b="1" i="0" u="none" strike="noStrike" cap="none" dirty="0" err="1">
                <a:solidFill>
                  <a:srgbClr val="FFFFFF"/>
                </a:solidFill>
                <a:latin typeface="Calibri"/>
                <a:ea typeface="Calibri"/>
                <a:cs typeface="Calibri"/>
                <a:sym typeface="Calibri"/>
              </a:rPr>
              <a:t>Processus</a:t>
            </a:r>
            <a:r>
              <a:rPr lang="en-US" sz="2200" b="1" i="0" u="none" strike="noStrike" cap="none" dirty="0">
                <a:solidFill>
                  <a:srgbClr val="FFFFFF"/>
                </a:solidFill>
                <a:latin typeface="Calibri"/>
                <a:ea typeface="Calibri"/>
                <a:cs typeface="Calibri"/>
                <a:sym typeface="Calibri"/>
              </a:rPr>
              <a:t> </a:t>
            </a:r>
            <a:r>
              <a:rPr lang="en-US" sz="2200" b="1" i="0" u="none" strike="noStrike" cap="none" dirty="0" err="1">
                <a:solidFill>
                  <a:srgbClr val="FFFFFF"/>
                </a:solidFill>
                <a:latin typeface="Calibri"/>
                <a:ea typeface="Calibri"/>
                <a:cs typeface="Calibri"/>
                <a:sym typeface="Calibri"/>
              </a:rPr>
              <a:t>d’interopérabilité</a:t>
            </a:r>
            <a:endParaRPr sz="2200" b="0" i="0" u="none" strike="noStrike" cap="none" dirty="0">
              <a:solidFill>
                <a:schemeClr val="dk1"/>
              </a:solidFill>
              <a:latin typeface="Calibri"/>
              <a:ea typeface="Calibri"/>
              <a:cs typeface="Calibri"/>
              <a:sym typeface="Calibri"/>
            </a:endParaRPr>
          </a:p>
        </p:txBody>
      </p:sp>
      <p:sp>
        <p:nvSpPr>
          <p:cNvPr id="128" name="Google Shape;128;p9"/>
          <p:cNvSpPr/>
          <p:nvPr/>
        </p:nvSpPr>
        <p:spPr>
          <a:xfrm>
            <a:off x="-25560" y="4663440"/>
            <a:ext cx="9144000" cy="480060"/>
          </a:xfrm>
          <a:prstGeom prst="rect">
            <a:avLst/>
          </a:prstGeom>
          <a:solidFill>
            <a:srgbClr val="2E7D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9"/>
          <p:cNvSpPr/>
          <p:nvPr/>
        </p:nvSpPr>
        <p:spPr>
          <a:xfrm>
            <a:off x="457200" y="4709160"/>
            <a:ext cx="640080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ADCFC"/>
              </a:buClr>
              <a:buSzPts val="900"/>
              <a:buFont typeface="Calibri"/>
              <a:buNone/>
            </a:pPr>
            <a:r>
              <a:rPr lang="en-US" sz="900" b="0" i="0" u="none" strike="noStrike" cap="none">
                <a:solidFill>
                  <a:srgbClr val="CADCFC"/>
                </a:solidFill>
                <a:latin typeface="Calibri"/>
                <a:ea typeface="Calibri"/>
                <a:cs typeface="Calibri"/>
                <a:sym typeface="Calibri"/>
              </a:rPr>
              <a:t>MINDEF - Direction des Ressources Humaines</a:t>
            </a:r>
            <a:endParaRPr sz="900" b="0" i="0" u="none" strike="noStrike" cap="none">
              <a:solidFill>
                <a:schemeClr val="dk1"/>
              </a:solidFill>
              <a:latin typeface="Calibri"/>
              <a:ea typeface="Calibri"/>
              <a:cs typeface="Calibri"/>
              <a:sym typeface="Calibri"/>
            </a:endParaRPr>
          </a:p>
        </p:txBody>
      </p:sp>
      <p:sp>
        <p:nvSpPr>
          <p:cNvPr id="131" name="Google Shape;131;p9"/>
          <p:cNvSpPr/>
          <p:nvPr/>
        </p:nvSpPr>
        <p:spPr>
          <a:xfrm>
            <a:off x="457200" y="1097280"/>
            <a:ext cx="82296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E2761"/>
              </a:buClr>
              <a:buSzPts val="1600"/>
              <a:buFont typeface="Calibri"/>
              <a:buNone/>
            </a:pPr>
            <a:r>
              <a:rPr lang="en-US" sz="1600" b="1" i="0" u="none" strike="noStrike" cap="none" dirty="0" err="1">
                <a:solidFill>
                  <a:srgbClr val="1E2761"/>
                </a:solidFill>
                <a:latin typeface="Calibri"/>
                <a:ea typeface="Calibri"/>
                <a:cs typeface="Calibri"/>
                <a:sym typeface="Calibri"/>
              </a:rPr>
              <a:t>L’interopérabilité</a:t>
            </a:r>
            <a:r>
              <a:rPr lang="en-US" sz="1600" b="1" i="0" u="none" strike="noStrike" cap="none" dirty="0">
                <a:solidFill>
                  <a:srgbClr val="1E2761"/>
                </a:solidFill>
                <a:latin typeface="Calibri"/>
                <a:ea typeface="Calibri"/>
                <a:cs typeface="Calibri"/>
                <a:sym typeface="Calibri"/>
              </a:rPr>
              <a:t> </a:t>
            </a:r>
            <a:r>
              <a:rPr lang="en-US" sz="1600" b="1" i="0" u="none" strike="noStrike" cap="none" dirty="0" err="1">
                <a:solidFill>
                  <a:srgbClr val="1E2761"/>
                </a:solidFill>
                <a:latin typeface="Calibri"/>
                <a:ea typeface="Calibri"/>
                <a:cs typeface="Calibri"/>
                <a:sym typeface="Calibri"/>
              </a:rPr>
              <a:t>est</a:t>
            </a:r>
            <a:r>
              <a:rPr lang="en-US" sz="1600" b="1" i="0" u="none" strike="noStrike" cap="none" dirty="0">
                <a:solidFill>
                  <a:srgbClr val="1E2761"/>
                </a:solidFill>
                <a:latin typeface="Calibri"/>
                <a:ea typeface="Calibri"/>
                <a:cs typeface="Calibri"/>
                <a:sym typeface="Calibri"/>
              </a:rPr>
              <a:t> </a:t>
            </a:r>
            <a:r>
              <a:rPr lang="en-US" sz="1600" b="1" i="0" u="none" strike="noStrike" cap="none" dirty="0" err="1">
                <a:solidFill>
                  <a:srgbClr val="1E2761"/>
                </a:solidFill>
                <a:latin typeface="Calibri"/>
                <a:ea typeface="Calibri"/>
                <a:cs typeface="Calibri"/>
                <a:sym typeface="Calibri"/>
              </a:rPr>
              <a:t>représentée</a:t>
            </a:r>
            <a:r>
              <a:rPr lang="en-US" sz="1600" b="1" i="0" u="none" strike="noStrike" cap="none" dirty="0">
                <a:solidFill>
                  <a:srgbClr val="1E2761"/>
                </a:solidFill>
                <a:latin typeface="Calibri"/>
                <a:ea typeface="Calibri"/>
                <a:cs typeface="Calibri"/>
                <a:sym typeface="Calibri"/>
              </a:rPr>
              <a:t> par les flux </a:t>
            </a:r>
            <a:r>
              <a:rPr lang="en-US" sz="1600" b="1" i="0" u="none" strike="noStrike" cap="none" dirty="0" err="1">
                <a:solidFill>
                  <a:srgbClr val="1E2761"/>
                </a:solidFill>
                <a:latin typeface="Calibri"/>
                <a:ea typeface="Calibri"/>
                <a:cs typeface="Calibri"/>
                <a:sym typeface="Calibri"/>
              </a:rPr>
              <a:t>bidirectionnels</a:t>
            </a:r>
            <a:r>
              <a:rPr lang="en-US" sz="1600" b="1" i="0" u="none" strike="noStrike" cap="none" dirty="0">
                <a:solidFill>
                  <a:srgbClr val="1E2761"/>
                </a:solidFill>
                <a:latin typeface="Calibri"/>
                <a:ea typeface="Calibri"/>
                <a:cs typeface="Calibri"/>
                <a:sym typeface="Calibri"/>
              </a:rPr>
              <a:t>:</a:t>
            </a:r>
            <a:endParaRPr sz="1600" b="0" i="0" u="none" strike="noStrike" cap="none" dirty="0">
              <a:solidFill>
                <a:schemeClr val="dk1"/>
              </a:solidFill>
              <a:latin typeface="Calibri"/>
              <a:ea typeface="Calibri"/>
              <a:cs typeface="Calibri"/>
              <a:sym typeface="Calibri"/>
            </a:endParaRPr>
          </a:p>
        </p:txBody>
      </p:sp>
      <p:sp>
        <p:nvSpPr>
          <p:cNvPr id="132" name="Google Shape;132;p9"/>
          <p:cNvSpPr/>
          <p:nvPr/>
        </p:nvSpPr>
        <p:spPr>
          <a:xfrm>
            <a:off x="457200" y="1645920"/>
            <a:ext cx="4023360" cy="1783080"/>
          </a:xfrm>
          <a:prstGeom prst="rect">
            <a:avLst/>
          </a:prstGeom>
          <a:solidFill>
            <a:srgbClr val="F0F4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9"/>
          <p:cNvSpPr/>
          <p:nvPr/>
        </p:nvSpPr>
        <p:spPr>
          <a:xfrm>
            <a:off x="457200" y="1623060"/>
            <a:ext cx="54864" cy="1783080"/>
          </a:xfrm>
          <a:prstGeom prst="rect">
            <a:avLst/>
          </a:prstGeom>
          <a:solidFill>
            <a:srgbClr val="C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9"/>
          <p:cNvSpPr/>
          <p:nvPr/>
        </p:nvSpPr>
        <p:spPr>
          <a:xfrm>
            <a:off x="731520" y="1783080"/>
            <a:ext cx="347472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E2761"/>
              </a:buClr>
              <a:buSzPts val="1400"/>
              <a:buFont typeface="Calibri"/>
              <a:buNone/>
            </a:pPr>
            <a:r>
              <a:rPr lang="en-US" sz="1600" b="1" i="0" u="none" strike="noStrike" cap="none" dirty="0">
                <a:solidFill>
                  <a:srgbClr val="1E2761"/>
                </a:solidFill>
                <a:latin typeface="Calibri"/>
                <a:ea typeface="Calibri"/>
                <a:cs typeface="Calibri"/>
                <a:sym typeface="Calibri"/>
              </a:rPr>
              <a:t>Flux entrant</a:t>
            </a:r>
            <a:endParaRPr sz="1600" b="0" i="0" u="none" strike="noStrike" cap="none" dirty="0">
              <a:solidFill>
                <a:schemeClr val="dk1"/>
              </a:solidFill>
              <a:latin typeface="Calibri"/>
              <a:ea typeface="Calibri"/>
              <a:cs typeface="Calibri"/>
              <a:sym typeface="Calibri"/>
            </a:endParaRPr>
          </a:p>
        </p:txBody>
      </p:sp>
      <p:sp>
        <p:nvSpPr>
          <p:cNvPr id="135" name="Google Shape;135;p9"/>
          <p:cNvSpPr/>
          <p:nvPr/>
        </p:nvSpPr>
        <p:spPr>
          <a:xfrm>
            <a:off x="731520" y="2331720"/>
            <a:ext cx="3474720" cy="5486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7280"/>
              </a:buClr>
              <a:buSzPts val="1100"/>
              <a:buFont typeface="Calibri"/>
              <a:buNone/>
            </a:pPr>
            <a:r>
              <a:rPr lang="en-US" b="0" i="0" u="none" strike="noStrike" cap="none" dirty="0">
                <a:solidFill>
                  <a:srgbClr val="6B7280"/>
                </a:solidFill>
                <a:latin typeface="Calibri"/>
                <a:ea typeface="Calibri"/>
                <a:cs typeface="Calibri"/>
                <a:sym typeface="Calibri"/>
              </a:rPr>
              <a:t>Les modules </a:t>
            </a:r>
            <a:r>
              <a:rPr lang="en-US" b="0" i="0" u="none" strike="noStrike" cap="none" dirty="0" err="1">
                <a:solidFill>
                  <a:srgbClr val="6B7280"/>
                </a:solidFill>
                <a:latin typeface="Calibri"/>
                <a:ea typeface="Calibri"/>
                <a:cs typeface="Calibri"/>
                <a:sym typeface="Calibri"/>
              </a:rPr>
              <a:t>puisent</a:t>
            </a:r>
            <a:r>
              <a:rPr lang="en-US" b="0" i="0" u="none" strike="noStrike" cap="none" dirty="0">
                <a:solidFill>
                  <a:srgbClr val="6B7280"/>
                </a:solidFill>
                <a:latin typeface="Calibri"/>
                <a:ea typeface="Calibri"/>
                <a:cs typeface="Calibri"/>
                <a:sym typeface="Calibri"/>
              </a:rPr>
              <a:t> </a:t>
            </a:r>
            <a:r>
              <a:rPr lang="en-US" b="0" i="0" u="none" strike="noStrike" cap="none" dirty="0" err="1">
                <a:solidFill>
                  <a:srgbClr val="6B7280"/>
                </a:solidFill>
                <a:latin typeface="Calibri"/>
                <a:ea typeface="Calibri"/>
                <a:cs typeface="Calibri"/>
                <a:sym typeface="Calibri"/>
              </a:rPr>
              <a:t>dans</a:t>
            </a:r>
            <a:r>
              <a:rPr lang="en-US" b="0" i="0" u="none" strike="noStrike" cap="none" dirty="0">
                <a:solidFill>
                  <a:srgbClr val="6B7280"/>
                </a:solidFill>
                <a:latin typeface="Calibri"/>
                <a:ea typeface="Calibri"/>
                <a:cs typeface="Calibri"/>
                <a:sym typeface="Calibri"/>
              </a:rPr>
              <a:t> GESMIL pour identifier le </a:t>
            </a:r>
            <a:r>
              <a:rPr lang="en-US" b="0" i="0" u="none" strike="noStrike" cap="none" dirty="0" err="1">
                <a:solidFill>
                  <a:srgbClr val="6B7280"/>
                </a:solidFill>
                <a:latin typeface="Calibri"/>
                <a:ea typeface="Calibri"/>
                <a:cs typeface="Calibri"/>
                <a:sym typeface="Calibri"/>
              </a:rPr>
              <a:t>militaire</a:t>
            </a:r>
            <a:r>
              <a:rPr lang="en-US" dirty="0">
                <a:solidFill>
                  <a:srgbClr val="6B7280"/>
                </a:solidFill>
                <a:latin typeface="Calibri"/>
                <a:ea typeface="Calibri"/>
                <a:cs typeface="Calibri"/>
                <a:sym typeface="Calibri"/>
              </a:rPr>
              <a:t> (pas de double </a:t>
            </a:r>
            <a:r>
              <a:rPr lang="en-US" dirty="0" err="1">
                <a:solidFill>
                  <a:srgbClr val="6B7280"/>
                </a:solidFill>
                <a:latin typeface="Calibri"/>
                <a:ea typeface="Calibri"/>
                <a:cs typeface="Calibri"/>
                <a:sym typeface="Calibri"/>
              </a:rPr>
              <a:t>saisie</a:t>
            </a:r>
            <a:r>
              <a:rPr lang="en-US" dirty="0">
                <a:solidFill>
                  <a:srgbClr val="6B7280"/>
                </a:solidFill>
                <a:latin typeface="Calibri"/>
                <a:ea typeface="Calibri"/>
                <a:cs typeface="Calibri"/>
                <a:sym typeface="Calibri"/>
              </a:rPr>
              <a:t>)</a:t>
            </a:r>
            <a:endParaRPr b="0" i="0" u="none" strike="noStrike" cap="none" dirty="0">
              <a:solidFill>
                <a:schemeClr val="dk1"/>
              </a:solidFill>
              <a:latin typeface="Calibri"/>
              <a:ea typeface="Calibri"/>
              <a:cs typeface="Calibri"/>
              <a:sym typeface="Calibri"/>
            </a:endParaRPr>
          </a:p>
        </p:txBody>
      </p:sp>
      <p:sp>
        <p:nvSpPr>
          <p:cNvPr id="136" name="Google Shape;136;p9"/>
          <p:cNvSpPr/>
          <p:nvPr/>
        </p:nvSpPr>
        <p:spPr>
          <a:xfrm>
            <a:off x="4754880" y="1645920"/>
            <a:ext cx="4023360" cy="1783080"/>
          </a:xfrm>
          <a:prstGeom prst="rect">
            <a:avLst/>
          </a:prstGeom>
          <a:solidFill>
            <a:srgbClr val="F0F4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9"/>
          <p:cNvSpPr/>
          <p:nvPr/>
        </p:nvSpPr>
        <p:spPr>
          <a:xfrm>
            <a:off x="4754880" y="1645920"/>
            <a:ext cx="45719" cy="1783080"/>
          </a:xfrm>
          <a:prstGeom prst="rect">
            <a:avLst/>
          </a:prstGeom>
          <a:solidFill>
            <a:srgbClr val="FCD11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9"/>
          <p:cNvSpPr/>
          <p:nvPr/>
        </p:nvSpPr>
        <p:spPr>
          <a:xfrm>
            <a:off x="5029200" y="1783080"/>
            <a:ext cx="347472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E2761"/>
              </a:buClr>
              <a:buSzPts val="1400"/>
              <a:buFont typeface="Calibri"/>
              <a:buNone/>
            </a:pPr>
            <a:r>
              <a:rPr lang="en-US" sz="1600" b="1" i="0" u="none" strike="noStrike" cap="none" dirty="0">
                <a:solidFill>
                  <a:srgbClr val="1E2761"/>
                </a:solidFill>
                <a:latin typeface="Calibri"/>
                <a:ea typeface="Calibri"/>
                <a:cs typeface="Calibri"/>
                <a:sym typeface="Calibri"/>
              </a:rPr>
              <a:t>Flux </a:t>
            </a:r>
            <a:r>
              <a:rPr lang="en-US" sz="1600" b="1" i="0" u="none" strike="noStrike" cap="none" dirty="0" err="1">
                <a:solidFill>
                  <a:srgbClr val="1E2761"/>
                </a:solidFill>
                <a:latin typeface="Calibri"/>
                <a:ea typeface="Calibri"/>
                <a:cs typeface="Calibri"/>
                <a:sym typeface="Calibri"/>
              </a:rPr>
              <a:t>sortant</a:t>
            </a:r>
            <a:r>
              <a:rPr lang="en-US" sz="1600" b="1" i="0" u="none" strike="noStrike" cap="none" dirty="0">
                <a:solidFill>
                  <a:srgbClr val="1E2761"/>
                </a:solidFill>
                <a:latin typeface="Calibri"/>
                <a:ea typeface="Calibri"/>
                <a:cs typeface="Calibri"/>
                <a:sym typeface="Calibri"/>
              </a:rPr>
              <a:t> (</a:t>
            </a:r>
            <a:r>
              <a:rPr lang="en-US" sz="1600" b="1" i="0" u="none" strike="noStrike" cap="none" dirty="0" err="1">
                <a:solidFill>
                  <a:srgbClr val="1E2761"/>
                </a:solidFill>
                <a:latin typeface="Calibri"/>
                <a:ea typeface="Calibri"/>
                <a:cs typeface="Calibri"/>
                <a:sym typeface="Calibri"/>
              </a:rPr>
              <a:t>enrichissement</a:t>
            </a:r>
            <a:r>
              <a:rPr lang="en-US" sz="1600" b="1" i="0" u="none" strike="noStrike" cap="none" dirty="0">
                <a:solidFill>
                  <a:srgbClr val="1E2761"/>
                </a:solidFill>
                <a:latin typeface="Calibri"/>
                <a:ea typeface="Calibri"/>
                <a:cs typeface="Calibri"/>
                <a:sym typeface="Calibri"/>
              </a:rPr>
              <a:t>)</a:t>
            </a:r>
            <a:endParaRPr sz="1600" b="0" i="0" u="none" strike="noStrike" cap="none" dirty="0">
              <a:solidFill>
                <a:schemeClr val="dk1"/>
              </a:solidFill>
              <a:latin typeface="Calibri"/>
              <a:ea typeface="Calibri"/>
              <a:cs typeface="Calibri"/>
              <a:sym typeface="Calibri"/>
            </a:endParaRPr>
          </a:p>
        </p:txBody>
      </p:sp>
      <p:sp>
        <p:nvSpPr>
          <p:cNvPr id="139" name="Google Shape;139;p9"/>
          <p:cNvSpPr/>
          <p:nvPr/>
        </p:nvSpPr>
        <p:spPr>
          <a:xfrm>
            <a:off x="5074919" y="2331720"/>
            <a:ext cx="3474720" cy="5486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7280"/>
              </a:buClr>
              <a:buSzPts val="1100"/>
              <a:buFont typeface="Calibri"/>
              <a:buNone/>
            </a:pPr>
            <a:r>
              <a:rPr lang="en-US" b="0" i="0" u="none" strike="noStrike" cap="none" dirty="0">
                <a:solidFill>
                  <a:srgbClr val="6B7280"/>
                </a:solidFill>
                <a:latin typeface="Calibri"/>
                <a:ea typeface="Calibri"/>
                <a:cs typeface="Calibri"/>
                <a:sym typeface="Calibri"/>
              </a:rPr>
              <a:t>Les modules </a:t>
            </a:r>
            <a:r>
              <a:rPr lang="en-US" b="0" i="0" u="none" strike="noStrike" cap="none" dirty="0" err="1">
                <a:solidFill>
                  <a:srgbClr val="6B7280"/>
                </a:solidFill>
                <a:latin typeface="Calibri"/>
                <a:ea typeface="Calibri"/>
                <a:cs typeface="Calibri"/>
                <a:sym typeface="Calibri"/>
              </a:rPr>
              <a:t>renvoient</a:t>
            </a:r>
            <a:r>
              <a:rPr lang="en-US" b="0" i="0" u="none" strike="noStrike" cap="none" dirty="0">
                <a:solidFill>
                  <a:srgbClr val="6B7280"/>
                </a:solidFill>
                <a:latin typeface="Calibri"/>
                <a:ea typeface="Calibri"/>
                <a:cs typeface="Calibri"/>
                <a:sym typeface="Calibri"/>
              </a:rPr>
              <a:t> des </a:t>
            </a:r>
            <a:r>
              <a:rPr lang="en-US" b="0" i="0" u="none" strike="noStrike" cap="none" dirty="0" err="1">
                <a:solidFill>
                  <a:srgbClr val="6B7280"/>
                </a:solidFill>
                <a:latin typeface="Calibri"/>
                <a:ea typeface="Calibri"/>
                <a:cs typeface="Calibri"/>
                <a:sym typeface="Calibri"/>
              </a:rPr>
              <a:t>données</a:t>
            </a:r>
            <a:r>
              <a:rPr lang="en-US" b="0" i="0" u="none" strike="noStrike" cap="none" dirty="0">
                <a:solidFill>
                  <a:srgbClr val="6B7280"/>
                </a:solidFill>
                <a:latin typeface="Calibri"/>
                <a:ea typeface="Calibri"/>
                <a:cs typeface="Calibri"/>
                <a:sym typeface="Calibri"/>
              </a:rPr>
              <a:t> (</a:t>
            </a:r>
            <a:r>
              <a:rPr lang="en-US" b="0" i="0" u="none" strike="noStrike" cap="none" dirty="0" err="1">
                <a:solidFill>
                  <a:srgbClr val="6B7280"/>
                </a:solidFill>
                <a:latin typeface="Calibri"/>
                <a:ea typeface="Calibri"/>
                <a:cs typeface="Calibri"/>
                <a:sym typeface="Calibri"/>
              </a:rPr>
              <a:t>actes</a:t>
            </a:r>
            <a:r>
              <a:rPr lang="en-US" b="0" i="0" u="none" strike="noStrike" cap="none" dirty="0">
                <a:solidFill>
                  <a:srgbClr val="6B7280"/>
                </a:solidFill>
                <a:latin typeface="Calibri"/>
                <a:ea typeface="Calibri"/>
                <a:cs typeface="Calibri"/>
                <a:sym typeface="Calibri"/>
              </a:rPr>
              <a:t> </a:t>
            </a:r>
            <a:r>
              <a:rPr lang="en-US" b="0" i="0" u="none" strike="noStrike" cap="none" dirty="0" err="1">
                <a:solidFill>
                  <a:srgbClr val="6B7280"/>
                </a:solidFill>
                <a:latin typeface="Calibri"/>
                <a:ea typeface="Calibri"/>
                <a:cs typeface="Calibri"/>
                <a:sym typeface="Calibri"/>
              </a:rPr>
              <a:t>médicaux</a:t>
            </a:r>
            <a:r>
              <a:rPr lang="en-US" b="0" i="0" u="none" strike="noStrike" cap="none" dirty="0">
                <a:solidFill>
                  <a:srgbClr val="6B7280"/>
                </a:solidFill>
                <a:latin typeface="Calibri"/>
                <a:ea typeface="Calibri"/>
                <a:cs typeface="Calibri"/>
                <a:sym typeface="Calibri"/>
              </a:rPr>
              <a:t>, documents </a:t>
            </a:r>
            <a:r>
              <a:rPr lang="en-US" b="0" i="0" u="none" strike="noStrike" cap="none" dirty="0" err="1">
                <a:solidFill>
                  <a:srgbClr val="6B7280"/>
                </a:solidFill>
                <a:latin typeface="Calibri"/>
                <a:ea typeface="Calibri"/>
                <a:cs typeface="Calibri"/>
                <a:sym typeface="Calibri"/>
              </a:rPr>
              <a:t>scannés</a:t>
            </a:r>
            <a:r>
              <a:rPr lang="en-US" b="0" i="0" u="none" strike="noStrike" cap="none" dirty="0">
                <a:solidFill>
                  <a:srgbClr val="6B7280"/>
                </a:solidFill>
                <a:latin typeface="Calibri"/>
                <a:ea typeface="Calibri"/>
                <a:cs typeface="Calibri"/>
                <a:sym typeface="Calibri"/>
              </a:rPr>
              <a:t>, </a:t>
            </a:r>
            <a:r>
              <a:rPr lang="en-US" b="0" i="0" u="none" strike="noStrike" cap="none" dirty="0" err="1">
                <a:solidFill>
                  <a:srgbClr val="6B7280"/>
                </a:solidFill>
                <a:latin typeface="Calibri"/>
                <a:ea typeface="Calibri"/>
                <a:cs typeface="Calibri"/>
                <a:sym typeface="Calibri"/>
              </a:rPr>
              <a:t>diplômes</a:t>
            </a:r>
            <a:r>
              <a:rPr lang="en-US" dirty="0">
                <a:solidFill>
                  <a:srgbClr val="6B7280"/>
                </a:solidFill>
                <a:latin typeface="Calibri"/>
                <a:ea typeface="Calibri"/>
                <a:cs typeface="Calibri"/>
                <a:sym typeface="Calibri"/>
              </a:rPr>
              <a:t>) pour </a:t>
            </a:r>
            <a:r>
              <a:rPr lang="en-US" dirty="0" err="1">
                <a:solidFill>
                  <a:srgbClr val="6B7280"/>
                </a:solidFill>
                <a:latin typeface="Calibri"/>
                <a:ea typeface="Calibri"/>
                <a:cs typeface="Calibri"/>
                <a:sym typeface="Calibri"/>
              </a:rPr>
              <a:t>mettre</a:t>
            </a:r>
            <a:r>
              <a:rPr lang="en-US" dirty="0">
                <a:solidFill>
                  <a:srgbClr val="6B7280"/>
                </a:solidFill>
                <a:latin typeface="Calibri"/>
                <a:ea typeface="Calibri"/>
                <a:cs typeface="Calibri"/>
                <a:sym typeface="Calibri"/>
              </a:rPr>
              <a:t> à jour la fiche </a:t>
            </a:r>
            <a:r>
              <a:rPr lang="en-US" dirty="0" err="1">
                <a:solidFill>
                  <a:srgbClr val="6B7280"/>
                </a:solidFill>
                <a:latin typeface="Calibri"/>
                <a:ea typeface="Calibri"/>
                <a:cs typeface="Calibri"/>
                <a:sym typeface="Calibri"/>
              </a:rPr>
              <a:t>centrale</a:t>
            </a:r>
            <a:endParaRPr b="0" i="0" u="none" strike="noStrike" cap="none" dirty="0">
              <a:solidFill>
                <a:schemeClr val="dk1"/>
              </a:solidFill>
              <a:latin typeface="Calibri"/>
              <a:ea typeface="Calibri"/>
              <a:cs typeface="Calibri"/>
              <a:sym typeface="Calibri"/>
            </a:endParaRPr>
          </a:p>
        </p:txBody>
      </p:sp>
      <p:sp>
        <p:nvSpPr>
          <p:cNvPr id="2" name="Rectangle 1"/>
          <p:cNvSpPr/>
          <p:nvPr/>
        </p:nvSpPr>
        <p:spPr>
          <a:xfrm>
            <a:off x="248760" y="3745468"/>
            <a:ext cx="8463600" cy="738664"/>
          </a:xfrm>
          <a:prstGeom prst="rect">
            <a:avLst/>
          </a:prstGeom>
        </p:spPr>
        <p:txBody>
          <a:bodyPr wrap="square">
            <a:spAutoFit/>
          </a:bodyPr>
          <a:lstStyle/>
          <a:p>
            <a:pPr lvl="0">
              <a:buClr>
                <a:srgbClr val="1E2761"/>
              </a:buClr>
              <a:buSzPts val="1300"/>
            </a:pPr>
            <a:r>
              <a:rPr lang="fr-FR" dirty="0">
                <a:solidFill>
                  <a:schemeClr val="dk1"/>
                </a:solidFill>
                <a:effectLst>
                  <a:outerShdw blurRad="38100" dist="38100" dir="2700000" algn="tl">
                    <a:srgbClr val="000000">
                      <a:alpha val="43137"/>
                    </a:srgbClr>
                  </a:outerShdw>
                </a:effectLst>
                <a:latin typeface="Calibri"/>
                <a:ea typeface="Calibri"/>
                <a:cs typeface="Calibri"/>
                <a:sym typeface="Calibri"/>
              </a:rPr>
              <a:t>	L’interopérabilité techniques entre SIADOC, CIMIS et GESMIL 2.0 repose sur une architecture orientée services, où chaque application communique via des interfaces de programmation d’application, communément appelées API.</a:t>
            </a:r>
          </a:p>
        </p:txBody>
      </p:sp>
      <p:sp>
        <p:nvSpPr>
          <p:cNvPr id="17" name="Google Shape;40;p4"/>
          <p:cNvSpPr/>
          <p:nvPr/>
        </p:nvSpPr>
        <p:spPr>
          <a:xfrm>
            <a:off x="0" y="3752612"/>
            <a:ext cx="54864" cy="731520"/>
          </a:xfrm>
          <a:prstGeom prst="rect">
            <a:avLst/>
          </a:prstGeom>
          <a:solidFill>
            <a:srgbClr val="3A8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 name="Group 32"/>
          <p:cNvGrpSpPr/>
          <p:nvPr/>
        </p:nvGrpSpPr>
        <p:grpSpPr>
          <a:xfrm>
            <a:off x="91440" y="75884"/>
            <a:ext cx="9052560" cy="778837"/>
            <a:chOff x="330" y="182"/>
            <a:chExt cx="18543" cy="1604"/>
          </a:xfrm>
        </p:grpSpPr>
        <p:sp>
          <p:nvSpPr>
            <p:cNvPr id="19" name="Freeform 3"/>
            <p:cNvSpPr/>
            <p:nvPr/>
          </p:nvSpPr>
          <p:spPr>
            <a:xfrm>
              <a:off x="330" y="182"/>
              <a:ext cx="1640" cy="1604"/>
            </a:xfrm>
            <a:custGeom>
              <a:avLst/>
              <a:gdLst/>
              <a:ahLst/>
              <a:cxnLst/>
              <a:rect l="l" t="t" r="r" b="b"/>
              <a:pathLst>
                <a:path w="6263628" h="7097595">
                  <a:moveTo>
                    <a:pt x="0" y="0"/>
                  </a:moveTo>
                  <a:lnTo>
                    <a:pt x="6263628" y="0"/>
                  </a:lnTo>
                  <a:lnTo>
                    <a:pt x="6263628" y="7097595"/>
                  </a:lnTo>
                  <a:lnTo>
                    <a:pt x="0" y="7097595"/>
                  </a:lnTo>
                  <a:lnTo>
                    <a:pt x="0" y="0"/>
                  </a:lnTo>
                  <a:close/>
                </a:path>
              </a:pathLst>
            </a:custGeom>
            <a:blipFill>
              <a:blip r:embed="rId3"/>
              <a:stretch>
                <a:fillRect/>
              </a:stretch>
            </a:blipFill>
          </p:spPr>
        </p:sp>
        <p:pic>
          <p:nvPicPr>
            <p:cNvPr id="20" name="Picture 3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953" y="182"/>
              <a:ext cx="1920" cy="1604"/>
            </a:xfrm>
            <a:prstGeom prst="rect">
              <a:avLst/>
            </a:prstGeom>
          </p:spPr>
        </p:pic>
      </p:grpSp>
      <p:sp>
        <p:nvSpPr>
          <p:cNvPr id="21" name="Google Shape;36;p4"/>
          <p:cNvSpPr/>
          <p:nvPr/>
        </p:nvSpPr>
        <p:spPr>
          <a:xfrm>
            <a:off x="7772400" y="4709160"/>
            <a:ext cx="914400" cy="365760"/>
          </a:xfrm>
          <a:prstGeom prst="rect">
            <a:avLst/>
          </a:prstGeom>
          <a:noFill/>
          <a:ln>
            <a:noFill/>
          </a:ln>
        </p:spPr>
        <p:txBody>
          <a:bodyPr spcFirstLastPara="1" wrap="square" lIns="91425" tIns="45700" rIns="91425" bIns="45700" anchor="ctr" anchorCtr="0">
            <a:noAutofit/>
          </a:bodyPr>
          <a:lstStyle/>
          <a:p>
            <a:pPr lvl="0" algn="r">
              <a:buClr>
                <a:srgbClr val="CADCFC"/>
              </a:buClr>
              <a:buSzPts val="900"/>
            </a:pPr>
            <a:r>
              <a:rPr lang="en-US" sz="900" dirty="0">
                <a:solidFill>
                  <a:srgbClr val="CADCFC"/>
                </a:solidFill>
                <a:latin typeface="Calibri"/>
                <a:ea typeface="Calibri"/>
                <a:cs typeface="Calibri"/>
                <a:sym typeface="Calibri"/>
              </a:rPr>
              <a:t>25</a:t>
            </a:r>
            <a:r>
              <a:rPr lang="en-US" sz="900" b="0" i="0" u="none" strike="noStrike" cap="none" dirty="0">
                <a:solidFill>
                  <a:srgbClr val="CADCFC"/>
                </a:solidFill>
                <a:latin typeface="Calibri"/>
                <a:ea typeface="Calibri"/>
                <a:cs typeface="Calibri"/>
                <a:sym typeface="Calibri"/>
              </a:rPr>
              <a:t> / </a:t>
            </a:r>
            <a:r>
              <a:rPr lang="en-US" sz="900" dirty="0">
                <a:solidFill>
                  <a:srgbClr val="CADCFC"/>
                </a:solidFill>
                <a:latin typeface="Calibri"/>
                <a:ea typeface="Calibri"/>
                <a:cs typeface="Calibri"/>
                <a:sym typeface="Calibri"/>
              </a:rPr>
              <a:t>27</a:t>
            </a:r>
            <a:endParaRPr lang="en-US" sz="9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266116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6"/>
        <p:cNvGrpSpPr/>
        <p:nvPr/>
      </p:nvGrpSpPr>
      <p:grpSpPr>
        <a:xfrm>
          <a:off x="0" y="0"/>
          <a:ext cx="0" cy="0"/>
          <a:chOff x="0" y="0"/>
          <a:chExt cx="0" cy="0"/>
        </a:xfrm>
      </p:grpSpPr>
      <p:sp>
        <p:nvSpPr>
          <p:cNvPr id="47" name="Google Shape;47;p5"/>
          <p:cNvSpPr/>
          <p:nvPr/>
        </p:nvSpPr>
        <p:spPr>
          <a:xfrm>
            <a:off x="0" y="0"/>
            <a:ext cx="9144000" cy="914400"/>
          </a:xfrm>
          <a:prstGeom prst="rect">
            <a:avLst/>
          </a:prstGeom>
          <a:solidFill>
            <a:srgbClr val="C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5"/>
          <p:cNvSpPr/>
          <p:nvPr/>
        </p:nvSpPr>
        <p:spPr>
          <a:xfrm>
            <a:off x="457200" y="137160"/>
            <a:ext cx="8229600" cy="6400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2200"/>
              <a:buFont typeface="Calibri"/>
              <a:buNone/>
            </a:pPr>
            <a:r>
              <a:rPr lang="en-US" sz="2200" b="1" dirty="0">
                <a:solidFill>
                  <a:srgbClr val="FFFFFF"/>
                </a:solidFill>
                <a:latin typeface="Calibri"/>
                <a:ea typeface="Calibri"/>
                <a:cs typeface="Calibri"/>
                <a:sym typeface="Calibri"/>
              </a:rPr>
              <a:t>Conclusion </a:t>
            </a:r>
            <a:r>
              <a:rPr lang="en-US" sz="2200" b="1" dirty="0" err="1">
                <a:solidFill>
                  <a:srgbClr val="FFFFFF"/>
                </a:solidFill>
                <a:latin typeface="Calibri"/>
                <a:ea typeface="Calibri"/>
                <a:cs typeface="Calibri"/>
                <a:sym typeface="Calibri"/>
              </a:rPr>
              <a:t>sur</a:t>
            </a:r>
            <a:r>
              <a:rPr lang="en-US" sz="2200" b="1" dirty="0">
                <a:solidFill>
                  <a:srgbClr val="FFFFFF"/>
                </a:solidFill>
                <a:latin typeface="Calibri"/>
                <a:ea typeface="Calibri"/>
                <a:cs typeface="Calibri"/>
                <a:sym typeface="Calibri"/>
              </a:rPr>
              <a:t> la </a:t>
            </a:r>
            <a:r>
              <a:rPr lang="en-US" sz="2200" b="1" dirty="0" err="1">
                <a:solidFill>
                  <a:srgbClr val="FFFFFF"/>
                </a:solidFill>
                <a:latin typeface="Calibri"/>
                <a:ea typeface="Calibri"/>
                <a:cs typeface="Calibri"/>
                <a:sym typeface="Calibri"/>
              </a:rPr>
              <a:t>valeur</a:t>
            </a:r>
            <a:r>
              <a:rPr lang="en-US" sz="2200" b="1" dirty="0">
                <a:solidFill>
                  <a:srgbClr val="FFFFFF"/>
                </a:solidFill>
                <a:latin typeface="Calibri"/>
                <a:ea typeface="Calibri"/>
                <a:cs typeface="Calibri"/>
                <a:sym typeface="Calibri"/>
              </a:rPr>
              <a:t> </a:t>
            </a:r>
            <a:r>
              <a:rPr lang="en-US" sz="2200" b="1" dirty="0" err="1">
                <a:solidFill>
                  <a:srgbClr val="FFFFFF"/>
                </a:solidFill>
                <a:latin typeface="Calibri"/>
                <a:ea typeface="Calibri"/>
                <a:cs typeface="Calibri"/>
                <a:sym typeface="Calibri"/>
              </a:rPr>
              <a:t>ajoutée</a:t>
            </a:r>
            <a:r>
              <a:rPr lang="en-US" sz="2200" b="1" dirty="0">
                <a:solidFill>
                  <a:srgbClr val="FFFFFF"/>
                </a:solidFill>
                <a:latin typeface="Calibri"/>
                <a:ea typeface="Calibri"/>
                <a:cs typeface="Calibri"/>
                <a:sym typeface="Calibri"/>
              </a:rPr>
              <a:t> des </a:t>
            </a:r>
            <a:r>
              <a:rPr lang="en-US" sz="2200" b="1" dirty="0" err="1">
                <a:solidFill>
                  <a:srgbClr val="FFFFFF"/>
                </a:solidFill>
                <a:latin typeface="Calibri"/>
                <a:ea typeface="Calibri"/>
                <a:cs typeface="Calibri"/>
                <a:sym typeface="Calibri"/>
              </a:rPr>
              <a:t>systèmes</a:t>
            </a:r>
            <a:r>
              <a:rPr lang="en-US" sz="2200" b="1" dirty="0">
                <a:solidFill>
                  <a:srgbClr val="FFFFFF"/>
                </a:solidFill>
                <a:latin typeface="Calibri"/>
                <a:ea typeface="Calibri"/>
                <a:cs typeface="Calibri"/>
                <a:sym typeface="Calibri"/>
              </a:rPr>
              <a:t> </a:t>
            </a:r>
            <a:r>
              <a:rPr lang="en-US" sz="2200" b="1" dirty="0" err="1">
                <a:solidFill>
                  <a:srgbClr val="FFFFFF"/>
                </a:solidFill>
                <a:latin typeface="Calibri"/>
                <a:ea typeface="Calibri"/>
                <a:cs typeface="Calibri"/>
                <a:sym typeface="Calibri"/>
              </a:rPr>
              <a:t>intégrés</a:t>
            </a:r>
            <a:endParaRPr sz="2200" b="0" i="0" u="none" strike="noStrike" cap="none" dirty="0">
              <a:solidFill>
                <a:schemeClr val="dk1"/>
              </a:solidFill>
              <a:latin typeface="Calibri"/>
              <a:ea typeface="Calibri"/>
              <a:cs typeface="Calibri"/>
              <a:sym typeface="Calibri"/>
            </a:endParaRPr>
          </a:p>
        </p:txBody>
      </p:sp>
      <p:sp>
        <p:nvSpPr>
          <p:cNvPr id="49" name="Google Shape;49;p5"/>
          <p:cNvSpPr/>
          <p:nvPr/>
        </p:nvSpPr>
        <p:spPr>
          <a:xfrm>
            <a:off x="0" y="4655820"/>
            <a:ext cx="9144000" cy="480060"/>
          </a:xfrm>
          <a:prstGeom prst="rect">
            <a:avLst/>
          </a:prstGeom>
          <a:solidFill>
            <a:srgbClr val="C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5"/>
          <p:cNvSpPr/>
          <p:nvPr/>
        </p:nvSpPr>
        <p:spPr>
          <a:xfrm>
            <a:off x="457200" y="4709160"/>
            <a:ext cx="640080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ADCFC"/>
              </a:buClr>
              <a:buSzPts val="900"/>
              <a:buFont typeface="Calibri"/>
              <a:buNone/>
            </a:pPr>
            <a:r>
              <a:rPr lang="en-US" sz="900" b="0" i="0" u="none" strike="noStrike" cap="none">
                <a:solidFill>
                  <a:srgbClr val="CADCFC"/>
                </a:solidFill>
                <a:latin typeface="Calibri"/>
                <a:ea typeface="Calibri"/>
                <a:cs typeface="Calibri"/>
                <a:sym typeface="Calibri"/>
              </a:rPr>
              <a:t>MINDEF - Direction des Ressources Humaines</a:t>
            </a:r>
            <a:endParaRPr sz="900" b="0" i="0" u="none" strike="noStrike" cap="none">
              <a:solidFill>
                <a:schemeClr val="dk1"/>
              </a:solidFill>
              <a:latin typeface="Calibri"/>
              <a:ea typeface="Calibri"/>
              <a:cs typeface="Calibri"/>
              <a:sym typeface="Calibri"/>
            </a:endParaRPr>
          </a:p>
        </p:txBody>
      </p:sp>
      <p:sp>
        <p:nvSpPr>
          <p:cNvPr id="51" name="Google Shape;51;p5"/>
          <p:cNvSpPr/>
          <p:nvPr/>
        </p:nvSpPr>
        <p:spPr>
          <a:xfrm>
            <a:off x="7772400" y="4709160"/>
            <a:ext cx="914400" cy="365760"/>
          </a:xfrm>
          <a:prstGeom prst="rect">
            <a:avLst/>
          </a:prstGeom>
          <a:noFill/>
          <a:ln>
            <a:noFill/>
          </a:ln>
        </p:spPr>
        <p:txBody>
          <a:bodyPr spcFirstLastPara="1" wrap="square" lIns="91425" tIns="45700" rIns="91425" bIns="45700" anchor="ctr" anchorCtr="0">
            <a:noAutofit/>
          </a:bodyPr>
          <a:lstStyle/>
          <a:p>
            <a:pPr lvl="0" algn="r">
              <a:buClr>
                <a:srgbClr val="CADCFC"/>
              </a:buClr>
              <a:buSzPts val="900"/>
            </a:pPr>
            <a:r>
              <a:rPr lang="en-US" sz="900" dirty="0">
                <a:solidFill>
                  <a:srgbClr val="CADCFC"/>
                </a:solidFill>
                <a:latin typeface="Calibri"/>
                <a:ea typeface="Calibri"/>
                <a:cs typeface="Calibri"/>
                <a:sym typeface="Calibri"/>
              </a:rPr>
              <a:t>26 </a:t>
            </a:r>
            <a:r>
              <a:rPr lang="en-US" sz="900" b="0" i="0" u="none" strike="noStrike" cap="none" dirty="0">
                <a:solidFill>
                  <a:srgbClr val="CADCFC"/>
                </a:solidFill>
                <a:latin typeface="Calibri"/>
                <a:ea typeface="Calibri"/>
                <a:cs typeface="Calibri"/>
                <a:sym typeface="Calibri"/>
              </a:rPr>
              <a:t>/ </a:t>
            </a:r>
            <a:r>
              <a:rPr lang="en-US" sz="900" dirty="0">
                <a:solidFill>
                  <a:srgbClr val="CADCFC"/>
                </a:solidFill>
                <a:latin typeface="Calibri"/>
                <a:ea typeface="Calibri"/>
                <a:cs typeface="Calibri"/>
                <a:sym typeface="Calibri"/>
              </a:rPr>
              <a:t>27</a:t>
            </a:r>
            <a:endParaRPr lang="en-US" sz="900" dirty="0">
              <a:solidFill>
                <a:schemeClr val="dk1"/>
              </a:solidFill>
              <a:latin typeface="Calibri"/>
              <a:ea typeface="Calibri"/>
              <a:cs typeface="Calibri"/>
              <a:sym typeface="Calibri"/>
            </a:endParaRPr>
          </a:p>
        </p:txBody>
      </p:sp>
      <p:sp>
        <p:nvSpPr>
          <p:cNvPr id="53" name="Google Shape;37;p4"/>
          <p:cNvSpPr/>
          <p:nvPr/>
        </p:nvSpPr>
        <p:spPr>
          <a:xfrm>
            <a:off x="457200" y="1188720"/>
            <a:ext cx="8229600" cy="3200400"/>
          </a:xfrm>
          <a:prstGeom prst="rect">
            <a:avLst/>
          </a:prstGeom>
          <a:solidFill>
            <a:srgbClr val="F0F4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39;p4"/>
          <p:cNvSpPr/>
          <p:nvPr/>
        </p:nvSpPr>
        <p:spPr>
          <a:xfrm>
            <a:off x="666720" y="1417320"/>
            <a:ext cx="7680960" cy="2794680"/>
          </a:xfrm>
          <a:prstGeom prst="rect">
            <a:avLst/>
          </a:prstGeom>
          <a:noFill/>
          <a:ln>
            <a:noFill/>
          </a:ln>
        </p:spPr>
        <p:txBody>
          <a:bodyPr spcFirstLastPara="1" wrap="square" lIns="91425" tIns="45700" rIns="91425" bIns="45700" anchor="ctr" anchorCtr="0">
            <a:noAutofit/>
          </a:bodyPr>
          <a:lstStyle/>
          <a:p>
            <a:pPr algn="just"/>
            <a:r>
              <a:rPr lang="fr-FR" sz="1200" dirty="0">
                <a:solidFill>
                  <a:schemeClr val="tx1"/>
                </a:solidFill>
                <a:effectLst>
                  <a:outerShdw blurRad="38100" dist="38100" dir="2700000" algn="tl">
                    <a:srgbClr val="000000">
                      <a:alpha val="43137"/>
                    </a:srgbClr>
                  </a:outerShdw>
                </a:effectLst>
              </a:rPr>
              <a:t>	</a:t>
            </a:r>
            <a:r>
              <a:rPr lang="fr-FR" sz="1800" dirty="0">
                <a:solidFill>
                  <a:schemeClr val="tx1"/>
                </a:solidFill>
              </a:rPr>
              <a:t>La force de cette solution réside dans sa capacité à transformer des outils de gestion spécialisées en un véritable système d’aide à la décision intégré. En plaçant GESMIL 2.0 au centre de l’architecture, et en automatisant le passage du dossier de campagne vers l’archive pérenne dans SIADOC et en gérant l’identité numérique du militaire, le Ministère de la Défense se dote d’une mémoire numérique infaillible. L’interopérabilité n’est plus une option technique, mais la condition même de la fiabilité du système, permettant à chaque interaction logicielle de contribuer directement à la précision tactique et administrative de le base de données RH globale.</a:t>
            </a:r>
          </a:p>
        </p:txBody>
      </p:sp>
      <p:sp>
        <p:nvSpPr>
          <p:cNvPr id="64" name="Google Shape;40;p4"/>
          <p:cNvSpPr/>
          <p:nvPr/>
        </p:nvSpPr>
        <p:spPr>
          <a:xfrm>
            <a:off x="457200" y="3383280"/>
            <a:ext cx="54864" cy="731520"/>
          </a:xfrm>
          <a:prstGeom prst="rect">
            <a:avLst/>
          </a:prstGeom>
          <a:solidFill>
            <a:srgbClr val="3A8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41;p4"/>
          <p:cNvSpPr/>
          <p:nvPr/>
        </p:nvSpPr>
        <p:spPr>
          <a:xfrm>
            <a:off x="731520" y="3383280"/>
            <a:ext cx="7772400" cy="7315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E2761"/>
              </a:buClr>
              <a:buSzPts val="1300"/>
              <a:buFont typeface="Calibri"/>
              <a:buNone/>
            </a:pPr>
            <a:r>
              <a:rPr lang="fr-FR" sz="1300" b="0" i="0" u="none" strike="noStrike" cap="none" dirty="0">
                <a:solidFill>
                  <a:schemeClr val="dk1"/>
                </a:solidFill>
                <a:latin typeface="Calibri"/>
                <a:ea typeface="Calibri"/>
                <a:cs typeface="Calibri"/>
                <a:sym typeface="Calibri"/>
              </a:rPr>
              <a:t>…</a:t>
            </a:r>
            <a:endParaRPr sz="1300" b="0" i="0" u="none" strike="noStrike" cap="none" dirty="0">
              <a:solidFill>
                <a:schemeClr val="dk1"/>
              </a:solidFill>
              <a:latin typeface="Calibri"/>
              <a:ea typeface="Calibri"/>
              <a:cs typeface="Calibri"/>
              <a:sym typeface="Calibri"/>
            </a:endParaRPr>
          </a:p>
        </p:txBody>
      </p:sp>
      <p:grpSp>
        <p:nvGrpSpPr>
          <p:cNvPr id="11" name="Group 32"/>
          <p:cNvGrpSpPr/>
          <p:nvPr/>
        </p:nvGrpSpPr>
        <p:grpSpPr>
          <a:xfrm>
            <a:off x="91440" y="0"/>
            <a:ext cx="9052560" cy="778837"/>
            <a:chOff x="330" y="182"/>
            <a:chExt cx="18543" cy="1604"/>
          </a:xfrm>
        </p:grpSpPr>
        <p:sp>
          <p:nvSpPr>
            <p:cNvPr id="12" name="Freeform 3"/>
            <p:cNvSpPr/>
            <p:nvPr/>
          </p:nvSpPr>
          <p:spPr>
            <a:xfrm>
              <a:off x="330" y="182"/>
              <a:ext cx="1640" cy="1604"/>
            </a:xfrm>
            <a:custGeom>
              <a:avLst/>
              <a:gdLst/>
              <a:ahLst/>
              <a:cxnLst/>
              <a:rect l="l" t="t" r="r" b="b"/>
              <a:pathLst>
                <a:path w="6263628" h="7097595">
                  <a:moveTo>
                    <a:pt x="0" y="0"/>
                  </a:moveTo>
                  <a:lnTo>
                    <a:pt x="6263628" y="0"/>
                  </a:lnTo>
                  <a:lnTo>
                    <a:pt x="6263628" y="7097595"/>
                  </a:lnTo>
                  <a:lnTo>
                    <a:pt x="0" y="7097595"/>
                  </a:lnTo>
                  <a:lnTo>
                    <a:pt x="0" y="0"/>
                  </a:lnTo>
                  <a:close/>
                </a:path>
              </a:pathLst>
            </a:custGeom>
            <a:blipFill>
              <a:blip r:embed="rId3"/>
              <a:stretch>
                <a:fillRect/>
              </a:stretch>
            </a:blipFill>
          </p:spPr>
        </p:sp>
        <p:pic>
          <p:nvPicPr>
            <p:cNvPr id="13" name="Picture 3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953" y="182"/>
              <a:ext cx="1920" cy="1604"/>
            </a:xfrm>
            <a:prstGeom prst="rect">
              <a:avLst/>
            </a:prstGeom>
          </p:spPr>
        </p:pic>
      </p:grpSp>
    </p:spTree>
    <p:extLst>
      <p:ext uri="{BB962C8B-B14F-4D97-AF65-F5344CB8AC3E}">
        <p14:creationId xmlns:p14="http://schemas.microsoft.com/office/powerpoint/2010/main" val="15931288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5"/>
        <p:cNvGrpSpPr/>
        <p:nvPr/>
      </p:nvGrpSpPr>
      <p:grpSpPr>
        <a:xfrm>
          <a:off x="0" y="0"/>
          <a:ext cx="0" cy="0"/>
          <a:chOff x="0" y="0"/>
          <a:chExt cx="0" cy="0"/>
        </a:xfrm>
      </p:grpSpPr>
      <p:sp>
        <p:nvSpPr>
          <p:cNvPr id="126" name="Google Shape;126;p9"/>
          <p:cNvSpPr/>
          <p:nvPr/>
        </p:nvSpPr>
        <p:spPr>
          <a:xfrm>
            <a:off x="0" y="0"/>
            <a:ext cx="9144000" cy="914400"/>
          </a:xfrm>
          <a:prstGeom prst="rect">
            <a:avLst/>
          </a:prstGeom>
          <a:solidFill>
            <a:srgbClr val="FFC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9"/>
          <p:cNvSpPr/>
          <p:nvPr/>
        </p:nvSpPr>
        <p:spPr>
          <a:xfrm>
            <a:off x="457200" y="137160"/>
            <a:ext cx="8229600" cy="6400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2200"/>
              <a:buFont typeface="Calibri"/>
              <a:buNone/>
            </a:pPr>
            <a:r>
              <a:rPr lang="en-US" sz="2200" b="1" i="0" u="none" strike="noStrike" cap="none" dirty="0">
                <a:solidFill>
                  <a:srgbClr val="FFFFFF"/>
                </a:solidFill>
                <a:latin typeface="Calibri"/>
                <a:ea typeface="Calibri"/>
                <a:cs typeface="Calibri"/>
                <a:sym typeface="Calibri"/>
              </a:rPr>
              <a:t>PERSPECTIVES</a:t>
            </a:r>
            <a:endParaRPr sz="2200" b="0" i="0" u="none" strike="noStrike" cap="none" dirty="0">
              <a:solidFill>
                <a:schemeClr val="dk1"/>
              </a:solidFill>
              <a:latin typeface="Calibri"/>
              <a:ea typeface="Calibri"/>
              <a:cs typeface="Calibri"/>
              <a:sym typeface="Calibri"/>
            </a:endParaRPr>
          </a:p>
        </p:txBody>
      </p:sp>
      <p:sp>
        <p:nvSpPr>
          <p:cNvPr id="128" name="Google Shape;128;p9"/>
          <p:cNvSpPr/>
          <p:nvPr/>
        </p:nvSpPr>
        <p:spPr>
          <a:xfrm>
            <a:off x="0" y="4663440"/>
            <a:ext cx="9144000" cy="480060"/>
          </a:xfrm>
          <a:prstGeom prst="rect">
            <a:avLst/>
          </a:prstGeom>
          <a:solidFill>
            <a:srgbClr val="FFC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9"/>
          <p:cNvSpPr/>
          <p:nvPr/>
        </p:nvSpPr>
        <p:spPr>
          <a:xfrm>
            <a:off x="457200" y="4709160"/>
            <a:ext cx="640080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ADCFC"/>
              </a:buClr>
              <a:buSzPts val="900"/>
              <a:buFont typeface="Calibri"/>
              <a:buNone/>
            </a:pPr>
            <a:r>
              <a:rPr lang="en-US" sz="900" b="0" i="0" u="none" strike="noStrike" cap="none">
                <a:solidFill>
                  <a:srgbClr val="CADCFC"/>
                </a:solidFill>
                <a:latin typeface="Calibri"/>
                <a:ea typeface="Calibri"/>
                <a:cs typeface="Calibri"/>
                <a:sym typeface="Calibri"/>
              </a:rPr>
              <a:t>MINDEF - Direction des Ressources Humaines</a:t>
            </a:r>
            <a:endParaRPr sz="900" b="0" i="0" u="none" strike="noStrike" cap="none">
              <a:solidFill>
                <a:schemeClr val="dk1"/>
              </a:solidFill>
              <a:latin typeface="Calibri"/>
              <a:ea typeface="Calibri"/>
              <a:cs typeface="Calibri"/>
              <a:sym typeface="Calibri"/>
            </a:endParaRPr>
          </a:p>
        </p:txBody>
      </p:sp>
      <p:sp>
        <p:nvSpPr>
          <p:cNvPr id="130" name="Google Shape;130;p9"/>
          <p:cNvSpPr/>
          <p:nvPr/>
        </p:nvSpPr>
        <p:spPr>
          <a:xfrm>
            <a:off x="7772400" y="4709160"/>
            <a:ext cx="914400" cy="365760"/>
          </a:xfrm>
          <a:prstGeom prst="rect">
            <a:avLst/>
          </a:prstGeom>
          <a:noFill/>
          <a:ln>
            <a:noFill/>
          </a:ln>
        </p:spPr>
        <p:txBody>
          <a:bodyPr spcFirstLastPara="1" wrap="square" lIns="91425" tIns="45700" rIns="91425" bIns="45700" anchor="ctr" anchorCtr="0">
            <a:noAutofit/>
          </a:bodyPr>
          <a:lstStyle/>
          <a:p>
            <a:pPr lvl="0" algn="r">
              <a:buClr>
                <a:srgbClr val="CADCFC"/>
              </a:buClr>
              <a:buSzPts val="900"/>
            </a:pPr>
            <a:r>
              <a:rPr lang="en-US" sz="900" b="0" i="0" u="none" strike="noStrike" cap="none" dirty="0">
                <a:solidFill>
                  <a:srgbClr val="CADCFC"/>
                </a:solidFill>
                <a:latin typeface="Calibri"/>
                <a:ea typeface="Calibri"/>
                <a:cs typeface="Calibri"/>
                <a:sym typeface="Calibri"/>
              </a:rPr>
              <a:t>27/ </a:t>
            </a:r>
            <a:r>
              <a:rPr lang="en-US" sz="900" dirty="0">
                <a:solidFill>
                  <a:srgbClr val="CADCFC"/>
                </a:solidFill>
                <a:latin typeface="Calibri"/>
                <a:ea typeface="Calibri"/>
                <a:cs typeface="Calibri"/>
                <a:sym typeface="Calibri"/>
              </a:rPr>
              <a:t>27</a:t>
            </a:r>
            <a:endParaRPr lang="en-US" sz="900" dirty="0">
              <a:solidFill>
                <a:schemeClr val="dk1"/>
              </a:solidFill>
              <a:latin typeface="Calibri"/>
              <a:ea typeface="Calibri"/>
              <a:cs typeface="Calibri"/>
              <a:sym typeface="Calibri"/>
            </a:endParaRPr>
          </a:p>
        </p:txBody>
      </p:sp>
      <p:sp>
        <p:nvSpPr>
          <p:cNvPr id="131" name="Google Shape;131;p9"/>
          <p:cNvSpPr/>
          <p:nvPr/>
        </p:nvSpPr>
        <p:spPr>
          <a:xfrm>
            <a:off x="457200" y="1097280"/>
            <a:ext cx="82296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E2761"/>
              </a:buClr>
              <a:buSzPts val="1600"/>
              <a:buFont typeface="Calibri"/>
              <a:buNone/>
            </a:pPr>
            <a:endParaRPr sz="1600" b="0" i="0" u="none" strike="noStrike" cap="none" dirty="0">
              <a:solidFill>
                <a:schemeClr val="dk1"/>
              </a:solidFill>
              <a:latin typeface="Calibri"/>
              <a:ea typeface="Calibri"/>
              <a:cs typeface="Calibri"/>
              <a:sym typeface="Calibri"/>
            </a:endParaRPr>
          </a:p>
        </p:txBody>
      </p:sp>
      <p:sp>
        <p:nvSpPr>
          <p:cNvPr id="132" name="Google Shape;132;p9"/>
          <p:cNvSpPr/>
          <p:nvPr/>
        </p:nvSpPr>
        <p:spPr>
          <a:xfrm>
            <a:off x="457200" y="1645920"/>
            <a:ext cx="4023360" cy="1188720"/>
          </a:xfrm>
          <a:prstGeom prst="rect">
            <a:avLst/>
          </a:prstGeom>
          <a:solidFill>
            <a:srgbClr val="F0F4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9"/>
          <p:cNvSpPr/>
          <p:nvPr/>
        </p:nvSpPr>
        <p:spPr>
          <a:xfrm>
            <a:off x="457200" y="1645920"/>
            <a:ext cx="54864" cy="1188720"/>
          </a:xfrm>
          <a:prstGeom prst="rect">
            <a:avLst/>
          </a:prstGeom>
          <a:solidFill>
            <a:srgbClr val="2E7D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9"/>
          <p:cNvSpPr/>
          <p:nvPr/>
        </p:nvSpPr>
        <p:spPr>
          <a:xfrm>
            <a:off x="731520" y="1783080"/>
            <a:ext cx="347472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E2761"/>
              </a:buClr>
              <a:buSzPts val="1400"/>
              <a:buFont typeface="Calibri"/>
              <a:buNone/>
            </a:pPr>
            <a:r>
              <a:rPr lang="en-US" sz="1400" b="1" i="0" u="none" strike="noStrike" cap="none" dirty="0" err="1">
                <a:solidFill>
                  <a:srgbClr val="1E2761"/>
                </a:solidFill>
                <a:latin typeface="Calibri"/>
                <a:ea typeface="Calibri"/>
                <a:cs typeface="Calibri"/>
                <a:sym typeface="Calibri"/>
              </a:rPr>
              <a:t>Changement</a:t>
            </a:r>
            <a:r>
              <a:rPr lang="en-US" sz="1400" b="1" i="0" u="none" strike="noStrike" cap="none" dirty="0">
                <a:solidFill>
                  <a:srgbClr val="1E2761"/>
                </a:solidFill>
                <a:latin typeface="Calibri"/>
                <a:ea typeface="Calibri"/>
                <a:cs typeface="Calibri"/>
                <a:sym typeface="Calibri"/>
              </a:rPr>
              <a:t> de culture</a:t>
            </a:r>
            <a:endParaRPr sz="1400" b="0" i="0" u="none" strike="noStrike" cap="none" dirty="0">
              <a:solidFill>
                <a:schemeClr val="dk1"/>
              </a:solidFill>
              <a:latin typeface="Calibri"/>
              <a:ea typeface="Calibri"/>
              <a:cs typeface="Calibri"/>
              <a:sym typeface="Calibri"/>
            </a:endParaRPr>
          </a:p>
        </p:txBody>
      </p:sp>
      <p:sp>
        <p:nvSpPr>
          <p:cNvPr id="135" name="Google Shape;135;p9"/>
          <p:cNvSpPr/>
          <p:nvPr/>
        </p:nvSpPr>
        <p:spPr>
          <a:xfrm>
            <a:off x="731520" y="2148840"/>
            <a:ext cx="3474720" cy="5486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7280"/>
              </a:buClr>
              <a:buSzPts val="1100"/>
              <a:buFont typeface="Calibri"/>
              <a:buNone/>
            </a:pPr>
            <a:endParaRPr sz="1100" b="0" i="0" u="none" strike="noStrike" cap="none" dirty="0">
              <a:solidFill>
                <a:schemeClr val="dk1"/>
              </a:solidFill>
              <a:latin typeface="Calibri"/>
              <a:ea typeface="Calibri"/>
              <a:cs typeface="Calibri"/>
              <a:sym typeface="Calibri"/>
            </a:endParaRPr>
          </a:p>
        </p:txBody>
      </p:sp>
      <p:sp>
        <p:nvSpPr>
          <p:cNvPr id="136" name="Google Shape;136;p9"/>
          <p:cNvSpPr/>
          <p:nvPr/>
        </p:nvSpPr>
        <p:spPr>
          <a:xfrm>
            <a:off x="4754880" y="1645920"/>
            <a:ext cx="4023360" cy="1188720"/>
          </a:xfrm>
          <a:prstGeom prst="rect">
            <a:avLst/>
          </a:prstGeom>
          <a:solidFill>
            <a:srgbClr val="F0F4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9"/>
          <p:cNvSpPr/>
          <p:nvPr/>
        </p:nvSpPr>
        <p:spPr>
          <a:xfrm>
            <a:off x="4754880" y="1645920"/>
            <a:ext cx="54864" cy="1188720"/>
          </a:xfrm>
          <a:prstGeom prst="rect">
            <a:avLst/>
          </a:prstGeom>
          <a:solidFill>
            <a:srgbClr val="C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9"/>
          <p:cNvSpPr/>
          <p:nvPr/>
        </p:nvSpPr>
        <p:spPr>
          <a:xfrm>
            <a:off x="5029200" y="1783080"/>
            <a:ext cx="347472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E2761"/>
              </a:buClr>
              <a:buSzPts val="1400"/>
              <a:buFont typeface="Calibri"/>
              <a:buNone/>
            </a:pPr>
            <a:r>
              <a:rPr lang="en-US" sz="1400" b="1" i="0" u="none" strike="noStrike" cap="none" dirty="0">
                <a:solidFill>
                  <a:srgbClr val="1E2761"/>
                </a:solidFill>
                <a:latin typeface="Calibri"/>
                <a:ea typeface="Calibri"/>
                <a:cs typeface="Calibri"/>
                <a:sym typeface="Calibri"/>
              </a:rPr>
              <a:t>Formation et </a:t>
            </a:r>
            <a:r>
              <a:rPr lang="en-US" sz="1400" b="1" i="0" u="none" strike="noStrike" cap="none" dirty="0" err="1">
                <a:solidFill>
                  <a:srgbClr val="1E2761"/>
                </a:solidFill>
                <a:latin typeface="Calibri"/>
                <a:ea typeface="Calibri"/>
                <a:cs typeface="Calibri"/>
                <a:sym typeface="Calibri"/>
              </a:rPr>
              <a:t>sensibilisation</a:t>
            </a:r>
            <a:r>
              <a:rPr lang="en-US" sz="1400" b="1" i="0" u="none" strike="noStrike" cap="none" dirty="0">
                <a:solidFill>
                  <a:srgbClr val="1E2761"/>
                </a:solidFill>
                <a:latin typeface="Calibri"/>
                <a:ea typeface="Calibri"/>
                <a:cs typeface="Calibri"/>
                <a:sym typeface="Calibri"/>
              </a:rPr>
              <a:t> du personnel</a:t>
            </a:r>
            <a:endParaRPr sz="1400" b="0" i="0" u="none" strike="noStrike" cap="none" dirty="0">
              <a:solidFill>
                <a:schemeClr val="dk1"/>
              </a:solidFill>
              <a:latin typeface="Calibri"/>
              <a:ea typeface="Calibri"/>
              <a:cs typeface="Calibri"/>
              <a:sym typeface="Calibri"/>
            </a:endParaRPr>
          </a:p>
        </p:txBody>
      </p:sp>
      <p:sp>
        <p:nvSpPr>
          <p:cNvPr id="139" name="Google Shape;139;p9"/>
          <p:cNvSpPr/>
          <p:nvPr/>
        </p:nvSpPr>
        <p:spPr>
          <a:xfrm>
            <a:off x="5029200" y="2148840"/>
            <a:ext cx="3474720" cy="5486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7280"/>
              </a:buClr>
              <a:buSzPts val="1100"/>
              <a:buFont typeface="Calibri"/>
              <a:buNone/>
            </a:pPr>
            <a:endParaRPr sz="1100" b="0" i="0" u="none" strike="noStrike" cap="none" dirty="0">
              <a:solidFill>
                <a:schemeClr val="dk1"/>
              </a:solidFill>
              <a:latin typeface="Calibri"/>
              <a:ea typeface="Calibri"/>
              <a:cs typeface="Calibri"/>
              <a:sym typeface="Calibri"/>
            </a:endParaRPr>
          </a:p>
        </p:txBody>
      </p:sp>
      <p:sp>
        <p:nvSpPr>
          <p:cNvPr id="140" name="Google Shape;140;p9"/>
          <p:cNvSpPr/>
          <p:nvPr/>
        </p:nvSpPr>
        <p:spPr>
          <a:xfrm>
            <a:off x="457200" y="3108960"/>
            <a:ext cx="4023360" cy="1188720"/>
          </a:xfrm>
          <a:prstGeom prst="rect">
            <a:avLst/>
          </a:prstGeom>
          <a:solidFill>
            <a:srgbClr val="F0F4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9"/>
          <p:cNvSpPr/>
          <p:nvPr/>
        </p:nvSpPr>
        <p:spPr>
          <a:xfrm>
            <a:off x="457200" y="3108960"/>
            <a:ext cx="54864" cy="1188720"/>
          </a:xfrm>
          <a:prstGeom prst="rect">
            <a:avLst/>
          </a:prstGeom>
          <a:solidFill>
            <a:srgbClr val="FFC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9"/>
          <p:cNvSpPr/>
          <p:nvPr/>
        </p:nvSpPr>
        <p:spPr>
          <a:xfrm>
            <a:off x="731520" y="3246120"/>
            <a:ext cx="347472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E2761"/>
              </a:buClr>
              <a:buSzPts val="1400"/>
              <a:buFont typeface="Calibri"/>
              <a:buNone/>
            </a:pPr>
            <a:r>
              <a:rPr lang="en-US" sz="1400" b="1" i="0" u="none" strike="noStrike" cap="none" dirty="0">
                <a:solidFill>
                  <a:srgbClr val="1E2761"/>
                </a:solidFill>
                <a:latin typeface="Calibri"/>
                <a:ea typeface="Calibri"/>
                <a:cs typeface="Calibri"/>
                <a:sym typeface="Calibri"/>
              </a:rPr>
              <a:t>Collaboration et communication</a:t>
            </a:r>
            <a:endParaRPr sz="1400" b="0" i="0" u="none" strike="noStrike" cap="none" dirty="0">
              <a:solidFill>
                <a:schemeClr val="dk1"/>
              </a:solidFill>
              <a:latin typeface="Calibri"/>
              <a:ea typeface="Calibri"/>
              <a:cs typeface="Calibri"/>
              <a:sym typeface="Calibri"/>
            </a:endParaRPr>
          </a:p>
        </p:txBody>
      </p:sp>
      <p:sp>
        <p:nvSpPr>
          <p:cNvPr id="143" name="Google Shape;143;p9"/>
          <p:cNvSpPr/>
          <p:nvPr/>
        </p:nvSpPr>
        <p:spPr>
          <a:xfrm>
            <a:off x="731520" y="3611880"/>
            <a:ext cx="3474720" cy="5486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7280"/>
              </a:buClr>
              <a:buSzPts val="1100"/>
              <a:buFont typeface="Calibri"/>
              <a:buNone/>
            </a:pPr>
            <a:endParaRPr sz="1100" b="0" i="0" u="none" strike="noStrike" cap="none" dirty="0">
              <a:solidFill>
                <a:schemeClr val="dk1"/>
              </a:solidFill>
              <a:latin typeface="Calibri"/>
              <a:ea typeface="Calibri"/>
              <a:cs typeface="Calibri"/>
              <a:sym typeface="Calibri"/>
            </a:endParaRPr>
          </a:p>
        </p:txBody>
      </p:sp>
      <p:sp>
        <p:nvSpPr>
          <p:cNvPr id="144" name="Google Shape;144;p9"/>
          <p:cNvSpPr/>
          <p:nvPr/>
        </p:nvSpPr>
        <p:spPr>
          <a:xfrm>
            <a:off x="4754880" y="3108960"/>
            <a:ext cx="4023360" cy="1188720"/>
          </a:xfrm>
          <a:prstGeom prst="rect">
            <a:avLst/>
          </a:prstGeom>
          <a:solidFill>
            <a:srgbClr val="F0F4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9"/>
          <p:cNvSpPr/>
          <p:nvPr/>
        </p:nvSpPr>
        <p:spPr>
          <a:xfrm>
            <a:off x="4754880" y="3108960"/>
            <a:ext cx="54864" cy="1188720"/>
          </a:xfrm>
          <a:prstGeom prst="rect">
            <a:avLst/>
          </a:prstGeom>
          <a:solidFill>
            <a:srgbClr val="3A8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9"/>
          <p:cNvSpPr/>
          <p:nvPr/>
        </p:nvSpPr>
        <p:spPr>
          <a:xfrm>
            <a:off x="5029200" y="3246120"/>
            <a:ext cx="347472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E2761"/>
              </a:buClr>
              <a:buSzPts val="1400"/>
              <a:buFont typeface="Calibri"/>
              <a:buNone/>
            </a:pPr>
            <a:r>
              <a:rPr lang="en-US" sz="1400" b="1" i="0" u="none" strike="noStrike" cap="none" dirty="0" err="1">
                <a:solidFill>
                  <a:srgbClr val="1E2761"/>
                </a:solidFill>
                <a:latin typeface="Calibri"/>
                <a:ea typeface="Calibri"/>
                <a:cs typeface="Calibri"/>
                <a:sym typeface="Calibri"/>
              </a:rPr>
              <a:t>Amélioration</a:t>
            </a:r>
            <a:r>
              <a:rPr lang="en-US" sz="1400" b="1" i="0" u="none" strike="noStrike" cap="none" dirty="0">
                <a:solidFill>
                  <a:srgbClr val="1E2761"/>
                </a:solidFill>
                <a:latin typeface="Calibri"/>
                <a:ea typeface="Calibri"/>
                <a:cs typeface="Calibri"/>
                <a:sym typeface="Calibri"/>
              </a:rPr>
              <a:t> continue des </a:t>
            </a:r>
            <a:r>
              <a:rPr lang="en-US" sz="1400" b="1" i="0" u="none" strike="noStrike" cap="none" dirty="0" err="1">
                <a:solidFill>
                  <a:srgbClr val="1E2761"/>
                </a:solidFill>
                <a:latin typeface="Calibri"/>
                <a:ea typeface="Calibri"/>
                <a:cs typeface="Calibri"/>
                <a:sym typeface="Calibri"/>
              </a:rPr>
              <a:t>fonctionnalités</a:t>
            </a:r>
            <a:r>
              <a:rPr lang="en-US" sz="1400" b="1" i="0" u="none" strike="noStrike" cap="none" dirty="0">
                <a:solidFill>
                  <a:srgbClr val="1E2761"/>
                </a:solidFill>
                <a:latin typeface="Calibri"/>
                <a:ea typeface="Calibri"/>
                <a:cs typeface="Calibri"/>
                <a:sym typeface="Calibri"/>
              </a:rPr>
              <a:t> de </a:t>
            </a:r>
            <a:r>
              <a:rPr lang="en-US" sz="1400" b="1" i="0" u="none" strike="noStrike" cap="none" dirty="0" err="1">
                <a:solidFill>
                  <a:srgbClr val="1E2761"/>
                </a:solidFill>
                <a:latin typeface="Calibri"/>
                <a:ea typeface="Calibri"/>
                <a:cs typeface="Calibri"/>
                <a:sym typeface="Calibri"/>
              </a:rPr>
              <a:t>l’application</a:t>
            </a:r>
            <a:r>
              <a:rPr lang="en-US" b="1" dirty="0">
                <a:solidFill>
                  <a:srgbClr val="1E2761"/>
                </a:solidFill>
                <a:latin typeface="Calibri"/>
                <a:ea typeface="Calibri"/>
                <a:cs typeface="Calibri"/>
                <a:sym typeface="Calibri"/>
              </a:rPr>
              <a:t> (</a:t>
            </a:r>
            <a:r>
              <a:rPr lang="en-US" b="1" dirty="0" err="1">
                <a:solidFill>
                  <a:srgbClr val="1E2761"/>
                </a:solidFill>
                <a:latin typeface="Calibri"/>
                <a:ea typeface="Calibri"/>
                <a:cs typeface="Calibri"/>
                <a:sym typeface="Calibri"/>
              </a:rPr>
              <a:t>sécurité</a:t>
            </a:r>
            <a:r>
              <a:rPr lang="en-US" b="1" dirty="0">
                <a:solidFill>
                  <a:srgbClr val="1E2761"/>
                </a:solidFill>
                <a:latin typeface="Calibri"/>
                <a:ea typeface="Calibri"/>
                <a:cs typeface="Calibri"/>
                <a:sym typeface="Calibri"/>
              </a:rPr>
              <a:t> </a:t>
            </a:r>
            <a:r>
              <a:rPr lang="en-US" b="1" dirty="0" err="1">
                <a:solidFill>
                  <a:srgbClr val="1E2761"/>
                </a:solidFill>
                <a:latin typeface="Calibri"/>
                <a:ea typeface="Calibri"/>
                <a:cs typeface="Calibri"/>
                <a:sym typeface="Calibri"/>
              </a:rPr>
              <a:t>renforcée</a:t>
            </a:r>
            <a:r>
              <a:rPr lang="en-US" b="1" dirty="0">
                <a:solidFill>
                  <a:srgbClr val="1E2761"/>
                </a:solidFill>
                <a:latin typeface="Calibri"/>
                <a:ea typeface="Calibri"/>
                <a:cs typeface="Calibri"/>
                <a:sym typeface="Calibri"/>
              </a:rPr>
              <a:t>)</a:t>
            </a:r>
            <a:endParaRPr sz="1400" b="0" i="0" u="none" strike="noStrike" cap="none" dirty="0">
              <a:solidFill>
                <a:schemeClr val="dk1"/>
              </a:solidFill>
              <a:latin typeface="Calibri"/>
              <a:ea typeface="Calibri"/>
              <a:cs typeface="Calibri"/>
              <a:sym typeface="Calibri"/>
            </a:endParaRPr>
          </a:p>
        </p:txBody>
      </p:sp>
      <p:sp>
        <p:nvSpPr>
          <p:cNvPr id="147" name="Google Shape;147;p9"/>
          <p:cNvSpPr/>
          <p:nvPr/>
        </p:nvSpPr>
        <p:spPr>
          <a:xfrm>
            <a:off x="5029200" y="3611880"/>
            <a:ext cx="3474720" cy="5486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7280"/>
              </a:buClr>
              <a:buSzPts val="1100"/>
              <a:buFont typeface="Calibri"/>
              <a:buNone/>
            </a:pPr>
            <a:endParaRPr sz="1100" b="0" i="0" u="none" strike="noStrike" cap="none" dirty="0">
              <a:solidFill>
                <a:schemeClr val="dk1"/>
              </a:solidFill>
              <a:latin typeface="Calibri"/>
              <a:ea typeface="Calibri"/>
              <a:cs typeface="Calibri"/>
              <a:sym typeface="Calibri"/>
            </a:endParaRPr>
          </a:p>
        </p:txBody>
      </p:sp>
      <p:grpSp>
        <p:nvGrpSpPr>
          <p:cNvPr id="24" name="Group 32"/>
          <p:cNvGrpSpPr/>
          <p:nvPr/>
        </p:nvGrpSpPr>
        <p:grpSpPr>
          <a:xfrm>
            <a:off x="91440" y="0"/>
            <a:ext cx="9052560" cy="778837"/>
            <a:chOff x="330" y="182"/>
            <a:chExt cx="18543" cy="1604"/>
          </a:xfrm>
        </p:grpSpPr>
        <p:sp>
          <p:nvSpPr>
            <p:cNvPr id="25" name="Freeform 3"/>
            <p:cNvSpPr/>
            <p:nvPr/>
          </p:nvSpPr>
          <p:spPr>
            <a:xfrm>
              <a:off x="330" y="182"/>
              <a:ext cx="1640" cy="1604"/>
            </a:xfrm>
            <a:custGeom>
              <a:avLst/>
              <a:gdLst/>
              <a:ahLst/>
              <a:cxnLst/>
              <a:rect l="l" t="t" r="r" b="b"/>
              <a:pathLst>
                <a:path w="6263628" h="7097595">
                  <a:moveTo>
                    <a:pt x="0" y="0"/>
                  </a:moveTo>
                  <a:lnTo>
                    <a:pt x="6263628" y="0"/>
                  </a:lnTo>
                  <a:lnTo>
                    <a:pt x="6263628" y="7097595"/>
                  </a:lnTo>
                  <a:lnTo>
                    <a:pt x="0" y="7097595"/>
                  </a:lnTo>
                  <a:lnTo>
                    <a:pt x="0" y="0"/>
                  </a:lnTo>
                  <a:close/>
                </a:path>
              </a:pathLst>
            </a:custGeom>
            <a:blipFill>
              <a:blip r:embed="rId3"/>
              <a:stretch>
                <a:fillRect/>
              </a:stretch>
            </a:blipFill>
          </p:spPr>
        </p:sp>
        <p:pic>
          <p:nvPicPr>
            <p:cNvPr id="26" name="Picture 3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953" y="182"/>
              <a:ext cx="1920" cy="1604"/>
            </a:xfrm>
            <a:prstGeom prst="rect">
              <a:avLst/>
            </a:prstGeom>
          </p:spPr>
        </p:pic>
      </p:grpSp>
    </p:spTree>
    <p:extLst>
      <p:ext uri="{BB962C8B-B14F-4D97-AF65-F5344CB8AC3E}">
        <p14:creationId xmlns:p14="http://schemas.microsoft.com/office/powerpoint/2010/main" val="11858383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76200"/>
            <a:ext cx="9143771" cy="514350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6" name="TextBox 5"/>
          <p:cNvSpPr txBox="1"/>
          <p:nvPr/>
        </p:nvSpPr>
        <p:spPr>
          <a:xfrm>
            <a:off x="3561833" y="1175459"/>
            <a:ext cx="2020105" cy="2169825"/>
          </a:xfrm>
          <a:prstGeom prst="rect">
            <a:avLst/>
          </a:prstGeom>
          <a:noFill/>
        </p:spPr>
        <p:txBody>
          <a:bodyPr wrap="none">
            <a:spAutoFit/>
          </a:bodyPr>
          <a:lstStyle/>
          <a:p>
            <a:pPr algn="ctr">
              <a:defRPr sz="6000" b="1">
                <a:solidFill>
                  <a:srgbClr val="FFFFFF"/>
                </a:solidFill>
              </a:defRPr>
            </a:pPr>
            <a:r>
              <a:rPr lang="fr-FR" sz="4500" dirty="0">
                <a:solidFill>
                  <a:schemeClr val="tx1"/>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CIMIS</a:t>
            </a:r>
          </a:p>
          <a:p>
            <a:pPr algn="ctr">
              <a:defRPr sz="6000" b="1">
                <a:solidFill>
                  <a:srgbClr val="FFFFFF"/>
                </a:solidFill>
              </a:defRPr>
            </a:pPr>
            <a:r>
              <a:rPr lang="fr-FR" sz="4500" dirty="0">
                <a:solidFill>
                  <a:schemeClr val="tx1"/>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&amp;</a:t>
            </a:r>
          </a:p>
          <a:p>
            <a:pPr algn="ctr">
              <a:defRPr sz="6000" b="1">
                <a:solidFill>
                  <a:srgbClr val="FFFFFF"/>
                </a:solidFill>
              </a:defRPr>
            </a:pPr>
            <a:r>
              <a:rPr sz="4500" dirty="0">
                <a:solidFill>
                  <a:schemeClr val="tx1"/>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SIADOC</a:t>
            </a:r>
          </a:p>
        </p:txBody>
      </p:sp>
      <p:sp>
        <p:nvSpPr>
          <p:cNvPr id="8" name="TextBox 7"/>
          <p:cNvSpPr txBox="1"/>
          <p:nvPr/>
        </p:nvSpPr>
        <p:spPr>
          <a:xfrm>
            <a:off x="2293060" y="3924300"/>
            <a:ext cx="4557658" cy="415498"/>
          </a:xfrm>
          <a:prstGeom prst="rect">
            <a:avLst/>
          </a:prstGeom>
          <a:noFill/>
        </p:spPr>
        <p:txBody>
          <a:bodyPr wrap="none">
            <a:spAutoFit/>
          </a:bodyPr>
          <a:lstStyle/>
          <a:p>
            <a:pPr algn="ctr">
              <a:defRPr sz="2800" b="1">
                <a:solidFill>
                  <a:srgbClr val="FFFFFF"/>
                </a:solidFill>
              </a:defRPr>
            </a:pPr>
            <a:r>
              <a:rPr sz="2100" dirty="0">
                <a:solidFill>
                  <a:schemeClr val="tx1"/>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MERCI DE VOTRE</a:t>
            </a:r>
            <a:r>
              <a:rPr lang="fr-FR" sz="2100" dirty="0">
                <a:solidFill>
                  <a:schemeClr val="tx1"/>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 AIMABLE</a:t>
            </a:r>
            <a:r>
              <a:rPr sz="2100" dirty="0">
                <a:solidFill>
                  <a:schemeClr val="tx1"/>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 ATTENTION</a:t>
            </a:r>
          </a:p>
        </p:txBody>
      </p:sp>
      <p:sp>
        <p:nvSpPr>
          <p:cNvPr id="9" name="Rectangle 8"/>
          <p:cNvSpPr/>
          <p:nvPr/>
        </p:nvSpPr>
        <p:spPr>
          <a:xfrm>
            <a:off x="1" y="5040630"/>
            <a:ext cx="9143771" cy="6858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grpSp>
        <p:nvGrpSpPr>
          <p:cNvPr id="13" name="Group 32"/>
          <p:cNvGrpSpPr/>
          <p:nvPr/>
        </p:nvGrpSpPr>
        <p:grpSpPr>
          <a:xfrm>
            <a:off x="91440" y="192093"/>
            <a:ext cx="9052560" cy="778837"/>
            <a:chOff x="330" y="182"/>
            <a:chExt cx="18543" cy="1604"/>
          </a:xfrm>
        </p:grpSpPr>
        <p:sp>
          <p:nvSpPr>
            <p:cNvPr id="14" name="Freeform 3"/>
            <p:cNvSpPr/>
            <p:nvPr/>
          </p:nvSpPr>
          <p:spPr>
            <a:xfrm>
              <a:off x="330" y="182"/>
              <a:ext cx="1640" cy="1604"/>
            </a:xfrm>
            <a:custGeom>
              <a:avLst/>
              <a:gdLst/>
              <a:ahLst/>
              <a:cxnLst/>
              <a:rect l="l" t="t" r="r" b="b"/>
              <a:pathLst>
                <a:path w="6263628" h="7097595">
                  <a:moveTo>
                    <a:pt x="0" y="0"/>
                  </a:moveTo>
                  <a:lnTo>
                    <a:pt x="6263628" y="0"/>
                  </a:lnTo>
                  <a:lnTo>
                    <a:pt x="6263628" y="7097595"/>
                  </a:lnTo>
                  <a:lnTo>
                    <a:pt x="0" y="7097595"/>
                  </a:lnTo>
                  <a:lnTo>
                    <a:pt x="0" y="0"/>
                  </a:lnTo>
                  <a:close/>
                </a:path>
              </a:pathLst>
            </a:custGeom>
            <a:blipFill>
              <a:blip r:embed="rId2"/>
              <a:stretch>
                <a:fillRect/>
              </a:stretch>
            </a:blipFill>
          </p:spPr>
        </p:sp>
        <p:pic>
          <p:nvPicPr>
            <p:cNvPr id="15" name="Picture 3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953" y="182"/>
              <a:ext cx="1920" cy="1604"/>
            </a:xfrm>
            <a:prstGeom prst="rect">
              <a:avLst/>
            </a:prstGeom>
          </p:spPr>
        </p:pic>
      </p:grpSp>
      <p:sp>
        <p:nvSpPr>
          <p:cNvPr id="16" name="Shape 0"/>
          <p:cNvSpPr/>
          <p:nvPr/>
        </p:nvSpPr>
        <p:spPr>
          <a:xfrm>
            <a:off x="6598920" y="-76200"/>
            <a:ext cx="2544850" cy="3139440"/>
          </a:xfrm>
          <a:custGeom>
            <a:avLst/>
            <a:gdLst/>
            <a:ahLst/>
            <a:cxnLst/>
            <a:rect l="l" t="t" r="r" b="b"/>
            <a:pathLst>
              <a:path w="3619500" h="3619500">
                <a:moveTo>
                  <a:pt x="0" y="0"/>
                </a:moveTo>
                <a:lnTo>
                  <a:pt x="3619500" y="0"/>
                </a:lnTo>
                <a:lnTo>
                  <a:pt x="3619500" y="3619500"/>
                </a:lnTo>
                <a:lnTo>
                  <a:pt x="3619500" y="3619500"/>
                </a:lnTo>
                <a:cubicBezTo>
                  <a:pt x="1621844" y="3619500"/>
                  <a:pt x="0" y="1997656"/>
                  <a:pt x="0" y="0"/>
                </a:cubicBezTo>
                <a:lnTo>
                  <a:pt x="0" y="0"/>
                </a:lnTo>
                <a:close/>
              </a:path>
            </a:pathLst>
          </a:custGeom>
          <a:solidFill>
            <a:srgbClr val="007A3D">
              <a:alpha val="8000"/>
            </a:srgbClr>
          </a:solidFill>
        </p:spPr>
      </p:sp>
    </p:spTree>
    <p:extLst>
      <p:ext uri="{BB962C8B-B14F-4D97-AF65-F5344CB8AC3E}">
        <p14:creationId xmlns:p14="http://schemas.microsoft.com/office/powerpoint/2010/main" val="462348687"/>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86626</TotalTime>
  <Words>2090</Words>
  <Application>Microsoft Office PowerPoint</Application>
  <PresentationFormat>Affichage à l'écran (16:9)</PresentationFormat>
  <Paragraphs>386</Paragraphs>
  <Slides>32</Slides>
  <Notes>20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32</vt:i4>
      </vt:variant>
    </vt:vector>
  </HeadingPairs>
  <TitlesOfParts>
    <vt:vector size="37" baseType="lpstr">
      <vt:lpstr>Arial</vt:lpstr>
      <vt:lpstr>Calibri</vt:lpstr>
      <vt:lpstr>Verdana</vt:lpstr>
      <vt:lpstr>Wingdings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ONDOUA AMBANI RoRe</dc:creator>
  <cp:lastModifiedBy>admin</cp:lastModifiedBy>
  <cp:revision>94</cp:revision>
  <dcterms:modified xsi:type="dcterms:W3CDTF">2026-04-09T17:55:11Z</dcterms:modified>
</cp:coreProperties>
</file>